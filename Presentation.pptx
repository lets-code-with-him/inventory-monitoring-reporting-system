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u Chatrasali" userId="e05aad5d722f1f0a" providerId="LiveId" clId="{8DF0CE1C-848A-4605-A5FB-38C72F9DEBC8}"/>
    <pc:docChg chg="modSld">
      <pc:chgData name="Himanshu Chatrasali" userId="e05aad5d722f1f0a" providerId="LiveId" clId="{8DF0CE1C-848A-4605-A5FB-38C72F9DEBC8}" dt="2026-03-26T19:19:07.710" v="1" actId="20577"/>
      <pc:docMkLst>
        <pc:docMk/>
      </pc:docMkLst>
      <pc:sldChg chg="modSp mod">
        <pc:chgData name="Himanshu Chatrasali" userId="e05aad5d722f1f0a" providerId="LiveId" clId="{8DF0CE1C-848A-4605-A5FB-38C72F9DEBC8}" dt="2026-03-26T19:19:07.710" v="1" actId="20577"/>
        <pc:sldMkLst>
          <pc:docMk/>
          <pc:sldMk cId="0" sldId="256"/>
        </pc:sldMkLst>
        <pc:spChg chg="mod">
          <ac:chgData name="Himanshu Chatrasali" userId="e05aad5d722f1f0a" providerId="LiveId" clId="{8DF0CE1C-848A-4605-A5FB-38C72F9DEBC8}" dt="2026-03-26T19:19:07.710" v="1" actId="20577"/>
          <ac:spMkLst>
            <pc:docMk/>
            <pc:sldMk cId="0" sldId="256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73660"/>
          </a:xfrm>
          <a:custGeom>
            <a:avLst/>
            <a:gdLst/>
            <a:ahLst/>
            <a:cxnLst/>
            <a:rect l="l" t="t" r="r" b="b"/>
            <a:pathLst>
              <a:path w="9144000" h="73660">
                <a:moveTo>
                  <a:pt x="9144000" y="0"/>
                </a:moveTo>
                <a:lnTo>
                  <a:pt x="0" y="0"/>
                </a:lnTo>
                <a:lnTo>
                  <a:pt x="0" y="73151"/>
                </a:lnTo>
                <a:lnTo>
                  <a:pt x="9144000" y="73151"/>
                </a:lnTo>
                <a:lnTo>
                  <a:pt x="9144000" y="0"/>
                </a:lnTo>
                <a:close/>
              </a:path>
            </a:pathLst>
          </a:custGeom>
          <a:solidFill>
            <a:srgbClr val="089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73660"/>
          </a:xfrm>
          <a:custGeom>
            <a:avLst/>
            <a:gdLst/>
            <a:ahLst/>
            <a:cxnLst/>
            <a:rect l="l" t="t" r="r" b="b"/>
            <a:pathLst>
              <a:path w="9144000" h="73660">
                <a:moveTo>
                  <a:pt x="0" y="73151"/>
                </a:moveTo>
                <a:lnTo>
                  <a:pt x="9144000" y="73151"/>
                </a:lnTo>
                <a:lnTo>
                  <a:pt x="9144000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ln w="12700">
            <a:solidFill>
              <a:srgbClr val="089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93294"/>
            <a:ext cx="355981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D1B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319" y="1005839"/>
            <a:ext cx="8595360" cy="19019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4331970"/>
            </a:xfrm>
            <a:custGeom>
              <a:avLst/>
              <a:gdLst/>
              <a:ahLst/>
              <a:cxnLst/>
              <a:rect l="l" t="t" r="r" b="b"/>
              <a:pathLst>
                <a:path w="9144000" h="4331970">
                  <a:moveTo>
                    <a:pt x="0" y="4331970"/>
                  </a:moveTo>
                  <a:lnTo>
                    <a:pt x="9144000" y="433197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33197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331969"/>
              <a:ext cx="9144000" cy="811530"/>
            </a:xfrm>
            <a:custGeom>
              <a:avLst/>
              <a:gdLst/>
              <a:ahLst/>
              <a:cxnLst/>
              <a:rect l="l" t="t" r="r" b="b"/>
              <a:pathLst>
                <a:path w="9144000" h="811529">
                  <a:moveTo>
                    <a:pt x="9144000" y="0"/>
                  </a:moveTo>
                  <a:lnTo>
                    <a:pt x="0" y="0"/>
                  </a:lnTo>
                  <a:lnTo>
                    <a:pt x="0" y="811529"/>
                  </a:lnTo>
                  <a:lnTo>
                    <a:pt x="9144000" y="81152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915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331969"/>
              <a:ext cx="9144000" cy="811530"/>
            </a:xfrm>
            <a:custGeom>
              <a:avLst/>
              <a:gdLst/>
              <a:ahLst/>
              <a:cxnLst/>
              <a:rect l="l" t="t" r="r" b="b"/>
              <a:pathLst>
                <a:path w="9144000" h="811529">
                  <a:moveTo>
                    <a:pt x="0" y="811529"/>
                  </a:moveTo>
                  <a:lnTo>
                    <a:pt x="9144000" y="81152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811529"/>
                  </a:lnTo>
                  <a:close/>
                </a:path>
              </a:pathLst>
            </a:custGeom>
            <a:ln w="12699">
              <a:solidFill>
                <a:srgbClr val="0915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8190" y="0"/>
              <a:ext cx="45720" cy="4331970"/>
            </a:xfrm>
            <a:custGeom>
              <a:avLst/>
              <a:gdLst/>
              <a:ahLst/>
              <a:cxnLst/>
              <a:rect l="l" t="t" r="r" b="b"/>
              <a:pathLst>
                <a:path w="45720" h="4331970">
                  <a:moveTo>
                    <a:pt x="45718" y="0"/>
                  </a:moveTo>
                  <a:lnTo>
                    <a:pt x="0" y="0"/>
                  </a:lnTo>
                  <a:lnTo>
                    <a:pt x="0" y="4331970"/>
                  </a:lnTo>
                  <a:lnTo>
                    <a:pt x="45718" y="4331970"/>
                  </a:lnTo>
                  <a:lnTo>
                    <a:pt x="45718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68190" y="0"/>
              <a:ext cx="45720" cy="4331970"/>
            </a:xfrm>
            <a:custGeom>
              <a:avLst/>
              <a:gdLst/>
              <a:ahLst/>
              <a:cxnLst/>
              <a:rect l="l" t="t" r="r" b="b"/>
              <a:pathLst>
                <a:path w="45720" h="4331970">
                  <a:moveTo>
                    <a:pt x="0" y="4331970"/>
                  </a:moveTo>
                  <a:lnTo>
                    <a:pt x="45718" y="4331970"/>
                  </a:lnTo>
                  <a:lnTo>
                    <a:pt x="45718" y="0"/>
                  </a:lnTo>
                  <a:lnTo>
                    <a:pt x="0" y="0"/>
                  </a:lnTo>
                  <a:lnTo>
                    <a:pt x="0" y="433197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23075" y="45719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1371600" y="0"/>
                  </a:moveTo>
                  <a:lnTo>
                    <a:pt x="1323444" y="829"/>
                  </a:lnTo>
                  <a:lnTo>
                    <a:pt x="1275706" y="3299"/>
                  </a:lnTo>
                  <a:lnTo>
                    <a:pt x="1228412" y="7382"/>
                  </a:lnTo>
                  <a:lnTo>
                    <a:pt x="1181590" y="13052"/>
                  </a:lnTo>
                  <a:lnTo>
                    <a:pt x="1135266" y="20281"/>
                  </a:lnTo>
                  <a:lnTo>
                    <a:pt x="1089467" y="29042"/>
                  </a:lnTo>
                  <a:lnTo>
                    <a:pt x="1044222" y="39307"/>
                  </a:lnTo>
                  <a:lnTo>
                    <a:pt x="999557" y="51050"/>
                  </a:lnTo>
                  <a:lnTo>
                    <a:pt x="955499" y="64243"/>
                  </a:lnTo>
                  <a:lnTo>
                    <a:pt x="912076" y="78860"/>
                  </a:lnTo>
                  <a:lnTo>
                    <a:pt x="869314" y="94872"/>
                  </a:lnTo>
                  <a:lnTo>
                    <a:pt x="827241" y="112253"/>
                  </a:lnTo>
                  <a:lnTo>
                    <a:pt x="785885" y="130975"/>
                  </a:lnTo>
                  <a:lnTo>
                    <a:pt x="745272" y="151012"/>
                  </a:lnTo>
                  <a:lnTo>
                    <a:pt x="705429" y="172336"/>
                  </a:lnTo>
                  <a:lnTo>
                    <a:pt x="666384" y="194920"/>
                  </a:lnTo>
                  <a:lnTo>
                    <a:pt x="628163" y="218737"/>
                  </a:lnTo>
                  <a:lnTo>
                    <a:pt x="590795" y="243759"/>
                  </a:lnTo>
                  <a:lnTo>
                    <a:pt x="554306" y="269960"/>
                  </a:lnTo>
                  <a:lnTo>
                    <a:pt x="518724" y="297312"/>
                  </a:lnTo>
                  <a:lnTo>
                    <a:pt x="484075" y="325788"/>
                  </a:lnTo>
                  <a:lnTo>
                    <a:pt x="450387" y="355360"/>
                  </a:lnTo>
                  <a:lnTo>
                    <a:pt x="417687" y="386003"/>
                  </a:lnTo>
                  <a:lnTo>
                    <a:pt x="386003" y="417687"/>
                  </a:lnTo>
                  <a:lnTo>
                    <a:pt x="355360" y="450387"/>
                  </a:lnTo>
                  <a:lnTo>
                    <a:pt x="325788" y="484075"/>
                  </a:lnTo>
                  <a:lnTo>
                    <a:pt x="297312" y="518724"/>
                  </a:lnTo>
                  <a:lnTo>
                    <a:pt x="269960" y="554306"/>
                  </a:lnTo>
                  <a:lnTo>
                    <a:pt x="243759" y="590795"/>
                  </a:lnTo>
                  <a:lnTo>
                    <a:pt x="218737" y="628163"/>
                  </a:lnTo>
                  <a:lnTo>
                    <a:pt x="194920" y="666384"/>
                  </a:lnTo>
                  <a:lnTo>
                    <a:pt x="172336" y="705429"/>
                  </a:lnTo>
                  <a:lnTo>
                    <a:pt x="151012" y="745272"/>
                  </a:lnTo>
                  <a:lnTo>
                    <a:pt x="130975" y="785885"/>
                  </a:lnTo>
                  <a:lnTo>
                    <a:pt x="112253" y="827241"/>
                  </a:lnTo>
                  <a:lnTo>
                    <a:pt x="94872" y="869314"/>
                  </a:lnTo>
                  <a:lnTo>
                    <a:pt x="78860" y="912076"/>
                  </a:lnTo>
                  <a:lnTo>
                    <a:pt x="64243" y="955499"/>
                  </a:lnTo>
                  <a:lnTo>
                    <a:pt x="51050" y="999557"/>
                  </a:lnTo>
                  <a:lnTo>
                    <a:pt x="39307" y="1044222"/>
                  </a:lnTo>
                  <a:lnTo>
                    <a:pt x="29042" y="1089467"/>
                  </a:lnTo>
                  <a:lnTo>
                    <a:pt x="20281" y="1135266"/>
                  </a:lnTo>
                  <a:lnTo>
                    <a:pt x="13052" y="1181590"/>
                  </a:lnTo>
                  <a:lnTo>
                    <a:pt x="7382" y="1228412"/>
                  </a:lnTo>
                  <a:lnTo>
                    <a:pt x="3299" y="1275706"/>
                  </a:lnTo>
                  <a:lnTo>
                    <a:pt x="829" y="1323444"/>
                  </a:lnTo>
                  <a:lnTo>
                    <a:pt x="0" y="1371600"/>
                  </a:lnTo>
                  <a:lnTo>
                    <a:pt x="829" y="1419755"/>
                  </a:lnTo>
                  <a:lnTo>
                    <a:pt x="3299" y="1467493"/>
                  </a:lnTo>
                  <a:lnTo>
                    <a:pt x="7382" y="1514787"/>
                  </a:lnTo>
                  <a:lnTo>
                    <a:pt x="13052" y="1561609"/>
                  </a:lnTo>
                  <a:lnTo>
                    <a:pt x="20281" y="1607933"/>
                  </a:lnTo>
                  <a:lnTo>
                    <a:pt x="29042" y="1653732"/>
                  </a:lnTo>
                  <a:lnTo>
                    <a:pt x="39307" y="1698977"/>
                  </a:lnTo>
                  <a:lnTo>
                    <a:pt x="51050" y="1743642"/>
                  </a:lnTo>
                  <a:lnTo>
                    <a:pt x="64243" y="1787700"/>
                  </a:lnTo>
                  <a:lnTo>
                    <a:pt x="78860" y="1831123"/>
                  </a:lnTo>
                  <a:lnTo>
                    <a:pt x="94872" y="1873885"/>
                  </a:lnTo>
                  <a:lnTo>
                    <a:pt x="112253" y="1915958"/>
                  </a:lnTo>
                  <a:lnTo>
                    <a:pt x="130975" y="1957314"/>
                  </a:lnTo>
                  <a:lnTo>
                    <a:pt x="151012" y="1997927"/>
                  </a:lnTo>
                  <a:lnTo>
                    <a:pt x="172336" y="2037770"/>
                  </a:lnTo>
                  <a:lnTo>
                    <a:pt x="194920" y="2076815"/>
                  </a:lnTo>
                  <a:lnTo>
                    <a:pt x="218737" y="2115036"/>
                  </a:lnTo>
                  <a:lnTo>
                    <a:pt x="243759" y="2152404"/>
                  </a:lnTo>
                  <a:lnTo>
                    <a:pt x="269960" y="2188893"/>
                  </a:lnTo>
                  <a:lnTo>
                    <a:pt x="297312" y="2224475"/>
                  </a:lnTo>
                  <a:lnTo>
                    <a:pt x="325788" y="2259124"/>
                  </a:lnTo>
                  <a:lnTo>
                    <a:pt x="355360" y="2292812"/>
                  </a:lnTo>
                  <a:lnTo>
                    <a:pt x="386003" y="2325512"/>
                  </a:lnTo>
                  <a:lnTo>
                    <a:pt x="417687" y="2357196"/>
                  </a:lnTo>
                  <a:lnTo>
                    <a:pt x="450387" y="2387839"/>
                  </a:lnTo>
                  <a:lnTo>
                    <a:pt x="484075" y="2417411"/>
                  </a:lnTo>
                  <a:lnTo>
                    <a:pt x="518724" y="2445887"/>
                  </a:lnTo>
                  <a:lnTo>
                    <a:pt x="554306" y="2473239"/>
                  </a:lnTo>
                  <a:lnTo>
                    <a:pt x="590795" y="2499440"/>
                  </a:lnTo>
                  <a:lnTo>
                    <a:pt x="628163" y="2524462"/>
                  </a:lnTo>
                  <a:lnTo>
                    <a:pt x="666384" y="2548279"/>
                  </a:lnTo>
                  <a:lnTo>
                    <a:pt x="705429" y="2570863"/>
                  </a:lnTo>
                  <a:lnTo>
                    <a:pt x="745272" y="2592187"/>
                  </a:lnTo>
                  <a:lnTo>
                    <a:pt x="785885" y="2612224"/>
                  </a:lnTo>
                  <a:lnTo>
                    <a:pt x="827241" y="2630946"/>
                  </a:lnTo>
                  <a:lnTo>
                    <a:pt x="869314" y="2648327"/>
                  </a:lnTo>
                  <a:lnTo>
                    <a:pt x="912076" y="2664339"/>
                  </a:lnTo>
                  <a:lnTo>
                    <a:pt x="955499" y="2678956"/>
                  </a:lnTo>
                  <a:lnTo>
                    <a:pt x="999557" y="2692149"/>
                  </a:lnTo>
                  <a:lnTo>
                    <a:pt x="1044222" y="2703892"/>
                  </a:lnTo>
                  <a:lnTo>
                    <a:pt x="1089467" y="2714157"/>
                  </a:lnTo>
                  <a:lnTo>
                    <a:pt x="1135266" y="2722918"/>
                  </a:lnTo>
                  <a:lnTo>
                    <a:pt x="1181590" y="2730147"/>
                  </a:lnTo>
                  <a:lnTo>
                    <a:pt x="1228412" y="2735817"/>
                  </a:lnTo>
                  <a:lnTo>
                    <a:pt x="1275706" y="2739900"/>
                  </a:lnTo>
                  <a:lnTo>
                    <a:pt x="1323444" y="2742370"/>
                  </a:lnTo>
                  <a:lnTo>
                    <a:pt x="1371600" y="2743199"/>
                  </a:lnTo>
                  <a:lnTo>
                    <a:pt x="1419747" y="2742370"/>
                  </a:lnTo>
                  <a:lnTo>
                    <a:pt x="1467478" y="2739900"/>
                  </a:lnTo>
                  <a:lnTo>
                    <a:pt x="1514765" y="2735817"/>
                  </a:lnTo>
                  <a:lnTo>
                    <a:pt x="1561582" y="2730147"/>
                  </a:lnTo>
                  <a:lnTo>
                    <a:pt x="1607901" y="2722918"/>
                  </a:lnTo>
                  <a:lnTo>
                    <a:pt x="1653695" y="2714157"/>
                  </a:lnTo>
                  <a:lnTo>
                    <a:pt x="1698936" y="2703892"/>
                  </a:lnTo>
                  <a:lnTo>
                    <a:pt x="1743598" y="2692149"/>
                  </a:lnTo>
                  <a:lnTo>
                    <a:pt x="1787652" y="2678956"/>
                  </a:lnTo>
                  <a:lnTo>
                    <a:pt x="1831073" y="2664339"/>
                  </a:lnTo>
                  <a:lnTo>
                    <a:pt x="1873833" y="2648327"/>
                  </a:lnTo>
                  <a:lnTo>
                    <a:pt x="1915904" y="2630946"/>
                  </a:lnTo>
                  <a:lnTo>
                    <a:pt x="1957259" y="2612224"/>
                  </a:lnTo>
                  <a:lnTo>
                    <a:pt x="1997872" y="2592187"/>
                  </a:lnTo>
                  <a:lnTo>
                    <a:pt x="2037714" y="2570863"/>
                  </a:lnTo>
                  <a:lnTo>
                    <a:pt x="2076759" y="2548279"/>
                  </a:lnTo>
                  <a:lnTo>
                    <a:pt x="2114979" y="2524462"/>
                  </a:lnTo>
                  <a:lnTo>
                    <a:pt x="2152348" y="2499440"/>
                  </a:lnTo>
                  <a:lnTo>
                    <a:pt x="2188838" y="2473239"/>
                  </a:lnTo>
                  <a:lnTo>
                    <a:pt x="2224422" y="2445887"/>
                  </a:lnTo>
                  <a:lnTo>
                    <a:pt x="2259072" y="2417411"/>
                  </a:lnTo>
                  <a:lnTo>
                    <a:pt x="2292761" y="2387839"/>
                  </a:lnTo>
                  <a:lnTo>
                    <a:pt x="2325463" y="2357196"/>
                  </a:lnTo>
                  <a:lnTo>
                    <a:pt x="2357150" y="2325512"/>
                  </a:lnTo>
                  <a:lnTo>
                    <a:pt x="2387794" y="2292812"/>
                  </a:lnTo>
                  <a:lnTo>
                    <a:pt x="2417369" y="2259124"/>
                  </a:lnTo>
                  <a:lnTo>
                    <a:pt x="2445848" y="2224475"/>
                  </a:lnTo>
                  <a:lnTo>
                    <a:pt x="2473202" y="2188893"/>
                  </a:lnTo>
                  <a:lnTo>
                    <a:pt x="2499405" y="2152404"/>
                  </a:lnTo>
                  <a:lnTo>
                    <a:pt x="2524430" y="2115036"/>
                  </a:lnTo>
                  <a:lnTo>
                    <a:pt x="2548250" y="2076815"/>
                  </a:lnTo>
                  <a:lnTo>
                    <a:pt x="2570836" y="2037770"/>
                  </a:lnTo>
                  <a:lnTo>
                    <a:pt x="2592163" y="1997927"/>
                  </a:lnTo>
                  <a:lnTo>
                    <a:pt x="2612202" y="1957314"/>
                  </a:lnTo>
                  <a:lnTo>
                    <a:pt x="2630928" y="1915958"/>
                  </a:lnTo>
                  <a:lnTo>
                    <a:pt x="2648311" y="1873885"/>
                  </a:lnTo>
                  <a:lnTo>
                    <a:pt x="2664326" y="1831123"/>
                  </a:lnTo>
                  <a:lnTo>
                    <a:pt x="2678944" y="1787700"/>
                  </a:lnTo>
                  <a:lnTo>
                    <a:pt x="2692140" y="1743642"/>
                  </a:lnTo>
                  <a:lnTo>
                    <a:pt x="2703885" y="1698977"/>
                  </a:lnTo>
                  <a:lnTo>
                    <a:pt x="2714152" y="1653732"/>
                  </a:lnTo>
                  <a:lnTo>
                    <a:pt x="2722914" y="1607933"/>
                  </a:lnTo>
                  <a:lnTo>
                    <a:pt x="2730144" y="1561609"/>
                  </a:lnTo>
                  <a:lnTo>
                    <a:pt x="2735815" y="1514787"/>
                  </a:lnTo>
                  <a:lnTo>
                    <a:pt x="2739899" y="1467493"/>
                  </a:lnTo>
                  <a:lnTo>
                    <a:pt x="2742370" y="1419755"/>
                  </a:lnTo>
                  <a:lnTo>
                    <a:pt x="2743200" y="1371600"/>
                  </a:lnTo>
                  <a:lnTo>
                    <a:pt x="2742370" y="1323444"/>
                  </a:lnTo>
                  <a:lnTo>
                    <a:pt x="2739899" y="1275706"/>
                  </a:lnTo>
                  <a:lnTo>
                    <a:pt x="2735815" y="1228412"/>
                  </a:lnTo>
                  <a:lnTo>
                    <a:pt x="2730144" y="1181590"/>
                  </a:lnTo>
                  <a:lnTo>
                    <a:pt x="2722914" y="1135266"/>
                  </a:lnTo>
                  <a:lnTo>
                    <a:pt x="2714152" y="1089467"/>
                  </a:lnTo>
                  <a:lnTo>
                    <a:pt x="2703885" y="1044222"/>
                  </a:lnTo>
                  <a:lnTo>
                    <a:pt x="2692140" y="999557"/>
                  </a:lnTo>
                  <a:lnTo>
                    <a:pt x="2678944" y="955499"/>
                  </a:lnTo>
                  <a:lnTo>
                    <a:pt x="2664326" y="912076"/>
                  </a:lnTo>
                  <a:lnTo>
                    <a:pt x="2648311" y="869314"/>
                  </a:lnTo>
                  <a:lnTo>
                    <a:pt x="2630928" y="827241"/>
                  </a:lnTo>
                  <a:lnTo>
                    <a:pt x="2612202" y="785885"/>
                  </a:lnTo>
                  <a:lnTo>
                    <a:pt x="2592163" y="745272"/>
                  </a:lnTo>
                  <a:lnTo>
                    <a:pt x="2570836" y="705429"/>
                  </a:lnTo>
                  <a:lnTo>
                    <a:pt x="2548250" y="666384"/>
                  </a:lnTo>
                  <a:lnTo>
                    <a:pt x="2524430" y="628163"/>
                  </a:lnTo>
                  <a:lnTo>
                    <a:pt x="2499405" y="590795"/>
                  </a:lnTo>
                  <a:lnTo>
                    <a:pt x="2473202" y="554306"/>
                  </a:lnTo>
                  <a:lnTo>
                    <a:pt x="2445848" y="518724"/>
                  </a:lnTo>
                  <a:lnTo>
                    <a:pt x="2417369" y="484075"/>
                  </a:lnTo>
                  <a:lnTo>
                    <a:pt x="2387794" y="450387"/>
                  </a:lnTo>
                  <a:lnTo>
                    <a:pt x="2357150" y="417687"/>
                  </a:lnTo>
                  <a:lnTo>
                    <a:pt x="2325463" y="386003"/>
                  </a:lnTo>
                  <a:lnTo>
                    <a:pt x="2292761" y="355360"/>
                  </a:lnTo>
                  <a:lnTo>
                    <a:pt x="2259072" y="325788"/>
                  </a:lnTo>
                  <a:lnTo>
                    <a:pt x="2224422" y="297312"/>
                  </a:lnTo>
                  <a:lnTo>
                    <a:pt x="2188838" y="269960"/>
                  </a:lnTo>
                  <a:lnTo>
                    <a:pt x="2152348" y="243759"/>
                  </a:lnTo>
                  <a:lnTo>
                    <a:pt x="2114979" y="218737"/>
                  </a:lnTo>
                  <a:lnTo>
                    <a:pt x="2076759" y="194920"/>
                  </a:lnTo>
                  <a:lnTo>
                    <a:pt x="2037714" y="172336"/>
                  </a:lnTo>
                  <a:lnTo>
                    <a:pt x="1997872" y="151012"/>
                  </a:lnTo>
                  <a:lnTo>
                    <a:pt x="1957259" y="130975"/>
                  </a:lnTo>
                  <a:lnTo>
                    <a:pt x="1915904" y="112253"/>
                  </a:lnTo>
                  <a:lnTo>
                    <a:pt x="1873833" y="94872"/>
                  </a:lnTo>
                  <a:lnTo>
                    <a:pt x="1831073" y="78860"/>
                  </a:lnTo>
                  <a:lnTo>
                    <a:pt x="1787652" y="64243"/>
                  </a:lnTo>
                  <a:lnTo>
                    <a:pt x="1743598" y="51050"/>
                  </a:lnTo>
                  <a:lnTo>
                    <a:pt x="1698936" y="39307"/>
                  </a:lnTo>
                  <a:lnTo>
                    <a:pt x="1653695" y="29042"/>
                  </a:lnTo>
                  <a:lnTo>
                    <a:pt x="1607901" y="20281"/>
                  </a:lnTo>
                  <a:lnTo>
                    <a:pt x="1561582" y="13052"/>
                  </a:lnTo>
                  <a:lnTo>
                    <a:pt x="1514765" y="7382"/>
                  </a:lnTo>
                  <a:lnTo>
                    <a:pt x="1467478" y="3299"/>
                  </a:lnTo>
                  <a:lnTo>
                    <a:pt x="1419747" y="829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0D749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23075" y="45719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lnTo>
                    <a:pt x="829" y="1323444"/>
                  </a:lnTo>
                  <a:lnTo>
                    <a:pt x="3299" y="1275706"/>
                  </a:lnTo>
                  <a:lnTo>
                    <a:pt x="7382" y="1228412"/>
                  </a:lnTo>
                  <a:lnTo>
                    <a:pt x="13052" y="1181590"/>
                  </a:lnTo>
                  <a:lnTo>
                    <a:pt x="20281" y="1135266"/>
                  </a:lnTo>
                  <a:lnTo>
                    <a:pt x="29042" y="1089467"/>
                  </a:lnTo>
                  <a:lnTo>
                    <a:pt x="39307" y="1044222"/>
                  </a:lnTo>
                  <a:lnTo>
                    <a:pt x="51050" y="999557"/>
                  </a:lnTo>
                  <a:lnTo>
                    <a:pt x="64243" y="955499"/>
                  </a:lnTo>
                  <a:lnTo>
                    <a:pt x="78860" y="912076"/>
                  </a:lnTo>
                  <a:lnTo>
                    <a:pt x="94872" y="869314"/>
                  </a:lnTo>
                  <a:lnTo>
                    <a:pt x="112253" y="827241"/>
                  </a:lnTo>
                  <a:lnTo>
                    <a:pt x="130975" y="785885"/>
                  </a:lnTo>
                  <a:lnTo>
                    <a:pt x="151012" y="745272"/>
                  </a:lnTo>
                  <a:lnTo>
                    <a:pt x="172336" y="705429"/>
                  </a:lnTo>
                  <a:lnTo>
                    <a:pt x="194920" y="666384"/>
                  </a:lnTo>
                  <a:lnTo>
                    <a:pt x="218737" y="628163"/>
                  </a:lnTo>
                  <a:lnTo>
                    <a:pt x="243759" y="590795"/>
                  </a:lnTo>
                  <a:lnTo>
                    <a:pt x="269960" y="554306"/>
                  </a:lnTo>
                  <a:lnTo>
                    <a:pt x="297312" y="518724"/>
                  </a:lnTo>
                  <a:lnTo>
                    <a:pt x="325788" y="484075"/>
                  </a:lnTo>
                  <a:lnTo>
                    <a:pt x="355360" y="450387"/>
                  </a:lnTo>
                  <a:lnTo>
                    <a:pt x="386003" y="417687"/>
                  </a:lnTo>
                  <a:lnTo>
                    <a:pt x="417687" y="386003"/>
                  </a:lnTo>
                  <a:lnTo>
                    <a:pt x="450387" y="355360"/>
                  </a:lnTo>
                  <a:lnTo>
                    <a:pt x="484075" y="325788"/>
                  </a:lnTo>
                  <a:lnTo>
                    <a:pt x="518724" y="297312"/>
                  </a:lnTo>
                  <a:lnTo>
                    <a:pt x="554306" y="269960"/>
                  </a:lnTo>
                  <a:lnTo>
                    <a:pt x="590795" y="243759"/>
                  </a:lnTo>
                  <a:lnTo>
                    <a:pt x="628163" y="218737"/>
                  </a:lnTo>
                  <a:lnTo>
                    <a:pt x="666384" y="194920"/>
                  </a:lnTo>
                  <a:lnTo>
                    <a:pt x="705429" y="172336"/>
                  </a:lnTo>
                  <a:lnTo>
                    <a:pt x="745272" y="151012"/>
                  </a:lnTo>
                  <a:lnTo>
                    <a:pt x="785885" y="130975"/>
                  </a:lnTo>
                  <a:lnTo>
                    <a:pt x="827241" y="112253"/>
                  </a:lnTo>
                  <a:lnTo>
                    <a:pt x="869314" y="94872"/>
                  </a:lnTo>
                  <a:lnTo>
                    <a:pt x="912076" y="78860"/>
                  </a:lnTo>
                  <a:lnTo>
                    <a:pt x="955499" y="64243"/>
                  </a:lnTo>
                  <a:lnTo>
                    <a:pt x="999557" y="51050"/>
                  </a:lnTo>
                  <a:lnTo>
                    <a:pt x="1044222" y="39307"/>
                  </a:lnTo>
                  <a:lnTo>
                    <a:pt x="1089467" y="29042"/>
                  </a:lnTo>
                  <a:lnTo>
                    <a:pt x="1135266" y="20281"/>
                  </a:lnTo>
                  <a:lnTo>
                    <a:pt x="1181590" y="13052"/>
                  </a:lnTo>
                  <a:lnTo>
                    <a:pt x="1228412" y="7382"/>
                  </a:lnTo>
                  <a:lnTo>
                    <a:pt x="1275706" y="3299"/>
                  </a:lnTo>
                  <a:lnTo>
                    <a:pt x="1323444" y="829"/>
                  </a:lnTo>
                  <a:lnTo>
                    <a:pt x="1371600" y="0"/>
                  </a:lnTo>
                  <a:lnTo>
                    <a:pt x="1419747" y="829"/>
                  </a:lnTo>
                  <a:lnTo>
                    <a:pt x="1467478" y="3299"/>
                  </a:lnTo>
                  <a:lnTo>
                    <a:pt x="1514765" y="7382"/>
                  </a:lnTo>
                  <a:lnTo>
                    <a:pt x="1561582" y="13052"/>
                  </a:lnTo>
                  <a:lnTo>
                    <a:pt x="1607901" y="20281"/>
                  </a:lnTo>
                  <a:lnTo>
                    <a:pt x="1653695" y="29042"/>
                  </a:lnTo>
                  <a:lnTo>
                    <a:pt x="1698936" y="39307"/>
                  </a:lnTo>
                  <a:lnTo>
                    <a:pt x="1743598" y="51050"/>
                  </a:lnTo>
                  <a:lnTo>
                    <a:pt x="1787652" y="64243"/>
                  </a:lnTo>
                  <a:lnTo>
                    <a:pt x="1831073" y="78860"/>
                  </a:lnTo>
                  <a:lnTo>
                    <a:pt x="1873833" y="94872"/>
                  </a:lnTo>
                  <a:lnTo>
                    <a:pt x="1915904" y="112253"/>
                  </a:lnTo>
                  <a:lnTo>
                    <a:pt x="1957259" y="130975"/>
                  </a:lnTo>
                  <a:lnTo>
                    <a:pt x="1997872" y="151012"/>
                  </a:lnTo>
                  <a:lnTo>
                    <a:pt x="2037714" y="172336"/>
                  </a:lnTo>
                  <a:lnTo>
                    <a:pt x="2076759" y="194920"/>
                  </a:lnTo>
                  <a:lnTo>
                    <a:pt x="2114979" y="218737"/>
                  </a:lnTo>
                  <a:lnTo>
                    <a:pt x="2152348" y="243759"/>
                  </a:lnTo>
                  <a:lnTo>
                    <a:pt x="2188838" y="269960"/>
                  </a:lnTo>
                  <a:lnTo>
                    <a:pt x="2224422" y="297312"/>
                  </a:lnTo>
                  <a:lnTo>
                    <a:pt x="2259072" y="325788"/>
                  </a:lnTo>
                  <a:lnTo>
                    <a:pt x="2292761" y="355360"/>
                  </a:lnTo>
                  <a:lnTo>
                    <a:pt x="2325463" y="386003"/>
                  </a:lnTo>
                  <a:lnTo>
                    <a:pt x="2357150" y="417687"/>
                  </a:lnTo>
                  <a:lnTo>
                    <a:pt x="2387794" y="450387"/>
                  </a:lnTo>
                  <a:lnTo>
                    <a:pt x="2417369" y="484075"/>
                  </a:lnTo>
                  <a:lnTo>
                    <a:pt x="2445848" y="518724"/>
                  </a:lnTo>
                  <a:lnTo>
                    <a:pt x="2473202" y="554306"/>
                  </a:lnTo>
                  <a:lnTo>
                    <a:pt x="2499405" y="590795"/>
                  </a:lnTo>
                  <a:lnTo>
                    <a:pt x="2524430" y="628163"/>
                  </a:lnTo>
                  <a:lnTo>
                    <a:pt x="2548250" y="666384"/>
                  </a:lnTo>
                  <a:lnTo>
                    <a:pt x="2570836" y="705429"/>
                  </a:lnTo>
                  <a:lnTo>
                    <a:pt x="2592163" y="745272"/>
                  </a:lnTo>
                  <a:lnTo>
                    <a:pt x="2612202" y="785885"/>
                  </a:lnTo>
                  <a:lnTo>
                    <a:pt x="2630928" y="827241"/>
                  </a:lnTo>
                  <a:lnTo>
                    <a:pt x="2648311" y="869314"/>
                  </a:lnTo>
                  <a:lnTo>
                    <a:pt x="2664326" y="912076"/>
                  </a:lnTo>
                  <a:lnTo>
                    <a:pt x="2678944" y="955499"/>
                  </a:lnTo>
                  <a:lnTo>
                    <a:pt x="2692140" y="999557"/>
                  </a:lnTo>
                  <a:lnTo>
                    <a:pt x="2703885" y="1044222"/>
                  </a:lnTo>
                  <a:lnTo>
                    <a:pt x="2714152" y="1089467"/>
                  </a:lnTo>
                  <a:lnTo>
                    <a:pt x="2722914" y="1135266"/>
                  </a:lnTo>
                  <a:lnTo>
                    <a:pt x="2730144" y="1181590"/>
                  </a:lnTo>
                  <a:lnTo>
                    <a:pt x="2735815" y="1228412"/>
                  </a:lnTo>
                  <a:lnTo>
                    <a:pt x="2739899" y="1275706"/>
                  </a:lnTo>
                  <a:lnTo>
                    <a:pt x="2742370" y="1323444"/>
                  </a:lnTo>
                  <a:lnTo>
                    <a:pt x="2743200" y="1371600"/>
                  </a:lnTo>
                  <a:lnTo>
                    <a:pt x="2742370" y="1419755"/>
                  </a:lnTo>
                  <a:lnTo>
                    <a:pt x="2739899" y="1467493"/>
                  </a:lnTo>
                  <a:lnTo>
                    <a:pt x="2735815" y="1514787"/>
                  </a:lnTo>
                  <a:lnTo>
                    <a:pt x="2730144" y="1561609"/>
                  </a:lnTo>
                  <a:lnTo>
                    <a:pt x="2722914" y="1607933"/>
                  </a:lnTo>
                  <a:lnTo>
                    <a:pt x="2714152" y="1653732"/>
                  </a:lnTo>
                  <a:lnTo>
                    <a:pt x="2703885" y="1698977"/>
                  </a:lnTo>
                  <a:lnTo>
                    <a:pt x="2692140" y="1743642"/>
                  </a:lnTo>
                  <a:lnTo>
                    <a:pt x="2678944" y="1787700"/>
                  </a:lnTo>
                  <a:lnTo>
                    <a:pt x="2664326" y="1831123"/>
                  </a:lnTo>
                  <a:lnTo>
                    <a:pt x="2648311" y="1873885"/>
                  </a:lnTo>
                  <a:lnTo>
                    <a:pt x="2630928" y="1915958"/>
                  </a:lnTo>
                  <a:lnTo>
                    <a:pt x="2612202" y="1957314"/>
                  </a:lnTo>
                  <a:lnTo>
                    <a:pt x="2592163" y="1997927"/>
                  </a:lnTo>
                  <a:lnTo>
                    <a:pt x="2570836" y="2037770"/>
                  </a:lnTo>
                  <a:lnTo>
                    <a:pt x="2548250" y="2076815"/>
                  </a:lnTo>
                  <a:lnTo>
                    <a:pt x="2524430" y="2115036"/>
                  </a:lnTo>
                  <a:lnTo>
                    <a:pt x="2499405" y="2152404"/>
                  </a:lnTo>
                  <a:lnTo>
                    <a:pt x="2473202" y="2188893"/>
                  </a:lnTo>
                  <a:lnTo>
                    <a:pt x="2445848" y="2224475"/>
                  </a:lnTo>
                  <a:lnTo>
                    <a:pt x="2417369" y="2259124"/>
                  </a:lnTo>
                  <a:lnTo>
                    <a:pt x="2387794" y="2292812"/>
                  </a:lnTo>
                  <a:lnTo>
                    <a:pt x="2357150" y="2325512"/>
                  </a:lnTo>
                  <a:lnTo>
                    <a:pt x="2325463" y="2357196"/>
                  </a:lnTo>
                  <a:lnTo>
                    <a:pt x="2292761" y="2387839"/>
                  </a:lnTo>
                  <a:lnTo>
                    <a:pt x="2259072" y="2417411"/>
                  </a:lnTo>
                  <a:lnTo>
                    <a:pt x="2224422" y="2445887"/>
                  </a:lnTo>
                  <a:lnTo>
                    <a:pt x="2188838" y="2473239"/>
                  </a:lnTo>
                  <a:lnTo>
                    <a:pt x="2152348" y="2499440"/>
                  </a:lnTo>
                  <a:lnTo>
                    <a:pt x="2114979" y="2524462"/>
                  </a:lnTo>
                  <a:lnTo>
                    <a:pt x="2076759" y="2548279"/>
                  </a:lnTo>
                  <a:lnTo>
                    <a:pt x="2037714" y="2570863"/>
                  </a:lnTo>
                  <a:lnTo>
                    <a:pt x="1997872" y="2592187"/>
                  </a:lnTo>
                  <a:lnTo>
                    <a:pt x="1957259" y="2612224"/>
                  </a:lnTo>
                  <a:lnTo>
                    <a:pt x="1915904" y="2630946"/>
                  </a:lnTo>
                  <a:lnTo>
                    <a:pt x="1873833" y="2648327"/>
                  </a:lnTo>
                  <a:lnTo>
                    <a:pt x="1831073" y="2664339"/>
                  </a:lnTo>
                  <a:lnTo>
                    <a:pt x="1787652" y="2678956"/>
                  </a:lnTo>
                  <a:lnTo>
                    <a:pt x="1743598" y="2692149"/>
                  </a:lnTo>
                  <a:lnTo>
                    <a:pt x="1698936" y="2703892"/>
                  </a:lnTo>
                  <a:lnTo>
                    <a:pt x="1653695" y="2714157"/>
                  </a:lnTo>
                  <a:lnTo>
                    <a:pt x="1607901" y="2722918"/>
                  </a:lnTo>
                  <a:lnTo>
                    <a:pt x="1561582" y="2730147"/>
                  </a:lnTo>
                  <a:lnTo>
                    <a:pt x="1514765" y="2735817"/>
                  </a:lnTo>
                  <a:lnTo>
                    <a:pt x="1467478" y="2739900"/>
                  </a:lnTo>
                  <a:lnTo>
                    <a:pt x="1419747" y="2742370"/>
                  </a:lnTo>
                  <a:lnTo>
                    <a:pt x="1371600" y="2743199"/>
                  </a:lnTo>
                  <a:lnTo>
                    <a:pt x="1323444" y="2742370"/>
                  </a:lnTo>
                  <a:lnTo>
                    <a:pt x="1275706" y="2739900"/>
                  </a:lnTo>
                  <a:lnTo>
                    <a:pt x="1228412" y="2735817"/>
                  </a:lnTo>
                  <a:lnTo>
                    <a:pt x="1181590" y="2730147"/>
                  </a:lnTo>
                  <a:lnTo>
                    <a:pt x="1135266" y="2722918"/>
                  </a:lnTo>
                  <a:lnTo>
                    <a:pt x="1089467" y="2714157"/>
                  </a:lnTo>
                  <a:lnTo>
                    <a:pt x="1044222" y="2703892"/>
                  </a:lnTo>
                  <a:lnTo>
                    <a:pt x="999557" y="2692149"/>
                  </a:lnTo>
                  <a:lnTo>
                    <a:pt x="955499" y="2678956"/>
                  </a:lnTo>
                  <a:lnTo>
                    <a:pt x="912076" y="2664339"/>
                  </a:lnTo>
                  <a:lnTo>
                    <a:pt x="869314" y="2648327"/>
                  </a:lnTo>
                  <a:lnTo>
                    <a:pt x="827241" y="2630946"/>
                  </a:lnTo>
                  <a:lnTo>
                    <a:pt x="785885" y="2612224"/>
                  </a:lnTo>
                  <a:lnTo>
                    <a:pt x="745272" y="2592187"/>
                  </a:lnTo>
                  <a:lnTo>
                    <a:pt x="705429" y="2570863"/>
                  </a:lnTo>
                  <a:lnTo>
                    <a:pt x="666384" y="2548279"/>
                  </a:lnTo>
                  <a:lnTo>
                    <a:pt x="628163" y="2524462"/>
                  </a:lnTo>
                  <a:lnTo>
                    <a:pt x="590795" y="2499440"/>
                  </a:lnTo>
                  <a:lnTo>
                    <a:pt x="554306" y="2473239"/>
                  </a:lnTo>
                  <a:lnTo>
                    <a:pt x="518724" y="2445887"/>
                  </a:lnTo>
                  <a:lnTo>
                    <a:pt x="484075" y="2417411"/>
                  </a:lnTo>
                  <a:lnTo>
                    <a:pt x="450387" y="2387839"/>
                  </a:lnTo>
                  <a:lnTo>
                    <a:pt x="417687" y="2357196"/>
                  </a:lnTo>
                  <a:lnTo>
                    <a:pt x="386003" y="2325512"/>
                  </a:lnTo>
                  <a:lnTo>
                    <a:pt x="355360" y="2292812"/>
                  </a:lnTo>
                  <a:lnTo>
                    <a:pt x="325788" y="2259124"/>
                  </a:lnTo>
                  <a:lnTo>
                    <a:pt x="297312" y="2224475"/>
                  </a:lnTo>
                  <a:lnTo>
                    <a:pt x="269960" y="2188893"/>
                  </a:lnTo>
                  <a:lnTo>
                    <a:pt x="243759" y="2152404"/>
                  </a:lnTo>
                  <a:lnTo>
                    <a:pt x="218737" y="2115036"/>
                  </a:lnTo>
                  <a:lnTo>
                    <a:pt x="194920" y="2076815"/>
                  </a:lnTo>
                  <a:lnTo>
                    <a:pt x="172336" y="2037770"/>
                  </a:lnTo>
                  <a:lnTo>
                    <a:pt x="151012" y="1997927"/>
                  </a:lnTo>
                  <a:lnTo>
                    <a:pt x="130975" y="1957314"/>
                  </a:lnTo>
                  <a:lnTo>
                    <a:pt x="112253" y="1915958"/>
                  </a:lnTo>
                  <a:lnTo>
                    <a:pt x="94872" y="1873885"/>
                  </a:lnTo>
                  <a:lnTo>
                    <a:pt x="78860" y="1831123"/>
                  </a:lnTo>
                  <a:lnTo>
                    <a:pt x="64243" y="1787700"/>
                  </a:lnTo>
                  <a:lnTo>
                    <a:pt x="51050" y="1743642"/>
                  </a:lnTo>
                  <a:lnTo>
                    <a:pt x="39307" y="1698977"/>
                  </a:lnTo>
                  <a:lnTo>
                    <a:pt x="29042" y="1653732"/>
                  </a:lnTo>
                  <a:lnTo>
                    <a:pt x="20281" y="1607933"/>
                  </a:lnTo>
                  <a:lnTo>
                    <a:pt x="13052" y="1561609"/>
                  </a:lnTo>
                  <a:lnTo>
                    <a:pt x="7382" y="1514787"/>
                  </a:lnTo>
                  <a:lnTo>
                    <a:pt x="3299" y="1467493"/>
                  </a:lnTo>
                  <a:lnTo>
                    <a:pt x="829" y="1419755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0D74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39100" y="27660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71"/>
                  </a:lnTo>
                  <a:lnTo>
                    <a:pt x="6811" y="782815"/>
                  </a:lnTo>
                  <a:lnTo>
                    <a:pt x="15151" y="829814"/>
                  </a:lnTo>
                  <a:lnTo>
                    <a:pt x="26625" y="875652"/>
                  </a:lnTo>
                  <a:lnTo>
                    <a:pt x="41118" y="920213"/>
                  </a:lnTo>
                  <a:lnTo>
                    <a:pt x="58514" y="963381"/>
                  </a:lnTo>
                  <a:lnTo>
                    <a:pt x="78696" y="1005040"/>
                  </a:lnTo>
                  <a:lnTo>
                    <a:pt x="101548" y="1045074"/>
                  </a:lnTo>
                  <a:lnTo>
                    <a:pt x="126954" y="1083366"/>
                  </a:lnTo>
                  <a:lnTo>
                    <a:pt x="154798" y="1119801"/>
                  </a:lnTo>
                  <a:lnTo>
                    <a:pt x="184964" y="1154263"/>
                  </a:lnTo>
                  <a:lnTo>
                    <a:pt x="217336" y="1186635"/>
                  </a:lnTo>
                  <a:lnTo>
                    <a:pt x="251798" y="1216801"/>
                  </a:lnTo>
                  <a:lnTo>
                    <a:pt x="288233" y="1244645"/>
                  </a:lnTo>
                  <a:lnTo>
                    <a:pt x="326525" y="1270051"/>
                  </a:lnTo>
                  <a:lnTo>
                    <a:pt x="366559" y="1292903"/>
                  </a:lnTo>
                  <a:lnTo>
                    <a:pt x="408218" y="1313085"/>
                  </a:lnTo>
                  <a:lnTo>
                    <a:pt x="451386" y="1330481"/>
                  </a:lnTo>
                  <a:lnTo>
                    <a:pt x="495947" y="1344974"/>
                  </a:lnTo>
                  <a:lnTo>
                    <a:pt x="541785" y="1356448"/>
                  </a:lnTo>
                  <a:lnTo>
                    <a:pt x="588784" y="1364788"/>
                  </a:lnTo>
                  <a:lnTo>
                    <a:pt x="636828" y="1369877"/>
                  </a:lnTo>
                  <a:lnTo>
                    <a:pt x="685800" y="1371599"/>
                  </a:lnTo>
                  <a:lnTo>
                    <a:pt x="734787" y="1369877"/>
                  </a:lnTo>
                  <a:lnTo>
                    <a:pt x="782842" y="1364788"/>
                  </a:lnTo>
                  <a:lnTo>
                    <a:pt x="829851" y="1356448"/>
                  </a:lnTo>
                  <a:lnTo>
                    <a:pt x="875697" y="1344974"/>
                  </a:lnTo>
                  <a:lnTo>
                    <a:pt x="920263" y="1330481"/>
                  </a:lnTo>
                  <a:lnTo>
                    <a:pt x="963435" y="1313085"/>
                  </a:lnTo>
                  <a:lnTo>
                    <a:pt x="1005096" y="1292903"/>
                  </a:lnTo>
                  <a:lnTo>
                    <a:pt x="1045130" y="1270051"/>
                  </a:lnTo>
                  <a:lnTo>
                    <a:pt x="1083421" y="1244645"/>
                  </a:lnTo>
                  <a:lnTo>
                    <a:pt x="1119854" y="1216801"/>
                  </a:lnTo>
                  <a:lnTo>
                    <a:pt x="1154312" y="1186635"/>
                  </a:lnTo>
                  <a:lnTo>
                    <a:pt x="1186680" y="1154263"/>
                  </a:lnTo>
                  <a:lnTo>
                    <a:pt x="1216842" y="1119801"/>
                  </a:lnTo>
                  <a:lnTo>
                    <a:pt x="1244681" y="1083366"/>
                  </a:lnTo>
                  <a:lnTo>
                    <a:pt x="1270081" y="1045074"/>
                  </a:lnTo>
                  <a:lnTo>
                    <a:pt x="1292928" y="1005040"/>
                  </a:lnTo>
                  <a:lnTo>
                    <a:pt x="1313104" y="963381"/>
                  </a:lnTo>
                  <a:lnTo>
                    <a:pt x="1330495" y="920213"/>
                  </a:lnTo>
                  <a:lnTo>
                    <a:pt x="1344983" y="875652"/>
                  </a:lnTo>
                  <a:lnTo>
                    <a:pt x="1356454" y="829814"/>
                  </a:lnTo>
                  <a:lnTo>
                    <a:pt x="1364791" y="782815"/>
                  </a:lnTo>
                  <a:lnTo>
                    <a:pt x="1369878" y="734771"/>
                  </a:lnTo>
                  <a:lnTo>
                    <a:pt x="1371600" y="685800"/>
                  </a:lnTo>
                  <a:lnTo>
                    <a:pt x="1369878" y="636828"/>
                  </a:lnTo>
                  <a:lnTo>
                    <a:pt x="1364791" y="588784"/>
                  </a:lnTo>
                  <a:lnTo>
                    <a:pt x="1356454" y="541785"/>
                  </a:lnTo>
                  <a:lnTo>
                    <a:pt x="1344983" y="495947"/>
                  </a:lnTo>
                  <a:lnTo>
                    <a:pt x="1330495" y="451386"/>
                  </a:lnTo>
                  <a:lnTo>
                    <a:pt x="1313104" y="408218"/>
                  </a:lnTo>
                  <a:lnTo>
                    <a:pt x="1292928" y="366559"/>
                  </a:lnTo>
                  <a:lnTo>
                    <a:pt x="1270081" y="326525"/>
                  </a:lnTo>
                  <a:lnTo>
                    <a:pt x="1244681" y="288233"/>
                  </a:lnTo>
                  <a:lnTo>
                    <a:pt x="1216842" y="251798"/>
                  </a:lnTo>
                  <a:lnTo>
                    <a:pt x="1186680" y="217336"/>
                  </a:lnTo>
                  <a:lnTo>
                    <a:pt x="1154312" y="184964"/>
                  </a:lnTo>
                  <a:lnTo>
                    <a:pt x="1119854" y="154798"/>
                  </a:lnTo>
                  <a:lnTo>
                    <a:pt x="1083421" y="126954"/>
                  </a:lnTo>
                  <a:lnTo>
                    <a:pt x="1045130" y="101548"/>
                  </a:lnTo>
                  <a:lnTo>
                    <a:pt x="1005096" y="78696"/>
                  </a:lnTo>
                  <a:lnTo>
                    <a:pt x="963435" y="58514"/>
                  </a:lnTo>
                  <a:lnTo>
                    <a:pt x="920263" y="41118"/>
                  </a:lnTo>
                  <a:lnTo>
                    <a:pt x="875697" y="26625"/>
                  </a:lnTo>
                  <a:lnTo>
                    <a:pt x="829851" y="15151"/>
                  </a:lnTo>
                  <a:lnTo>
                    <a:pt x="782842" y="6811"/>
                  </a:lnTo>
                  <a:lnTo>
                    <a:pt x="734787" y="172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891B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39100" y="27660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87" y="1722"/>
                  </a:lnTo>
                  <a:lnTo>
                    <a:pt x="782842" y="6811"/>
                  </a:lnTo>
                  <a:lnTo>
                    <a:pt x="829851" y="15151"/>
                  </a:lnTo>
                  <a:lnTo>
                    <a:pt x="875697" y="26625"/>
                  </a:lnTo>
                  <a:lnTo>
                    <a:pt x="920263" y="41118"/>
                  </a:lnTo>
                  <a:lnTo>
                    <a:pt x="963435" y="58514"/>
                  </a:lnTo>
                  <a:lnTo>
                    <a:pt x="1005096" y="78696"/>
                  </a:lnTo>
                  <a:lnTo>
                    <a:pt x="1045130" y="101548"/>
                  </a:lnTo>
                  <a:lnTo>
                    <a:pt x="1083421" y="126954"/>
                  </a:lnTo>
                  <a:lnTo>
                    <a:pt x="1119854" y="154798"/>
                  </a:lnTo>
                  <a:lnTo>
                    <a:pt x="1154312" y="184964"/>
                  </a:lnTo>
                  <a:lnTo>
                    <a:pt x="1186680" y="217336"/>
                  </a:lnTo>
                  <a:lnTo>
                    <a:pt x="1216842" y="251798"/>
                  </a:lnTo>
                  <a:lnTo>
                    <a:pt x="1244681" y="288233"/>
                  </a:lnTo>
                  <a:lnTo>
                    <a:pt x="1270081" y="326525"/>
                  </a:lnTo>
                  <a:lnTo>
                    <a:pt x="1292928" y="366559"/>
                  </a:lnTo>
                  <a:lnTo>
                    <a:pt x="1313104" y="408218"/>
                  </a:lnTo>
                  <a:lnTo>
                    <a:pt x="1330495" y="451386"/>
                  </a:lnTo>
                  <a:lnTo>
                    <a:pt x="1344983" y="495947"/>
                  </a:lnTo>
                  <a:lnTo>
                    <a:pt x="1356454" y="541785"/>
                  </a:lnTo>
                  <a:lnTo>
                    <a:pt x="1364791" y="588784"/>
                  </a:lnTo>
                  <a:lnTo>
                    <a:pt x="1369878" y="636828"/>
                  </a:lnTo>
                  <a:lnTo>
                    <a:pt x="1371600" y="685800"/>
                  </a:lnTo>
                  <a:lnTo>
                    <a:pt x="1369878" y="734771"/>
                  </a:lnTo>
                  <a:lnTo>
                    <a:pt x="1364791" y="782815"/>
                  </a:lnTo>
                  <a:lnTo>
                    <a:pt x="1356454" y="829814"/>
                  </a:lnTo>
                  <a:lnTo>
                    <a:pt x="1344983" y="875652"/>
                  </a:lnTo>
                  <a:lnTo>
                    <a:pt x="1330495" y="920213"/>
                  </a:lnTo>
                  <a:lnTo>
                    <a:pt x="1313104" y="963381"/>
                  </a:lnTo>
                  <a:lnTo>
                    <a:pt x="1292928" y="1005040"/>
                  </a:lnTo>
                  <a:lnTo>
                    <a:pt x="1270081" y="1045074"/>
                  </a:lnTo>
                  <a:lnTo>
                    <a:pt x="1244681" y="1083366"/>
                  </a:lnTo>
                  <a:lnTo>
                    <a:pt x="1216842" y="1119801"/>
                  </a:lnTo>
                  <a:lnTo>
                    <a:pt x="1186680" y="1154263"/>
                  </a:lnTo>
                  <a:lnTo>
                    <a:pt x="1154312" y="1186635"/>
                  </a:lnTo>
                  <a:lnTo>
                    <a:pt x="1119854" y="1216801"/>
                  </a:lnTo>
                  <a:lnTo>
                    <a:pt x="1083421" y="1244645"/>
                  </a:lnTo>
                  <a:lnTo>
                    <a:pt x="1045130" y="1270051"/>
                  </a:lnTo>
                  <a:lnTo>
                    <a:pt x="1005096" y="1292903"/>
                  </a:lnTo>
                  <a:lnTo>
                    <a:pt x="963435" y="1313085"/>
                  </a:lnTo>
                  <a:lnTo>
                    <a:pt x="920263" y="1330481"/>
                  </a:lnTo>
                  <a:lnTo>
                    <a:pt x="875697" y="1344974"/>
                  </a:lnTo>
                  <a:lnTo>
                    <a:pt x="829851" y="1356448"/>
                  </a:lnTo>
                  <a:lnTo>
                    <a:pt x="782842" y="1364788"/>
                  </a:lnTo>
                  <a:lnTo>
                    <a:pt x="734787" y="1369877"/>
                  </a:lnTo>
                  <a:lnTo>
                    <a:pt x="685800" y="1371599"/>
                  </a:lnTo>
                  <a:lnTo>
                    <a:pt x="636828" y="1369877"/>
                  </a:lnTo>
                  <a:lnTo>
                    <a:pt x="588784" y="1364788"/>
                  </a:lnTo>
                  <a:lnTo>
                    <a:pt x="541785" y="1356448"/>
                  </a:lnTo>
                  <a:lnTo>
                    <a:pt x="495947" y="1344974"/>
                  </a:lnTo>
                  <a:lnTo>
                    <a:pt x="451386" y="1330481"/>
                  </a:lnTo>
                  <a:lnTo>
                    <a:pt x="408218" y="1313085"/>
                  </a:lnTo>
                  <a:lnTo>
                    <a:pt x="366559" y="1292903"/>
                  </a:lnTo>
                  <a:lnTo>
                    <a:pt x="326525" y="1270051"/>
                  </a:lnTo>
                  <a:lnTo>
                    <a:pt x="288233" y="1244645"/>
                  </a:lnTo>
                  <a:lnTo>
                    <a:pt x="251798" y="1216801"/>
                  </a:lnTo>
                  <a:lnTo>
                    <a:pt x="217336" y="1186635"/>
                  </a:lnTo>
                  <a:lnTo>
                    <a:pt x="184964" y="1154263"/>
                  </a:lnTo>
                  <a:lnTo>
                    <a:pt x="154798" y="1119801"/>
                  </a:lnTo>
                  <a:lnTo>
                    <a:pt x="126954" y="1083366"/>
                  </a:lnTo>
                  <a:lnTo>
                    <a:pt x="101548" y="1045074"/>
                  </a:lnTo>
                  <a:lnTo>
                    <a:pt x="78696" y="1005040"/>
                  </a:lnTo>
                  <a:lnTo>
                    <a:pt x="58514" y="963381"/>
                  </a:lnTo>
                  <a:lnTo>
                    <a:pt x="41118" y="920213"/>
                  </a:lnTo>
                  <a:lnTo>
                    <a:pt x="26625" y="875652"/>
                  </a:lnTo>
                  <a:lnTo>
                    <a:pt x="15151" y="829814"/>
                  </a:lnTo>
                  <a:lnTo>
                    <a:pt x="6811" y="782815"/>
                  </a:lnTo>
                  <a:lnTo>
                    <a:pt x="1722" y="734771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3059" y="668782"/>
            <a:ext cx="1572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E</a:t>
            </a:r>
            <a:r>
              <a:rPr sz="1200" b="1" spc="20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N</a:t>
            </a:r>
            <a:r>
              <a:rPr sz="1200" b="1" spc="20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T</a:t>
            </a:r>
            <a:r>
              <a:rPr sz="1200" b="1" spc="204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E</a:t>
            </a:r>
            <a:r>
              <a:rPr sz="1200" b="1" spc="204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R</a:t>
            </a:r>
            <a:r>
              <a:rPr sz="1200" b="1" spc="20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P</a:t>
            </a:r>
            <a:r>
              <a:rPr sz="1200" b="1" spc="18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R</a:t>
            </a:r>
            <a:r>
              <a:rPr sz="1200" b="1" spc="19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I</a:t>
            </a:r>
            <a:r>
              <a:rPr sz="1200" b="1" spc="20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S</a:t>
            </a:r>
            <a:r>
              <a:rPr sz="1200" b="1" spc="19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0891B1"/>
                </a:solidFill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53059" y="1208659"/>
            <a:ext cx="2447290" cy="1579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solidFill>
                  <a:srgbClr val="FFFFFF"/>
                </a:solidFill>
              </a:rPr>
              <a:t>Inventory Management System</a:t>
            </a:r>
            <a:endParaRPr sz="3400"/>
          </a:p>
        </p:txBody>
      </p:sp>
      <p:grpSp>
        <p:nvGrpSpPr>
          <p:cNvPr id="14" name="object 14"/>
          <p:cNvGrpSpPr/>
          <p:nvPr/>
        </p:nvGrpSpPr>
        <p:grpSpPr>
          <a:xfrm>
            <a:off x="359409" y="3056889"/>
            <a:ext cx="1109980" cy="58419"/>
            <a:chOff x="359409" y="3056889"/>
            <a:chExt cx="1109980" cy="58419"/>
          </a:xfrm>
        </p:grpSpPr>
        <p:sp>
          <p:nvSpPr>
            <p:cNvPr id="15" name="object 15"/>
            <p:cNvSpPr/>
            <p:nvPr/>
          </p:nvSpPr>
          <p:spPr>
            <a:xfrm>
              <a:off x="365759" y="3063239"/>
              <a:ext cx="1097280" cy="45720"/>
            </a:xfrm>
            <a:custGeom>
              <a:avLst/>
              <a:gdLst/>
              <a:ahLst/>
              <a:cxnLst/>
              <a:rect l="l" t="t" r="r" b="b"/>
              <a:pathLst>
                <a:path w="1097280" h="45719">
                  <a:moveTo>
                    <a:pt x="109728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1097280" y="4571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59" y="3063239"/>
              <a:ext cx="1097280" cy="45720"/>
            </a:xfrm>
            <a:custGeom>
              <a:avLst/>
              <a:gdLst/>
              <a:ahLst/>
              <a:cxnLst/>
              <a:rect l="l" t="t" r="r" b="b"/>
              <a:pathLst>
                <a:path w="1097280" h="45719">
                  <a:moveTo>
                    <a:pt x="0" y="45719"/>
                  </a:moveTo>
                  <a:lnTo>
                    <a:pt x="1097280" y="4571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3059" y="3244976"/>
            <a:ext cx="23482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05B6D3"/>
                </a:solidFill>
                <a:latin typeface="Times New Roman"/>
                <a:cs typeface="Times New Roman"/>
              </a:rPr>
              <a:t>Organisation</a:t>
            </a:r>
            <a:r>
              <a:rPr sz="1300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5B6D3"/>
                </a:solidFill>
                <a:latin typeface="Times New Roman"/>
                <a:cs typeface="Times New Roman"/>
              </a:rPr>
              <a:t>:</a:t>
            </a:r>
            <a:r>
              <a:rPr sz="1300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5B6D3"/>
                </a:solidFill>
                <a:latin typeface="Times New Roman"/>
                <a:cs typeface="Times New Roman"/>
              </a:rPr>
              <a:t>Infosys</a:t>
            </a:r>
            <a:r>
              <a:rPr sz="1300" spc="-10" dirty="0">
                <a:solidFill>
                  <a:srgbClr val="05B6D3"/>
                </a:solidFill>
                <a:latin typeface="Times New Roman"/>
                <a:cs typeface="Times New Roman"/>
              </a:rPr>
              <a:t> Springboard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3059" y="3594353"/>
            <a:ext cx="26924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Full-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Stack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Web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Application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| Academic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Project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1484" y="3418910"/>
            <a:ext cx="2977516" cy="56746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00" dirty="0">
                <a:solidFill>
                  <a:srgbClr val="93A2B8"/>
                </a:solidFill>
                <a:latin typeface="Times New Roman"/>
                <a:cs typeface="Times New Roman"/>
              </a:rPr>
              <a:t>Presented</a:t>
            </a:r>
            <a:r>
              <a:rPr sz="13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93A2B8"/>
                </a:solidFill>
                <a:latin typeface="Times New Roman"/>
                <a:cs typeface="Times New Roman"/>
              </a:rPr>
              <a:t>by:</a:t>
            </a:r>
            <a:r>
              <a:rPr sz="13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lang="en-US" sz="1300" spc="-10" dirty="0">
                <a:solidFill>
                  <a:srgbClr val="93A2B8"/>
                </a:solidFill>
                <a:latin typeface="Times New Roman"/>
                <a:cs typeface="Times New Roman"/>
              </a:rPr>
              <a:t>Himanshu Chatrasali</a:t>
            </a:r>
            <a:r>
              <a:rPr sz="1300" spc="-10" dirty="0">
                <a:solidFill>
                  <a:srgbClr val="93A2B8"/>
                </a:solidFill>
                <a:latin typeface="Times New Roman"/>
                <a:cs typeface="Times New Roman"/>
              </a:rPr>
              <a:t>,</a:t>
            </a:r>
            <a:r>
              <a:rPr lang="en-US" sz="13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93A2B8"/>
                </a:solidFill>
                <a:latin typeface="Times New Roman"/>
                <a:cs typeface="Times New Roman"/>
              </a:rPr>
              <a:t>Batch</a:t>
            </a:r>
            <a:r>
              <a:rPr sz="13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93A2B8"/>
                </a:solidFill>
                <a:latin typeface="Times New Roman"/>
                <a:cs typeface="Times New Roman"/>
              </a:rPr>
              <a:t>13</a:t>
            </a: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3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13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9309" y="4598009"/>
            <a:ext cx="193992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Enterprise-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Grade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Solution</a:t>
            </a:r>
            <a:r>
              <a:rPr sz="1100" spc="254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|</a:t>
            </a:r>
            <a:r>
              <a:rPr sz="1100" spc="3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202</a:t>
            </a:r>
            <a:r>
              <a:rPr lang="en-US"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5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2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1189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Project</a:t>
            </a:r>
            <a:r>
              <a:rPr sz="1300" i="1" spc="-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Overview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Navigation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320" y="1097280"/>
            <a:ext cx="411480" cy="320040"/>
          </a:xfrm>
          <a:custGeom>
            <a:avLst/>
            <a:gdLst/>
            <a:ahLst/>
            <a:cxnLst/>
            <a:rect l="l" t="t" r="r" b="b"/>
            <a:pathLst>
              <a:path w="411480" h="320040">
                <a:moveTo>
                  <a:pt x="0" y="320039"/>
                </a:moveTo>
                <a:lnTo>
                  <a:pt x="411480" y="320039"/>
                </a:lnTo>
                <a:lnTo>
                  <a:pt x="411480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2700">
            <a:solidFill>
              <a:srgbClr val="089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7970" y="1090930"/>
            <a:ext cx="424180" cy="332740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1141222"/>
            <a:ext cx="22123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Introduction</a:t>
            </a:r>
            <a:r>
              <a:rPr sz="13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Project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Overview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320" y="1600200"/>
            <a:ext cx="411480" cy="320040"/>
          </a:xfrm>
          <a:custGeom>
            <a:avLst/>
            <a:gdLst/>
            <a:ahLst/>
            <a:cxnLst/>
            <a:rect l="l" t="t" r="r" b="b"/>
            <a:pathLst>
              <a:path w="411480" h="320039">
                <a:moveTo>
                  <a:pt x="0" y="320039"/>
                </a:moveTo>
                <a:lnTo>
                  <a:pt x="411480" y="320039"/>
                </a:lnTo>
                <a:lnTo>
                  <a:pt x="411480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2700">
            <a:solidFill>
              <a:srgbClr val="089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7970" y="1593850"/>
            <a:ext cx="424180" cy="332740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1644523"/>
            <a:ext cx="12846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Problem</a:t>
            </a:r>
            <a:r>
              <a:rPr sz="13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Statement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970" y="2096770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540" y="2147442"/>
            <a:ext cx="16694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Why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Build</a:t>
            </a:r>
            <a:r>
              <a:rPr sz="13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This</a:t>
            </a:r>
            <a:r>
              <a:rPr sz="13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Project?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7970" y="2599689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2650616"/>
            <a:ext cx="17957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Technology</a:t>
            </a:r>
            <a:r>
              <a:rPr sz="13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Stack</a:t>
            </a:r>
            <a:r>
              <a:rPr sz="13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Roles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970" y="3102610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540" y="3153536"/>
            <a:ext cx="21653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System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Architecture</a:t>
            </a:r>
            <a:r>
              <a:rPr sz="13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Diagram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970" y="3605529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40" y="3656838"/>
            <a:ext cx="22244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Layered</a:t>
            </a:r>
            <a:r>
              <a:rPr sz="1300" spc="-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Architecture</a:t>
            </a:r>
            <a:r>
              <a:rPr sz="13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Breakdown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7970" y="4108450"/>
            <a:ext cx="424180" cy="332740"/>
          </a:xfrm>
          <a:prstGeom prst="rect">
            <a:avLst/>
          </a:prstGeom>
          <a:solidFill>
            <a:srgbClr val="0891B1"/>
          </a:solidFill>
          <a:ln w="3175">
            <a:solidFill>
              <a:srgbClr val="0891B1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540" y="4159707"/>
            <a:ext cx="1125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Controller</a:t>
            </a:r>
            <a:r>
              <a:rPr sz="1300" spc="-8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54879" y="1097280"/>
            <a:ext cx="411480" cy="320040"/>
          </a:xfrm>
          <a:custGeom>
            <a:avLst/>
            <a:gdLst/>
            <a:ahLst/>
            <a:cxnLst/>
            <a:rect l="l" t="t" r="r" b="b"/>
            <a:pathLst>
              <a:path w="411479" h="320040">
                <a:moveTo>
                  <a:pt x="0" y="320039"/>
                </a:moveTo>
                <a:lnTo>
                  <a:pt x="411479" y="320039"/>
                </a:lnTo>
                <a:lnTo>
                  <a:pt x="411479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2700">
            <a:solidFill>
              <a:srgbClr val="0D74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48529" y="1090930"/>
            <a:ext cx="424180" cy="332740"/>
          </a:xfrm>
          <a:prstGeom prst="rect">
            <a:avLst/>
          </a:prstGeom>
          <a:solidFill>
            <a:srgbClr val="0D7490"/>
          </a:solidFill>
        </p:spPr>
        <p:txBody>
          <a:bodyPr vert="horz" wrap="square" lIns="0" tIns="7874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45989" y="1141222"/>
            <a:ext cx="24834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Service</a:t>
            </a:r>
            <a:r>
              <a:rPr sz="13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Layer</a:t>
            </a:r>
            <a:r>
              <a:rPr sz="13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Transaction Module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54879" y="1600200"/>
            <a:ext cx="411480" cy="320040"/>
          </a:xfrm>
          <a:custGeom>
            <a:avLst/>
            <a:gdLst/>
            <a:ahLst/>
            <a:cxnLst/>
            <a:rect l="l" t="t" r="r" b="b"/>
            <a:pathLst>
              <a:path w="411479" h="320039">
                <a:moveTo>
                  <a:pt x="0" y="320039"/>
                </a:moveTo>
                <a:lnTo>
                  <a:pt x="411479" y="320039"/>
                </a:lnTo>
                <a:lnTo>
                  <a:pt x="411479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2700">
            <a:solidFill>
              <a:srgbClr val="0D74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48529" y="1593850"/>
            <a:ext cx="424180" cy="332740"/>
          </a:xfrm>
          <a:prstGeom prst="rect">
            <a:avLst/>
          </a:prstGeom>
          <a:solidFill>
            <a:srgbClr val="0D7490"/>
          </a:solidFill>
        </p:spPr>
        <p:txBody>
          <a:bodyPr vert="horz" wrap="square" lIns="0" tIns="7874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09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45989" y="1644523"/>
            <a:ext cx="25654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Simulation</a:t>
            </a:r>
            <a:r>
              <a:rPr sz="13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Module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Execution</a:t>
            </a:r>
            <a:r>
              <a:rPr sz="13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1E293A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48529" y="2096770"/>
            <a:ext cx="424180" cy="332740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0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45989" y="2147442"/>
            <a:ext cx="23463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Project</a:t>
            </a:r>
            <a:r>
              <a:rPr sz="1300" spc="-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Achievements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Outcomes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48529" y="2599689"/>
            <a:ext cx="424180" cy="332740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45989" y="2650616"/>
            <a:ext cx="16878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Real-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World</a:t>
            </a:r>
            <a:r>
              <a:rPr sz="13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1E293A"/>
                </a:solidFill>
                <a:latin typeface="Times New Roman"/>
                <a:cs typeface="Times New Roman"/>
              </a:rPr>
              <a:t>Applications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48529" y="3102610"/>
            <a:ext cx="424180" cy="332740"/>
          </a:xfrm>
          <a:prstGeom prst="rect">
            <a:avLst/>
          </a:prstGeom>
          <a:solidFill>
            <a:srgbClr val="0D7490"/>
          </a:solidFill>
          <a:ln w="3175">
            <a:solidFill>
              <a:srgbClr val="0D749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25"/>
              </a:spcBef>
            </a:pP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45989" y="3153536"/>
            <a:ext cx="17081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Conclusion</a:t>
            </a:r>
            <a:r>
              <a:rPr sz="13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spc="-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1E293A"/>
                </a:solidFill>
                <a:latin typeface="Times New Roman"/>
                <a:cs typeface="Times New Roman"/>
              </a:rPr>
              <a:t>Thank</a:t>
            </a:r>
            <a:r>
              <a:rPr sz="1300" spc="-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1E293A"/>
                </a:solidFill>
                <a:latin typeface="Times New Roman"/>
                <a:cs typeface="Times New Roman"/>
              </a:rPr>
              <a:t>You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7965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Enterprise</a:t>
            </a:r>
            <a:r>
              <a:rPr sz="1300" i="1" spc="-6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Inventory</a:t>
            </a:r>
            <a:r>
              <a:rPr sz="1300" i="1" spc="-5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Management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69263"/>
            <a:ext cx="5333365" cy="3778885"/>
            <a:chOff x="137160" y="969263"/>
            <a:chExt cx="5333365" cy="37788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69263"/>
              <a:ext cx="5333238" cy="37787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463040"/>
              <a:ext cx="5120640" cy="3154680"/>
            </a:xfrm>
            <a:custGeom>
              <a:avLst/>
              <a:gdLst/>
              <a:ahLst/>
              <a:cxnLst/>
              <a:rect l="l" t="t" r="r" b="b"/>
              <a:pathLst>
                <a:path w="5120640" h="3154679">
                  <a:moveTo>
                    <a:pt x="0" y="3154680"/>
                  </a:moveTo>
                  <a:lnTo>
                    <a:pt x="5120640" y="3154680"/>
                  </a:lnTo>
                  <a:lnTo>
                    <a:pt x="5120640" y="0"/>
                  </a:lnTo>
                  <a:lnTo>
                    <a:pt x="0" y="0"/>
                  </a:lnTo>
                  <a:lnTo>
                    <a:pt x="0" y="3154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51559"/>
              <a:ext cx="5120640" cy="3566160"/>
            </a:xfrm>
            <a:custGeom>
              <a:avLst/>
              <a:gdLst/>
              <a:ahLst/>
              <a:cxnLst/>
              <a:rect l="l" t="t" r="r" b="b"/>
              <a:pathLst>
                <a:path w="5120640" h="3566160">
                  <a:moveTo>
                    <a:pt x="0" y="3566160"/>
                  </a:moveTo>
                  <a:lnTo>
                    <a:pt x="5120640" y="3566160"/>
                  </a:lnTo>
                  <a:lnTo>
                    <a:pt x="5120640" y="0"/>
                  </a:lnTo>
                  <a:lnTo>
                    <a:pt x="0" y="0"/>
                  </a:lnTo>
                  <a:lnTo>
                    <a:pt x="0" y="356616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51559"/>
              <a:ext cx="5120640" cy="411480"/>
            </a:xfrm>
            <a:custGeom>
              <a:avLst/>
              <a:gdLst/>
              <a:ahLst/>
              <a:cxnLst/>
              <a:rect l="l" t="t" r="r" b="b"/>
              <a:pathLst>
                <a:path w="5120640" h="411480">
                  <a:moveTo>
                    <a:pt x="5120640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5120640" y="4114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51559"/>
              <a:ext cx="5120640" cy="411480"/>
            </a:xfrm>
            <a:custGeom>
              <a:avLst/>
              <a:gdLst/>
              <a:ahLst/>
              <a:cxnLst/>
              <a:rect l="l" t="t" r="r" b="b"/>
              <a:pathLst>
                <a:path w="5120640" h="411480">
                  <a:moveTo>
                    <a:pt x="0" y="411479"/>
                  </a:moveTo>
                  <a:lnTo>
                    <a:pt x="5120640" y="411479"/>
                  </a:lnTo>
                  <a:lnTo>
                    <a:pt x="5120640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7340" y="1132077"/>
            <a:ext cx="1357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8554" y="969225"/>
            <a:ext cx="8576945" cy="2933065"/>
            <a:chOff x="368554" y="969225"/>
            <a:chExt cx="8576945" cy="293306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554" y="1749298"/>
              <a:ext cx="177291" cy="1772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2407666"/>
              <a:ext cx="177291" cy="177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3066033"/>
              <a:ext cx="177291" cy="1772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554" y="3724401"/>
              <a:ext cx="177291" cy="177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969225"/>
              <a:ext cx="3458717" cy="9624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678424" y="1051560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0" y="749808"/>
                  </a:moveTo>
                  <a:lnTo>
                    <a:pt x="3191255" y="749808"/>
                  </a:lnTo>
                  <a:lnTo>
                    <a:pt x="3191255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3559" y="1051560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8"/>
                  </a:moveTo>
                  <a:lnTo>
                    <a:pt x="3246119" y="749808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23559" y="1051560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3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3" y="749808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23559" y="1051560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3" y="749808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9091" y="1633854"/>
            <a:ext cx="4450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A</a:t>
            </a:r>
            <a:r>
              <a:rPr sz="1200" spc="-7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robust,</a:t>
            </a:r>
            <a:r>
              <a:rPr sz="1200" spc="-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full-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stack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Enterprise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Inventory</a:t>
            </a:r>
            <a:r>
              <a:rPr sz="12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Management</a:t>
            </a:r>
            <a:r>
              <a:rPr sz="12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System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built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with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Java</a:t>
            </a:r>
            <a:r>
              <a:rPr sz="12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Spring</a:t>
            </a:r>
            <a:r>
              <a:rPr sz="12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Boot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2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Thymeleaf</a:t>
            </a:r>
            <a:r>
              <a:rPr sz="12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that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streamlines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operations.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091" y="2292223"/>
            <a:ext cx="44672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Handles</a:t>
            </a:r>
            <a:r>
              <a:rPr sz="12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end-to-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end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inventory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lifecycle:</a:t>
            </a:r>
            <a:r>
              <a:rPr sz="1200" spc="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product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creation,</a:t>
            </a:r>
            <a:r>
              <a:rPr sz="12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tracking,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product</a:t>
            </a:r>
            <a:r>
              <a:rPr sz="12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management, stock</a:t>
            </a:r>
            <a:r>
              <a:rPr sz="12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tracking,</a:t>
            </a:r>
            <a:r>
              <a:rPr sz="12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reporting</a:t>
            </a:r>
            <a:r>
              <a:rPr sz="12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2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2525"/>
                </a:solidFill>
                <a:latin typeface="Times New Roman"/>
                <a:cs typeface="Times New Roman"/>
              </a:rPr>
              <a:t>dashboard</a:t>
            </a:r>
            <a:r>
              <a:rPr sz="12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Times New Roman"/>
                <a:cs typeface="Times New Roman"/>
              </a:rPr>
              <a:t>analytics.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9091" y="2950845"/>
            <a:ext cx="4350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Designed</a:t>
            </a:r>
            <a:r>
              <a:rPr sz="12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for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real-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world</a:t>
            </a:r>
            <a:r>
              <a:rPr sz="12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enterprise</a:t>
            </a:r>
            <a:r>
              <a:rPr sz="12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use</a:t>
            </a:r>
            <a:r>
              <a:rPr sz="12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with</a:t>
            </a:r>
            <a:r>
              <a:rPr sz="12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MVC</a:t>
            </a:r>
            <a:r>
              <a:rPr sz="12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architecture,</a:t>
            </a:r>
            <a:r>
              <a:rPr sz="12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layered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service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design,</a:t>
            </a:r>
            <a:r>
              <a:rPr sz="12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database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integrity.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9091" y="3609594"/>
            <a:ext cx="4643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system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simulates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realistic</a:t>
            </a:r>
            <a:r>
              <a:rPr sz="12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2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scenarios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including</a:t>
            </a:r>
            <a:r>
              <a:rPr sz="12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r>
              <a:rPr sz="12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depletion,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reorder</a:t>
            </a:r>
            <a:r>
              <a:rPr sz="12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triggers, and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risk</a:t>
            </a:r>
            <a:r>
              <a:rPr sz="12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E293A"/>
                </a:solidFill>
                <a:latin typeface="Times New Roman"/>
                <a:cs typeface="Times New Roman"/>
              </a:rPr>
              <a:t>threshold</a:t>
            </a:r>
            <a:r>
              <a:rPr sz="12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Times New Roman"/>
                <a:cs typeface="Times New Roman"/>
              </a:rPr>
              <a:t>alerts.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84773" y="1093544"/>
            <a:ext cx="3178810" cy="6000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470"/>
              </a:spcBef>
            </a:pPr>
            <a:r>
              <a:rPr sz="2200" b="1" spc="-25" dirty="0">
                <a:solidFill>
                  <a:srgbClr val="0891B1"/>
                </a:solidFill>
                <a:latin typeface="Times New Roman"/>
                <a:cs typeface="Times New Roman"/>
              </a:rPr>
              <a:t>MVC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Architecture</a:t>
            </a:r>
            <a:r>
              <a:rPr sz="1100" spc="-7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Pattern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86400" y="1865337"/>
            <a:ext cx="3458845" cy="962660"/>
            <a:chOff x="5486400" y="1865337"/>
            <a:chExt cx="3458845" cy="96266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1865337"/>
              <a:ext cx="3458717" cy="9624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678423" y="1947671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0" y="749807"/>
                  </a:moveTo>
                  <a:lnTo>
                    <a:pt x="3191255" y="749807"/>
                  </a:lnTo>
                  <a:lnTo>
                    <a:pt x="3191255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23560" y="1947671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7"/>
                  </a:moveTo>
                  <a:lnTo>
                    <a:pt x="3246119" y="749807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23560" y="194767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3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3" y="749807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23560" y="194767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7"/>
                  </a:moveTo>
                  <a:lnTo>
                    <a:pt x="54863" y="749807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9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684773" y="1991737"/>
            <a:ext cx="3178810" cy="59817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455"/>
              </a:spcBef>
            </a:pPr>
            <a:r>
              <a:rPr sz="2200" b="1" dirty="0">
                <a:solidFill>
                  <a:srgbClr val="8A5CF6"/>
                </a:solidFill>
                <a:latin typeface="Times New Roman"/>
                <a:cs typeface="Times New Roman"/>
              </a:rPr>
              <a:t>Spring</a:t>
            </a:r>
            <a:r>
              <a:rPr sz="2200" b="1" spc="-8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8A5CF6"/>
                </a:solidFill>
                <a:latin typeface="Times New Roman"/>
                <a:cs typeface="Times New Roman"/>
              </a:rPr>
              <a:t>MVC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API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Design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Style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86400" y="2816313"/>
            <a:ext cx="3458845" cy="962660"/>
            <a:chOff x="5486400" y="2816313"/>
            <a:chExt cx="3458845" cy="96266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2816313"/>
              <a:ext cx="3458717" cy="9624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678423" y="2898648"/>
              <a:ext cx="3191510" cy="749935"/>
            </a:xfrm>
            <a:custGeom>
              <a:avLst/>
              <a:gdLst/>
              <a:ahLst/>
              <a:cxnLst/>
              <a:rect l="l" t="t" r="r" b="b"/>
              <a:pathLst>
                <a:path w="3191509" h="749935">
                  <a:moveTo>
                    <a:pt x="0" y="749807"/>
                  </a:moveTo>
                  <a:lnTo>
                    <a:pt x="3191255" y="749807"/>
                  </a:lnTo>
                  <a:lnTo>
                    <a:pt x="3191255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23560" y="2898648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7"/>
                  </a:moveTo>
                  <a:lnTo>
                    <a:pt x="3246119" y="749807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23560" y="2898648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3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3" y="749807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23560" y="2898648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7"/>
                  </a:moveTo>
                  <a:lnTo>
                    <a:pt x="54863" y="749807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699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684773" y="2942260"/>
            <a:ext cx="3178810" cy="5988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459"/>
              </a:spcBef>
            </a:pPr>
            <a:r>
              <a:rPr sz="22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ACID</a:t>
            </a:r>
            <a:endParaRPr sz="22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19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Transaction</a:t>
            </a:r>
            <a:r>
              <a:rPr sz="1100" spc="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Compliance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86400" y="3781031"/>
            <a:ext cx="3458845" cy="962660"/>
            <a:chOff x="5486400" y="3781031"/>
            <a:chExt cx="3458845" cy="962660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6400" y="3781031"/>
              <a:ext cx="3458717" cy="96244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623560" y="3863555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4191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4191" y="749808"/>
                  </a:lnTo>
                  <a:lnTo>
                    <a:pt x="4191" y="0"/>
                  </a:lnTo>
                  <a:close/>
                </a:path>
                <a:path w="3246120" h="749935">
                  <a:moveTo>
                    <a:pt x="3246120" y="0"/>
                  </a:moveTo>
                  <a:lnTo>
                    <a:pt x="59055" y="0"/>
                  </a:lnTo>
                  <a:lnTo>
                    <a:pt x="59055" y="749808"/>
                  </a:lnTo>
                  <a:lnTo>
                    <a:pt x="3246120" y="749808"/>
                  </a:lnTo>
                  <a:lnTo>
                    <a:pt x="3246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23560" y="3863555"/>
              <a:ext cx="3246120" cy="749935"/>
            </a:xfrm>
            <a:custGeom>
              <a:avLst/>
              <a:gdLst/>
              <a:ahLst/>
              <a:cxnLst/>
              <a:rect l="l" t="t" r="r" b="b"/>
              <a:pathLst>
                <a:path w="3246120" h="749935">
                  <a:moveTo>
                    <a:pt x="0" y="749808"/>
                  </a:moveTo>
                  <a:lnTo>
                    <a:pt x="3246119" y="749808"/>
                  </a:lnTo>
                  <a:lnTo>
                    <a:pt x="324611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27751" y="38679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3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3" y="749808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27751" y="38679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3" y="749808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688965" y="3783838"/>
            <a:ext cx="3174365" cy="5988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459"/>
              </a:spcBef>
            </a:pPr>
            <a:r>
              <a:rPr sz="2200" b="1" spc="-25" dirty="0">
                <a:solidFill>
                  <a:srgbClr val="F59E0A"/>
                </a:solidFill>
                <a:latin typeface="Times New Roman"/>
                <a:cs typeface="Times New Roman"/>
              </a:rPr>
              <a:t>OOP</a:t>
            </a:r>
            <a:endParaRPr sz="220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Java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Design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3051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Challenges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in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Traditional</a:t>
            </a:r>
            <a:r>
              <a:rPr sz="1300" i="1" spc="-1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Inventory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Management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1014983"/>
            <a:ext cx="4418965" cy="1383030"/>
            <a:chOff x="137160" y="1014983"/>
            <a:chExt cx="4418965" cy="13830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014983"/>
              <a:ext cx="4418838" cy="13830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9184" y="1097279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2"/>
                  </a:moveTo>
                  <a:lnTo>
                    <a:pt x="4151376" y="1170432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97279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4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4" y="1170432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4" y="1170432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5534" y="1209802"/>
            <a:ext cx="4138929" cy="87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Manual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Tracking</a:t>
            </a:r>
            <a:r>
              <a:rPr sz="1300" b="1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Errors</a:t>
            </a:r>
            <a:endParaRPr sz="1300">
              <a:latin typeface="Times New Roman"/>
              <a:cs typeface="Times New Roman"/>
            </a:endParaRPr>
          </a:p>
          <a:p>
            <a:pPr marL="102870" marR="400685">
              <a:lnSpc>
                <a:spcPct val="100000"/>
              </a:lnSpc>
              <a:spcBef>
                <a:spcPts val="1175"/>
              </a:spcBef>
            </a:pP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Spreadsheet-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based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tracking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leads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to inaccurate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stock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counts,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data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inconsistency,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human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errors</a:t>
            </a:r>
            <a:r>
              <a:rPr sz="1100" spc="-5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causing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costly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overstock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stockouts.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0" y="1014983"/>
            <a:ext cx="4418965" cy="1383030"/>
            <a:chOff x="4572000" y="1014983"/>
            <a:chExt cx="4418965" cy="13830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014983"/>
              <a:ext cx="4418838" cy="138303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64023" y="1097279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2"/>
                  </a:moveTo>
                  <a:lnTo>
                    <a:pt x="4151376" y="1170432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9160" y="1097279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916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3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3" y="1170432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09160" y="1097279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3" y="1170432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70373" y="1209802"/>
            <a:ext cx="4138929" cy="87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No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Real-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Time</a:t>
            </a:r>
            <a:r>
              <a:rPr sz="1300" b="1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Visibility</a:t>
            </a:r>
            <a:endParaRPr sz="1300">
              <a:latin typeface="Times New Roman"/>
              <a:cs typeface="Times New Roman"/>
            </a:endParaRPr>
          </a:p>
          <a:p>
            <a:pPr marL="103505" marR="629285">
              <a:lnSpc>
                <a:spcPct val="100000"/>
              </a:lnSpc>
              <a:spcBef>
                <a:spcPts val="1175"/>
              </a:spcBef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Businesses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lack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real-time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stock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level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monitoring,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resulting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in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delayed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decisions,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undetected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shortages,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missed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reorder triggers.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7160" y="2340864"/>
            <a:ext cx="4418965" cy="1383030"/>
            <a:chOff x="137160" y="2340864"/>
            <a:chExt cx="4418965" cy="138303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340864"/>
              <a:ext cx="4418838" cy="138303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9184" y="242316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1"/>
                  </a:moveTo>
                  <a:lnTo>
                    <a:pt x="4151376" y="1170431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242316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1"/>
                  </a:moveTo>
                  <a:lnTo>
                    <a:pt x="4206240" y="1170431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4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54864" y="1170431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1"/>
                  </a:moveTo>
                  <a:lnTo>
                    <a:pt x="54864" y="1170431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35534" y="2536316"/>
            <a:ext cx="4138929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Fragmented</a:t>
            </a:r>
            <a:r>
              <a:rPr sz="1300" b="1" spc="-6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Systems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Times New Roman"/>
              <a:cs typeface="Times New Roman"/>
            </a:endParaRPr>
          </a:p>
          <a:p>
            <a:pPr marL="102870" marR="212090">
              <a:lnSpc>
                <a:spcPct val="100000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Separate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tools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procurement,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sales,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suppliers,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reporting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create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data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silos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with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no</a:t>
            </a:r>
            <a:r>
              <a:rPr sz="1100" spc="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centralized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control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or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audit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trail.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72000" y="2340864"/>
            <a:ext cx="4418965" cy="1383030"/>
            <a:chOff x="4572000" y="2340864"/>
            <a:chExt cx="4418965" cy="138303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340864"/>
              <a:ext cx="4418838" cy="138303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64023" y="242316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1"/>
                  </a:moveTo>
                  <a:lnTo>
                    <a:pt x="4151376" y="1170431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09160" y="242316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1"/>
                  </a:moveTo>
                  <a:lnTo>
                    <a:pt x="4206240" y="1170431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0916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3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54863" y="1170431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09160" y="242316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1"/>
                  </a:moveTo>
                  <a:lnTo>
                    <a:pt x="54863" y="1170431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70373" y="2536316"/>
            <a:ext cx="4138929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No</a:t>
            </a:r>
            <a:r>
              <a:rPr sz="1300" b="1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Risk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Threshold</a:t>
            </a:r>
            <a:r>
              <a:rPr sz="1300" b="1" spc="-7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Alerts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Times New Roman"/>
              <a:cs typeface="Times New Roman"/>
            </a:endParaRPr>
          </a:p>
          <a:p>
            <a:pPr marL="103505" marR="202565">
              <a:lnSpc>
                <a:spcPct val="100000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Without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threshold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logic,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managers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are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unaware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of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critical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inventory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levels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until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operations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are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already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disrupted.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7160" y="3666721"/>
            <a:ext cx="4418965" cy="1383030"/>
            <a:chOff x="137160" y="3666721"/>
            <a:chExt cx="4418965" cy="138303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666721"/>
              <a:ext cx="4418838" cy="138303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29184" y="374904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2"/>
                  </a:moveTo>
                  <a:lnTo>
                    <a:pt x="4151376" y="1170432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374904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432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4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4" y="1170432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4" y="1170432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35534" y="3862527"/>
            <a:ext cx="4138929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Poor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 Transaction Integrity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Times New Roman"/>
              <a:cs typeface="Times New Roman"/>
            </a:endParaRPr>
          </a:p>
          <a:p>
            <a:pPr marL="102870" marR="293370">
              <a:lnSpc>
                <a:spcPct val="100000"/>
              </a:lnSpc>
            </a:pP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Non-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ACID</a:t>
            </a:r>
            <a:r>
              <a:rPr sz="1100" spc="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transactions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result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partial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updates,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orphaned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records,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data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corruption</a:t>
            </a:r>
            <a:r>
              <a:rPr sz="11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across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multi-step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inventory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operations.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72000" y="3666721"/>
            <a:ext cx="4418965" cy="1383030"/>
            <a:chOff x="4572000" y="3666721"/>
            <a:chExt cx="4418965" cy="138303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666721"/>
              <a:ext cx="4418838" cy="138303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764023" y="3749040"/>
              <a:ext cx="4151629" cy="1170940"/>
            </a:xfrm>
            <a:custGeom>
              <a:avLst/>
              <a:gdLst/>
              <a:ahLst/>
              <a:cxnLst/>
              <a:rect l="l" t="t" r="r" b="b"/>
              <a:pathLst>
                <a:path w="4151629" h="1170939">
                  <a:moveTo>
                    <a:pt x="0" y="1170432"/>
                  </a:moveTo>
                  <a:lnTo>
                    <a:pt x="4151376" y="1170432"/>
                  </a:lnTo>
                  <a:lnTo>
                    <a:pt x="41513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09160" y="3749040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0916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54863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54863" y="1170432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09160" y="3749040"/>
              <a:ext cx="55244" cy="1170940"/>
            </a:xfrm>
            <a:custGeom>
              <a:avLst/>
              <a:gdLst/>
              <a:ahLst/>
              <a:cxnLst/>
              <a:rect l="l" t="t" r="r" b="b"/>
              <a:pathLst>
                <a:path w="55245" h="1170939">
                  <a:moveTo>
                    <a:pt x="0" y="1170432"/>
                  </a:moveTo>
                  <a:lnTo>
                    <a:pt x="54863" y="1170432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770373" y="3862527"/>
            <a:ext cx="4138929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Scalability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Limitations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Times New Roman"/>
              <a:cs typeface="Times New Roman"/>
            </a:endParaRPr>
          </a:p>
          <a:p>
            <a:pPr marL="103505" marR="198120">
              <a:lnSpc>
                <a:spcPct val="100000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Legacy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systems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fail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to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scale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with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growing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product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catalogs,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multiple warehouses,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1100" spc="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increasing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transaction</a:t>
            </a:r>
            <a:r>
              <a:rPr sz="1100" spc="-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volumes.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Build</a:t>
            </a:r>
            <a:r>
              <a:rPr spc="-45" dirty="0"/>
              <a:t> </a:t>
            </a:r>
            <a:r>
              <a:rPr dirty="0"/>
              <a:t>This</a:t>
            </a:r>
            <a:r>
              <a:rPr spc="-5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5139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Motivation,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Goals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Academic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Value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23544"/>
            <a:ext cx="4418965" cy="1419860"/>
            <a:chOff x="137160" y="923544"/>
            <a:chExt cx="4418965" cy="1419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23544"/>
              <a:ext cx="4418838" cy="14196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005840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4320" y="1005839"/>
            <a:ext cx="502920" cy="1207135"/>
          </a:xfrm>
          <a:prstGeom prst="rect">
            <a:avLst/>
          </a:prstGeom>
          <a:solidFill>
            <a:srgbClr val="0891B1">
              <a:alpha val="85096"/>
            </a:srgbClr>
          </a:solidFill>
          <a:ln w="12700">
            <a:solidFill>
              <a:srgbClr val="0891B1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0891B1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" y="1005839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44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Industry-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Relevant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Tech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Stack</a:t>
            </a:r>
            <a:endParaRPr sz="1300">
              <a:latin typeface="Times New Roman"/>
              <a:cs typeface="Times New Roman"/>
            </a:endParaRPr>
          </a:p>
          <a:p>
            <a:pPr marL="91440" marR="80010">
              <a:lnSpc>
                <a:spcPct val="100000"/>
              </a:lnSpc>
              <a:spcBef>
                <a:spcPts val="128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Spring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Boot,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Thymeleaf,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JPA,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MySQL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are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widely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adopted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enterprise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Java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development.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This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project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provides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hands-</a:t>
            </a:r>
            <a:r>
              <a:rPr sz="1100" spc="50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on</a:t>
            </a:r>
            <a:r>
              <a:rPr sz="1100" spc="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expertise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production-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level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frameworks.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2000" y="923544"/>
            <a:ext cx="4418965" cy="1419860"/>
            <a:chOff x="4572000" y="923544"/>
            <a:chExt cx="4418965" cy="14198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923544"/>
              <a:ext cx="4418838" cy="14196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09160" y="1005840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09159" y="1005839"/>
            <a:ext cx="502920" cy="12071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8A5CF6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12079" y="1005839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44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Solve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a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Universal</a:t>
            </a:r>
            <a:r>
              <a:rPr sz="1300" b="1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1E293A"/>
                </a:solidFill>
                <a:latin typeface="Times New Roman"/>
                <a:cs typeface="Times New Roman"/>
              </a:rPr>
              <a:t>Need</a:t>
            </a:r>
            <a:endParaRPr sz="1300">
              <a:latin typeface="Times New Roman"/>
              <a:cs typeface="Times New Roman"/>
            </a:endParaRPr>
          </a:p>
          <a:p>
            <a:pPr marL="92075" marR="84455">
              <a:lnSpc>
                <a:spcPct val="100000"/>
              </a:lnSpc>
              <a:spcBef>
                <a:spcPts val="128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Every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business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—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retail,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manufacturing,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healthcare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—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requires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inventory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control.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Building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this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system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addresses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universal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operational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challenge.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7160" y="2276855"/>
            <a:ext cx="4418965" cy="1419860"/>
            <a:chOff x="137160" y="2276855"/>
            <a:chExt cx="4418965" cy="14198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276855"/>
              <a:ext cx="4418838" cy="14196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20" y="2359151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4320" y="2359151"/>
            <a:ext cx="502920" cy="1207135"/>
          </a:xfrm>
          <a:prstGeom prst="rect">
            <a:avLst/>
          </a:prstGeom>
          <a:solidFill>
            <a:srgbClr val="0FB881">
              <a:alpha val="85096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0FB881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240" y="2359151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50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8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Practice</a:t>
            </a:r>
            <a:r>
              <a:rPr sz="1300" b="1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Layered</a:t>
            </a:r>
            <a:r>
              <a:rPr sz="1300" b="1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Architecture</a:t>
            </a:r>
            <a:endParaRPr sz="1300">
              <a:latin typeface="Times New Roman"/>
              <a:cs typeface="Times New Roman"/>
            </a:endParaRPr>
          </a:p>
          <a:p>
            <a:pPr marL="91440" marR="396875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Implementing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Controller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Service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Repository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layers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enforces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clean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separation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of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concerns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—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fundamental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software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engineering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principle.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0" y="2276855"/>
            <a:ext cx="4418965" cy="1419860"/>
            <a:chOff x="4572000" y="2276855"/>
            <a:chExt cx="4418965" cy="141986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276855"/>
              <a:ext cx="4418838" cy="141960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09160" y="2359151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09159" y="2359151"/>
            <a:ext cx="502920" cy="1207135"/>
          </a:xfrm>
          <a:prstGeom prst="rect">
            <a:avLst/>
          </a:prstGeom>
          <a:solidFill>
            <a:srgbClr val="F59E0A">
              <a:alpha val="85096"/>
            </a:srgbClr>
          </a:solidFill>
          <a:ln w="12700">
            <a:solidFill>
              <a:srgbClr val="F59E0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F59E0A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079" y="2359151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5095" rIns="0" bIns="0" rtlCol="0">
            <a:spAutoFit/>
          </a:bodyPr>
          <a:lstStyle/>
          <a:p>
            <a:pPr marL="92075" algn="just">
              <a:lnSpc>
                <a:spcPct val="100000"/>
              </a:lnSpc>
              <a:spcBef>
                <a:spcPts val="985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Learn</a:t>
            </a:r>
            <a:r>
              <a:rPr sz="1300" b="1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Transactional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Integrity</a:t>
            </a:r>
            <a:endParaRPr sz="1300">
              <a:latin typeface="Times New Roman"/>
              <a:cs typeface="Times New Roman"/>
            </a:endParaRPr>
          </a:p>
          <a:p>
            <a:pPr marL="92075" marR="226060" algn="just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Applying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@Transactional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annotations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handling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rollback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scenarios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builds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understanding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of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ACID-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compliant</a:t>
            </a:r>
            <a:r>
              <a:rPr sz="110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database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operations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practice.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160" y="3630166"/>
            <a:ext cx="4418965" cy="1419860"/>
            <a:chOff x="137160" y="3630166"/>
            <a:chExt cx="4418965" cy="141986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630166"/>
              <a:ext cx="4418838" cy="141960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320" y="3712464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74320" y="3712464"/>
            <a:ext cx="502920" cy="1207135"/>
          </a:xfrm>
          <a:prstGeom prst="rect">
            <a:avLst/>
          </a:prstGeom>
          <a:solidFill>
            <a:srgbClr val="F87316">
              <a:alpha val="85096"/>
            </a:srgbClr>
          </a:solidFill>
          <a:ln w="12700">
            <a:solidFill>
              <a:srgbClr val="F87316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F87316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7240" y="3712464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57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90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Build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1E293A"/>
                </a:solidFill>
                <a:latin typeface="Times New Roman"/>
                <a:cs typeface="Times New Roman"/>
              </a:rPr>
              <a:t>End-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to-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End</a:t>
            </a:r>
            <a:r>
              <a:rPr sz="1300" b="1" spc="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Features</a:t>
            </a:r>
            <a:endParaRPr sz="1300">
              <a:latin typeface="Times New Roman"/>
              <a:cs typeface="Times New Roman"/>
            </a:endParaRPr>
          </a:p>
          <a:p>
            <a:pPr marL="91440" marR="118110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From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authentication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simulation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modules and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risk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alerts,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this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project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integrates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full-cycle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development: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backend,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frontend,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database,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business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logic.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2000" y="3630166"/>
            <a:ext cx="4418965" cy="1419860"/>
            <a:chOff x="4572000" y="3630166"/>
            <a:chExt cx="4418965" cy="141986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630166"/>
              <a:ext cx="4418838" cy="141960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709160" y="3712464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709159" y="3712464"/>
            <a:ext cx="502920" cy="1207135"/>
          </a:xfrm>
          <a:prstGeom prst="rect">
            <a:avLst/>
          </a:prstGeom>
          <a:solidFill>
            <a:srgbClr val="EE4444">
              <a:alpha val="85096"/>
            </a:srgbClr>
          </a:solidFill>
          <a:ln w="12700">
            <a:solidFill>
              <a:srgbClr val="EE4444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50" dirty="0">
                <a:solidFill>
                  <a:srgbClr val="EE4444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12079" y="3712464"/>
            <a:ext cx="3703320" cy="12071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57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90"/>
              </a:spcBef>
            </a:pP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Academic</a:t>
            </a:r>
            <a:r>
              <a:rPr sz="1300" b="1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&amp;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Career</a:t>
            </a:r>
            <a:r>
              <a:rPr sz="1300" b="1" spc="-6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E293A"/>
                </a:solidFill>
                <a:latin typeface="Times New Roman"/>
                <a:cs typeface="Times New Roman"/>
              </a:rPr>
              <a:t>Portfolio</a:t>
            </a:r>
            <a:r>
              <a:rPr sz="1300" b="1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Value</a:t>
            </a:r>
            <a:endParaRPr sz="1300">
              <a:latin typeface="Times New Roman"/>
              <a:cs typeface="Times New Roman"/>
            </a:endParaRPr>
          </a:p>
          <a:p>
            <a:pPr marL="92075" marR="175895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fully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functional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enterprise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application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demonstrates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senior-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level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development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skills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 provides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concrete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evidence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of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system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design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capabilities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employers.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91959"/>
            <a:ext cx="2531110" cy="765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>
                <a:solidFill>
                  <a:srgbClr val="000000"/>
                </a:solidFill>
              </a:rPr>
              <a:t>Technology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Stack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Tools,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Frameworks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Libraries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Used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4795" y="1042035"/>
            <a:ext cx="1573530" cy="1573530"/>
            <a:chOff x="264795" y="1042035"/>
            <a:chExt cx="1573530" cy="1573530"/>
          </a:xfrm>
        </p:grpSpPr>
        <p:sp>
          <p:nvSpPr>
            <p:cNvPr id="8" name="object 8"/>
            <p:cNvSpPr/>
            <p:nvPr/>
          </p:nvSpPr>
          <p:spPr>
            <a:xfrm>
              <a:off x="274320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80" h="1262380">
                  <a:moveTo>
                    <a:pt x="0" y="1261872"/>
                  </a:moveTo>
                  <a:lnTo>
                    <a:pt x="1554480" y="1261872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80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1051560"/>
            <a:ext cx="1554480" cy="292735"/>
          </a:xfrm>
          <a:prstGeom prst="rect">
            <a:avLst/>
          </a:prstGeom>
          <a:solidFill>
            <a:srgbClr val="F87316"/>
          </a:solidFill>
        </p:spPr>
        <p:txBody>
          <a:bodyPr vert="horz" wrap="square" lIns="0" tIns="81280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640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ua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68" y="1540890"/>
            <a:ext cx="6318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Java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17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444" y="2178811"/>
            <a:ext cx="139763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Core</a:t>
            </a:r>
            <a:r>
              <a:rPr sz="9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programming</a:t>
            </a:r>
            <a:r>
              <a:rPr sz="950" spc="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language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24989" y="1047750"/>
            <a:ext cx="1573530" cy="1573530"/>
            <a:chOff x="2324989" y="1047750"/>
            <a:chExt cx="1573530" cy="1573530"/>
          </a:xfrm>
        </p:grpSpPr>
        <p:sp>
          <p:nvSpPr>
            <p:cNvPr id="15" name="object 15"/>
            <p:cNvSpPr/>
            <p:nvPr/>
          </p:nvSpPr>
          <p:spPr>
            <a:xfrm>
              <a:off x="2334514" y="1349883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0" y="1261871"/>
                  </a:moveTo>
                  <a:lnTo>
                    <a:pt x="1554480" y="1261871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4514" y="1057275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4514" y="1057275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34514" y="1057275"/>
            <a:ext cx="1554480" cy="292735"/>
          </a:xfrm>
          <a:prstGeom prst="rect">
            <a:avLst/>
          </a:prstGeom>
          <a:solidFill>
            <a:srgbClr val="0FB881"/>
          </a:solidFill>
        </p:spPr>
        <p:txBody>
          <a:bodyPr vert="horz" wrap="square" lIns="0" tIns="8128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640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ckend</a:t>
            </a:r>
            <a:r>
              <a:rPr sz="800" b="1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Fra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mew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rk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21533" y="1546352"/>
            <a:ext cx="992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Boot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4457" y="2184273"/>
            <a:ext cx="14458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Auto-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configured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REST/MVC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85055" y="1042035"/>
            <a:ext cx="1573530" cy="1573530"/>
            <a:chOff x="4385055" y="1042035"/>
            <a:chExt cx="1573530" cy="1573530"/>
          </a:xfrm>
        </p:grpSpPr>
        <p:sp>
          <p:nvSpPr>
            <p:cNvPr id="22" name="object 22"/>
            <p:cNvSpPr/>
            <p:nvPr/>
          </p:nvSpPr>
          <p:spPr>
            <a:xfrm>
              <a:off x="4394580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0" y="1261872"/>
                  </a:moveTo>
                  <a:lnTo>
                    <a:pt x="1554479" y="1261872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94580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79" y="1554480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94580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79" y="292608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94580" y="1051560"/>
            <a:ext cx="1554480" cy="292735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81280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640"/>
              </a:spcBef>
            </a:pP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Fro</a:t>
            </a:r>
            <a:r>
              <a:rPr sz="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ntend</a:t>
            </a:r>
            <a:r>
              <a:rPr sz="800" b="1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Eng</a:t>
            </a:r>
            <a:r>
              <a:rPr sz="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39894" y="1540890"/>
            <a:ext cx="8769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39665" y="2178811"/>
            <a:ext cx="14789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Server-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side HTML</a:t>
            </a:r>
            <a:r>
              <a:rPr sz="95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templating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74333" y="1042035"/>
            <a:ext cx="1573530" cy="1573530"/>
            <a:chOff x="6474333" y="1042035"/>
            <a:chExt cx="1573530" cy="1573530"/>
          </a:xfrm>
        </p:grpSpPr>
        <p:sp>
          <p:nvSpPr>
            <p:cNvPr id="29" name="object 29"/>
            <p:cNvSpPr/>
            <p:nvPr/>
          </p:nvSpPr>
          <p:spPr>
            <a:xfrm>
              <a:off x="6483858" y="13441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80">
                  <a:moveTo>
                    <a:pt x="0" y="1261872"/>
                  </a:moveTo>
                  <a:lnTo>
                    <a:pt x="1554480" y="1261872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83858" y="10515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80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5B6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83858" y="10515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4">
                  <a:moveTo>
                    <a:pt x="0" y="292608"/>
                  </a:moveTo>
                  <a:lnTo>
                    <a:pt x="1554480" y="292608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12700">
              <a:solidFill>
                <a:srgbClr val="05B6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83858" y="1051560"/>
            <a:ext cx="1554480" cy="292735"/>
          </a:xfrm>
          <a:prstGeom prst="rect">
            <a:avLst/>
          </a:prstGeom>
          <a:solidFill>
            <a:srgbClr val="05B6D3"/>
          </a:solidFill>
        </p:spPr>
        <p:txBody>
          <a:bodyPr vert="horz" wrap="square" lIns="0" tIns="81280" rIns="0" bIns="0" rtlCol="0">
            <a:spAutoFit/>
          </a:bodyPr>
          <a:lstStyle/>
          <a:p>
            <a:pPr marL="476250">
              <a:lnSpc>
                <a:spcPct val="100000"/>
              </a:lnSpc>
              <a:spcBef>
                <a:spcPts val="640"/>
              </a:spcBef>
            </a:pPr>
            <a:r>
              <a:rPr sz="8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800" b="1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34809" y="1540890"/>
            <a:ext cx="10661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MVC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86981" y="2178811"/>
            <a:ext cx="13601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HTTP</a:t>
            </a:r>
            <a:r>
              <a:rPr sz="9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routing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&amp;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controllers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85055" y="2870835"/>
            <a:ext cx="1573530" cy="1573530"/>
            <a:chOff x="4385055" y="2870835"/>
            <a:chExt cx="1573530" cy="1573530"/>
          </a:xfrm>
        </p:grpSpPr>
        <p:sp>
          <p:nvSpPr>
            <p:cNvPr id="36" name="object 36"/>
            <p:cNvSpPr/>
            <p:nvPr/>
          </p:nvSpPr>
          <p:spPr>
            <a:xfrm>
              <a:off x="4394580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0" y="1261872"/>
                  </a:moveTo>
                  <a:lnTo>
                    <a:pt x="1554479" y="1261872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94580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79" y="1554480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94580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79" y="292607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394580" y="2880360"/>
            <a:ext cx="1554480" cy="292735"/>
          </a:xfrm>
          <a:prstGeom prst="rect">
            <a:avLst/>
          </a:prstGeom>
          <a:solidFill>
            <a:srgbClr val="8A5CF6"/>
          </a:solidFill>
        </p:spPr>
        <p:txBody>
          <a:bodyPr vert="horz" wrap="square" lIns="0" tIns="81915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645"/>
              </a:spcBef>
            </a:pP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800" b="1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79290" y="3369640"/>
            <a:ext cx="13989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5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JPA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7202" y="4007611"/>
            <a:ext cx="128397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Database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abstraction</a:t>
            </a:r>
            <a:r>
              <a:rPr sz="95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layer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64795" y="2870835"/>
            <a:ext cx="1573530" cy="1573530"/>
            <a:chOff x="264795" y="2870835"/>
            <a:chExt cx="1573530" cy="1573530"/>
          </a:xfrm>
        </p:grpSpPr>
        <p:sp>
          <p:nvSpPr>
            <p:cNvPr id="43" name="object 43"/>
            <p:cNvSpPr/>
            <p:nvPr/>
          </p:nvSpPr>
          <p:spPr>
            <a:xfrm>
              <a:off x="274320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80" h="1262379">
                  <a:moveTo>
                    <a:pt x="0" y="1261872"/>
                  </a:moveTo>
                  <a:lnTo>
                    <a:pt x="1554480" y="1261872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4320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320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80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74320" y="2880360"/>
            <a:ext cx="1554480" cy="292735"/>
          </a:xfrm>
          <a:prstGeom prst="rect">
            <a:avLst/>
          </a:prstGeom>
          <a:solidFill>
            <a:srgbClr val="EE4444"/>
          </a:solidFill>
        </p:spPr>
        <p:txBody>
          <a:bodyPr vert="horz" wrap="square" lIns="0" tIns="81915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645"/>
              </a:spcBef>
            </a:pP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8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Pro</a:t>
            </a:r>
            <a:r>
              <a:rPr sz="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vi</a:t>
            </a:r>
            <a:r>
              <a:rPr sz="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der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8860" y="3369640"/>
            <a:ext cx="8388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Hibernate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1596" y="4007611"/>
            <a:ext cx="125412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Entity-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relational</a:t>
            </a:r>
            <a:r>
              <a:rPr sz="95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mapping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324989" y="2876499"/>
            <a:ext cx="1573530" cy="1573530"/>
            <a:chOff x="2324989" y="2876499"/>
            <a:chExt cx="1573530" cy="1573530"/>
          </a:xfrm>
        </p:grpSpPr>
        <p:sp>
          <p:nvSpPr>
            <p:cNvPr id="50" name="object 50"/>
            <p:cNvSpPr/>
            <p:nvPr/>
          </p:nvSpPr>
          <p:spPr>
            <a:xfrm>
              <a:off x="2334514" y="3178683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0" y="1261821"/>
                  </a:moveTo>
                  <a:lnTo>
                    <a:pt x="1554480" y="1261821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21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34514" y="2886024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34514" y="2886075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334514" y="2886075"/>
            <a:ext cx="1554480" cy="292735"/>
          </a:xfrm>
          <a:prstGeom prst="rect">
            <a:avLst/>
          </a:prstGeom>
          <a:solidFill>
            <a:srgbClr val="F59E0A"/>
          </a:solidFill>
        </p:spPr>
        <p:txBody>
          <a:bodyPr vert="horz" wrap="square" lIns="0" tIns="8191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645"/>
              </a:spcBef>
            </a:pPr>
            <a:r>
              <a:rPr sz="8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83077" y="3375786"/>
            <a:ext cx="6705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464561" y="4013708"/>
            <a:ext cx="130746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Relational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data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persistence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474333" y="2870835"/>
            <a:ext cx="1573530" cy="1573530"/>
            <a:chOff x="6474333" y="2870835"/>
            <a:chExt cx="1573530" cy="1573530"/>
          </a:xfrm>
        </p:grpSpPr>
        <p:sp>
          <p:nvSpPr>
            <p:cNvPr id="57" name="object 57"/>
            <p:cNvSpPr/>
            <p:nvPr/>
          </p:nvSpPr>
          <p:spPr>
            <a:xfrm>
              <a:off x="6483858" y="3172968"/>
              <a:ext cx="1554480" cy="1262380"/>
            </a:xfrm>
            <a:custGeom>
              <a:avLst/>
              <a:gdLst/>
              <a:ahLst/>
              <a:cxnLst/>
              <a:rect l="l" t="t" r="r" b="b"/>
              <a:pathLst>
                <a:path w="1554479" h="1262379">
                  <a:moveTo>
                    <a:pt x="0" y="1261872"/>
                  </a:moveTo>
                  <a:lnTo>
                    <a:pt x="1554480" y="1261872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83858" y="288036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1554480"/>
                  </a:moveTo>
                  <a:lnTo>
                    <a:pt x="1554480" y="155448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1905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83858" y="2880360"/>
              <a:ext cx="1554480" cy="292735"/>
            </a:xfrm>
            <a:custGeom>
              <a:avLst/>
              <a:gdLst/>
              <a:ahLst/>
              <a:cxnLst/>
              <a:rect l="l" t="t" r="r" b="b"/>
              <a:pathLst>
                <a:path w="1554479" h="292735">
                  <a:moveTo>
                    <a:pt x="0" y="292607"/>
                  </a:moveTo>
                  <a:lnTo>
                    <a:pt x="1554480" y="29260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483858" y="2880360"/>
            <a:ext cx="1554480" cy="292735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8191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645"/>
              </a:spcBef>
            </a:pP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UI</a:t>
            </a:r>
            <a:r>
              <a:rPr sz="8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69861" y="3369640"/>
            <a:ext cx="9963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HTML/CSS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641845" y="4007611"/>
            <a:ext cx="125222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Bootstrap-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styled</a:t>
            </a:r>
            <a:r>
              <a:rPr sz="950" spc="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frontend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Role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Each</a:t>
            </a:r>
            <a:r>
              <a:rPr spc="-60" dirty="0"/>
              <a:t> </a:t>
            </a:r>
            <a:r>
              <a:rPr spc="-20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29437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How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Every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Component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Contributes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to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the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23518"/>
            <a:ext cx="4418965" cy="1127125"/>
            <a:chOff x="137160" y="923518"/>
            <a:chExt cx="4418965" cy="1127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23518"/>
              <a:ext cx="4418838" cy="11270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005840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87316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0040" y="1051560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78740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20"/>
              </a:spcBef>
            </a:pPr>
            <a:r>
              <a:rPr sz="1300" b="1" dirty="0">
                <a:solidFill>
                  <a:srgbClr val="F87316"/>
                </a:solidFill>
                <a:latin typeface="Times New Roman"/>
                <a:cs typeface="Times New Roman"/>
              </a:rPr>
              <a:t>Java</a:t>
            </a:r>
            <a:r>
              <a:rPr sz="1300" b="1" spc="-2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F87316"/>
                </a:solidFill>
                <a:latin typeface="Times New Roman"/>
                <a:cs typeface="Times New Roman"/>
              </a:rPr>
              <a:t>17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0997" y="1542415"/>
            <a:ext cx="10217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Foundation</a:t>
            </a:r>
            <a:r>
              <a:rPr sz="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1600" y="100583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51460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Provides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OOP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constructs,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streams,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lambdas,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and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generics.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All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logic,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entities,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services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are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implemented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Java.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0" y="923518"/>
            <a:ext cx="4418965" cy="1127125"/>
            <a:chOff x="4572000" y="923518"/>
            <a:chExt cx="4418965" cy="11271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923518"/>
              <a:ext cx="4418838" cy="11270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09160" y="1005840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9160" y="1005840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FB88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4879" y="1051560"/>
              <a:ext cx="1005839" cy="36576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754879" y="1051560"/>
            <a:ext cx="1005840" cy="3657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620"/>
              </a:spcBef>
            </a:pPr>
            <a:r>
              <a:rPr sz="1300" b="1" dirty="0">
                <a:solidFill>
                  <a:srgbClr val="0FB881"/>
                </a:solidFill>
                <a:latin typeface="Times New Roman"/>
                <a:cs typeface="Times New Roman"/>
              </a:rPr>
              <a:t>Spring</a:t>
            </a:r>
            <a:r>
              <a:rPr sz="13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Boot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9159" y="1005839"/>
            <a:ext cx="1097280" cy="914400"/>
          </a:xfrm>
          <a:prstGeom prst="rect">
            <a:avLst/>
          </a:prstGeom>
          <a:ln w="12700">
            <a:solidFill>
              <a:srgbClr val="0FB88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900">
              <a:latin typeface="Times New Roman"/>
              <a:cs typeface="Times New Roman"/>
            </a:endParaRPr>
          </a:p>
          <a:p>
            <a:pPr marL="319405" marR="271145" indent="-4127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Application Backbone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6440" y="100583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27000">
              <a:lnSpc>
                <a:spcPct val="100000"/>
              </a:lnSpc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Auto-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configures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server,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manages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beans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via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IoC,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provides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embedded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Tomcat,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enables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rapid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development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without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XML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config.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7160" y="1929358"/>
            <a:ext cx="4418965" cy="1127125"/>
            <a:chOff x="137160" y="1929358"/>
            <a:chExt cx="4418965" cy="11271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929358"/>
              <a:ext cx="4418838" cy="112702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4320" y="201167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891B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0040" y="2057400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7937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625"/>
              </a:spcBef>
            </a:pPr>
            <a:r>
              <a:rPr sz="1300" b="1" dirty="0">
                <a:solidFill>
                  <a:srgbClr val="0891B1"/>
                </a:solidFill>
                <a:latin typeface="Times New Roman"/>
                <a:cs typeface="Times New Roman"/>
              </a:rPr>
              <a:t>Spring</a:t>
            </a:r>
            <a:r>
              <a:rPr sz="1300" b="1" spc="-25" dirty="0">
                <a:solidFill>
                  <a:srgbClr val="0891B1"/>
                </a:solidFill>
                <a:latin typeface="Times New Roman"/>
                <a:cs typeface="Times New Roman"/>
              </a:rPr>
              <a:t> MVC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821" y="2548508"/>
            <a:ext cx="7924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1600" y="201167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36220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@Controller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classes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handle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HTTP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requests,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map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URL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paths,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validate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inputs,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return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Thymeleaf views.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72000" y="1929358"/>
            <a:ext cx="4418965" cy="1127125"/>
            <a:chOff x="4572000" y="1929358"/>
            <a:chExt cx="4418965" cy="11271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929358"/>
              <a:ext cx="4418838" cy="112702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09160" y="201167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0916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8A5CF6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09160" y="201167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699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754879" y="2057400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405"/>
              </a:lnSpc>
            </a:pPr>
            <a:r>
              <a:rPr sz="1300" b="1" dirty="0">
                <a:solidFill>
                  <a:srgbClr val="8A5CF6"/>
                </a:solidFill>
                <a:latin typeface="Times New Roman"/>
                <a:cs typeface="Times New Roman"/>
              </a:rPr>
              <a:t>Spring</a:t>
            </a:r>
            <a:r>
              <a:rPr sz="1300" b="1" spc="-25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8A5CF6"/>
                </a:solidFill>
                <a:latin typeface="Times New Roman"/>
                <a:cs typeface="Times New Roman"/>
              </a:rPr>
              <a:t>Data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75"/>
              </a:lnSpc>
            </a:pPr>
            <a:r>
              <a:rPr sz="1300" b="1" spc="-25" dirty="0">
                <a:solidFill>
                  <a:srgbClr val="8A5CF6"/>
                </a:solidFill>
                <a:latin typeface="Times New Roman"/>
                <a:cs typeface="Times New Roman"/>
              </a:rPr>
              <a:t>JPA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15078" y="2548508"/>
            <a:ext cx="8851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9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 Layer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6440" y="201167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508000" algn="just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Repository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interfaces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extend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JpaRepository,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providing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CRUD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custom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query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methods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without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boilerplate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code.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37160" y="2935223"/>
            <a:ext cx="4418965" cy="1127125"/>
            <a:chOff x="137160" y="2935223"/>
            <a:chExt cx="4418965" cy="1127125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935223"/>
              <a:ext cx="4418838" cy="112702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4320" y="301751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D749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432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D74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20040" y="3063239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7937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0D7490"/>
                </a:solidFill>
                <a:latin typeface="Times New Roman"/>
                <a:cs typeface="Times New Roman"/>
              </a:rPr>
              <a:t>Thymeleaf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2917" y="3554044"/>
            <a:ext cx="7791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r>
              <a:rPr sz="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Rendering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71600" y="3017520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83820">
              <a:lnSpc>
                <a:spcPct val="100000"/>
              </a:lnSpc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Server-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side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template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engine that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binds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model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attributes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from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controllers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HTML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pages,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enabling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dynamic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content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rendering.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72000" y="2935223"/>
            <a:ext cx="4418965" cy="1127125"/>
            <a:chOff x="4572000" y="2935223"/>
            <a:chExt cx="4418965" cy="1127125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935223"/>
              <a:ext cx="4418838" cy="112702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709160" y="301751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400"/>
                  </a:moveTo>
                  <a:lnTo>
                    <a:pt x="4206240" y="91440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0916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97280" y="91440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59E0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09160" y="301751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400"/>
                  </a:moveTo>
                  <a:lnTo>
                    <a:pt x="1097280" y="914400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699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754879" y="3063239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7937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MySQL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34890" y="3554044"/>
            <a:ext cx="8470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Persistent</a:t>
            </a:r>
            <a:r>
              <a:rPr sz="9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Storage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06440" y="3017520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Stores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all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entities: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products,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orders,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endParaRPr sz="11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movements,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user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data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relational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tables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with</a:t>
            </a:r>
            <a:endParaRPr sz="11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foreign-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key</a:t>
            </a:r>
            <a:r>
              <a:rPr sz="1100" spc="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integrity.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37160" y="3941065"/>
            <a:ext cx="4418965" cy="1127125"/>
            <a:chOff x="137160" y="3941065"/>
            <a:chExt cx="4418965" cy="1127125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941065"/>
              <a:ext cx="4418838" cy="112702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74320" y="402335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399"/>
                  </a:moveTo>
                  <a:lnTo>
                    <a:pt x="4206240" y="914399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4320" y="402335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109728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1097280" y="91439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EE444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74320" y="402335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80" h="914400">
                  <a:moveTo>
                    <a:pt x="0" y="914399"/>
                  </a:moveTo>
                  <a:lnTo>
                    <a:pt x="1097280" y="91439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20040" y="4069079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8001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EE4444"/>
                </a:solidFill>
                <a:latin typeface="Times New Roman"/>
                <a:cs typeface="Times New Roman"/>
              </a:rPr>
              <a:t>Hibernate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3021" y="4560214"/>
            <a:ext cx="6400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ORM</a:t>
            </a: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71600" y="402335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 marR="256540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Translates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Java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entity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classes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database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tables,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manages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entity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states,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generates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SQL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queries automatically.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572000" y="3941065"/>
            <a:ext cx="4418965" cy="1127125"/>
            <a:chOff x="4572000" y="3941065"/>
            <a:chExt cx="4418965" cy="1127125"/>
          </a:xfrm>
        </p:grpSpPr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941065"/>
              <a:ext cx="4418838" cy="112702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709160" y="4023359"/>
              <a:ext cx="4206240" cy="914400"/>
            </a:xfrm>
            <a:custGeom>
              <a:avLst/>
              <a:gdLst/>
              <a:ahLst/>
              <a:cxnLst/>
              <a:rect l="l" t="t" r="r" b="b"/>
              <a:pathLst>
                <a:path w="4206240" h="914400">
                  <a:moveTo>
                    <a:pt x="0" y="914399"/>
                  </a:moveTo>
                  <a:lnTo>
                    <a:pt x="4206240" y="914399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09160" y="402335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109728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1097280" y="914399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0FB88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09160" y="4023359"/>
              <a:ext cx="1097280" cy="914400"/>
            </a:xfrm>
            <a:custGeom>
              <a:avLst/>
              <a:gdLst/>
              <a:ahLst/>
              <a:cxnLst/>
              <a:rect l="l" t="t" r="r" b="b"/>
              <a:pathLst>
                <a:path w="1097279" h="914400">
                  <a:moveTo>
                    <a:pt x="0" y="914399"/>
                  </a:moveTo>
                  <a:lnTo>
                    <a:pt x="1097280" y="914399"/>
                  </a:lnTo>
                  <a:lnTo>
                    <a:pt x="109728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12699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754879" y="4069079"/>
            <a:ext cx="1005840" cy="365760"/>
          </a:xfrm>
          <a:prstGeom prst="rect">
            <a:avLst/>
          </a:prstGeom>
          <a:solidFill>
            <a:srgbClr val="EFF4F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10"/>
              </a:lnSpc>
            </a:pPr>
            <a:r>
              <a:rPr sz="13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@Transactio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470"/>
              </a:lnSpc>
            </a:pPr>
            <a:r>
              <a:rPr sz="13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nal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27853" y="4560214"/>
            <a:ext cx="6629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Integrity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806440" y="4023359"/>
            <a:ext cx="3108960" cy="914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04139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Wraps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multi-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step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operations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 atomic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database transactions.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Ensures rollback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on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failure,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preventing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partial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state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corruption.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Architecture</a:t>
            </a:r>
            <a:r>
              <a:rPr spc="-50" dirty="0"/>
              <a:t> </a:t>
            </a:r>
            <a:r>
              <a:rPr spc="-20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4536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MVC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+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Layered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N-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Tier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Architecture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923505"/>
            <a:ext cx="8807958" cy="8527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4320" y="1005839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E1E8EF"/>
            </a:solidFill>
          </a:ln>
        </p:spPr>
        <p:txBody>
          <a:bodyPr vert="horz" wrap="square" lIns="0" tIns="1917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510"/>
              </a:spcBef>
            </a:pP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Model–View–Controller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(MVC)</a:t>
            </a:r>
            <a:r>
              <a:rPr sz="16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4-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N-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Tier</a:t>
            </a:r>
            <a:r>
              <a:rPr sz="16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45920" y="1828800"/>
            <a:ext cx="5852160" cy="658495"/>
          </a:xfrm>
          <a:custGeom>
            <a:avLst/>
            <a:gdLst/>
            <a:ahLst/>
            <a:cxnLst/>
            <a:rect l="l" t="t" r="r" b="b"/>
            <a:pathLst>
              <a:path w="5852159" h="658494">
                <a:moveTo>
                  <a:pt x="0" y="658368"/>
                </a:moveTo>
                <a:lnTo>
                  <a:pt x="5852159" y="658368"/>
                </a:lnTo>
                <a:lnTo>
                  <a:pt x="5852159" y="0"/>
                </a:lnTo>
                <a:lnTo>
                  <a:pt x="0" y="0"/>
                </a:lnTo>
                <a:lnTo>
                  <a:pt x="0" y="658368"/>
                </a:lnTo>
                <a:close/>
              </a:path>
            </a:pathLst>
          </a:custGeom>
          <a:ln w="12699">
            <a:solidFill>
              <a:srgbClr val="089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39570" y="1822450"/>
            <a:ext cx="5864860" cy="671195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9906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80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r>
              <a:rPr sz="105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Views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(HTML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Templates)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39570" y="2480817"/>
            <a:ext cx="5864860" cy="835660"/>
            <a:chOff x="1639570" y="2480817"/>
            <a:chExt cx="5864860" cy="835660"/>
          </a:xfrm>
        </p:grpSpPr>
        <p:sp>
          <p:nvSpPr>
            <p:cNvPr id="9" name="object 9"/>
            <p:cNvSpPr/>
            <p:nvPr/>
          </p:nvSpPr>
          <p:spPr>
            <a:xfrm>
              <a:off x="4480560" y="2487167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182879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182879" y="16459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80560" y="2487167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920" y="2651759"/>
              <a:ext cx="5852160" cy="658495"/>
            </a:xfrm>
            <a:custGeom>
              <a:avLst/>
              <a:gdLst/>
              <a:ahLst/>
              <a:cxnLst/>
              <a:rect l="l" t="t" r="r" b="b"/>
              <a:pathLst>
                <a:path w="5852159" h="658495">
                  <a:moveTo>
                    <a:pt x="0" y="658368"/>
                  </a:moveTo>
                  <a:lnTo>
                    <a:pt x="5852159" y="658368"/>
                  </a:lnTo>
                  <a:lnTo>
                    <a:pt x="5852159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699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39570" y="2645410"/>
            <a:ext cx="5864860" cy="671195"/>
          </a:xfrm>
          <a:prstGeom prst="rect">
            <a:avLst/>
          </a:prstGeom>
          <a:solidFill>
            <a:srgbClr val="8A5CF6"/>
          </a:solidFill>
        </p:spPr>
        <p:txBody>
          <a:bodyPr vert="horz" wrap="square" lIns="0" tIns="996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8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CONTROLLER</a:t>
            </a:r>
            <a:r>
              <a:rPr sz="13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795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05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MVC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74209" y="3303778"/>
            <a:ext cx="195580" cy="177800"/>
            <a:chOff x="4474209" y="3303778"/>
            <a:chExt cx="195580" cy="177800"/>
          </a:xfrm>
        </p:grpSpPr>
        <p:sp>
          <p:nvSpPr>
            <p:cNvPr id="14" name="object 14"/>
            <p:cNvSpPr/>
            <p:nvPr/>
          </p:nvSpPr>
          <p:spPr>
            <a:xfrm>
              <a:off x="4480559" y="331012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182879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182879" y="16459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80559" y="331012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39570" y="3468370"/>
            <a:ext cx="5864860" cy="671195"/>
          </a:xfrm>
          <a:prstGeom prst="rect">
            <a:avLst/>
          </a:prstGeom>
          <a:solidFill>
            <a:srgbClr val="0FB881"/>
          </a:solidFill>
          <a:ln w="3175">
            <a:solidFill>
              <a:srgbClr val="0FB881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795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@Service</a:t>
            </a:r>
            <a:r>
              <a:rPr sz="1050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 @Business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74209" y="4126738"/>
            <a:ext cx="195580" cy="177800"/>
            <a:chOff x="4474209" y="4126738"/>
            <a:chExt cx="195580" cy="177800"/>
          </a:xfrm>
        </p:grpSpPr>
        <p:sp>
          <p:nvSpPr>
            <p:cNvPr id="18" name="object 18"/>
            <p:cNvSpPr/>
            <p:nvPr/>
          </p:nvSpPr>
          <p:spPr>
            <a:xfrm>
              <a:off x="4480559" y="413308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182879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182879" y="16459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80559" y="4133088"/>
              <a:ext cx="182880" cy="165100"/>
            </a:xfrm>
            <a:custGeom>
              <a:avLst/>
              <a:gdLst/>
              <a:ahLst/>
              <a:cxnLst/>
              <a:rect l="l" t="t" r="r" b="b"/>
              <a:pathLst>
                <a:path w="182879" h="165100">
                  <a:moveTo>
                    <a:pt x="0" y="164592"/>
                  </a:moveTo>
                  <a:lnTo>
                    <a:pt x="182879" y="164592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39570" y="4291329"/>
            <a:ext cx="5864860" cy="671195"/>
          </a:xfrm>
          <a:prstGeom prst="rect">
            <a:avLst/>
          </a:prstGeom>
          <a:solidFill>
            <a:srgbClr val="F59E0A"/>
          </a:solidFill>
          <a:ln w="3175">
            <a:solidFill>
              <a:srgbClr val="F59E0A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3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13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10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0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JPA</a:t>
            </a:r>
            <a:r>
              <a:rPr sz="105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Repositories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Hibernate</a:t>
            </a:r>
            <a:r>
              <a:rPr sz="10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Times New Roman"/>
                <a:cs typeface="Times New Roman"/>
              </a:rPr>
              <a:t>+ </a:t>
            </a:r>
            <a:r>
              <a:rPr sz="10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7560" y="2016378"/>
            <a:ext cx="4851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0891B1"/>
                </a:solidFill>
                <a:latin typeface="Times New Roman"/>
                <a:cs typeface="Times New Roman"/>
              </a:rPr>
              <a:t>User </a:t>
            </a:r>
            <a:r>
              <a:rPr sz="10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Browser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49843" y="4458411"/>
            <a:ext cx="5264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MySQL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Database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55297"/>
            <a:ext cx="4243705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>
                <a:solidFill>
                  <a:srgbClr val="000000"/>
                </a:solidFill>
              </a:rPr>
              <a:t>System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Architecture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Diagram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End-to-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End</a:t>
            </a:r>
            <a:r>
              <a:rPr sz="1300" b="0" i="1" spc="-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System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Communication</a:t>
            </a:r>
            <a:r>
              <a:rPr sz="1300" b="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160" y="1489328"/>
            <a:ext cx="1554480" cy="777240"/>
          </a:xfrm>
          <a:prstGeom prst="rect">
            <a:avLst/>
          </a:prstGeom>
          <a:solidFill>
            <a:srgbClr val="0891B1"/>
          </a:solidFill>
          <a:ln w="12700">
            <a:solidFill>
              <a:srgbClr val="05B6D3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502920" marR="495934" indent="74295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Client Browser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85289" y="1812163"/>
            <a:ext cx="835660" cy="58419"/>
            <a:chOff x="1685289" y="1812163"/>
            <a:chExt cx="835660" cy="58419"/>
          </a:xfrm>
        </p:grpSpPr>
        <p:sp>
          <p:nvSpPr>
            <p:cNvPr id="9" name="object 9"/>
            <p:cNvSpPr/>
            <p:nvPr/>
          </p:nvSpPr>
          <p:spPr>
            <a:xfrm>
              <a:off x="1691639" y="1818513"/>
              <a:ext cx="822960" cy="45720"/>
            </a:xfrm>
            <a:custGeom>
              <a:avLst/>
              <a:gdLst/>
              <a:ahLst/>
              <a:cxnLst/>
              <a:rect l="l" t="t" r="r" b="b"/>
              <a:pathLst>
                <a:path w="822960" h="45719">
                  <a:moveTo>
                    <a:pt x="8229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822960" y="45720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91639" y="1818513"/>
              <a:ext cx="822960" cy="45720"/>
            </a:xfrm>
            <a:custGeom>
              <a:avLst/>
              <a:gdLst/>
              <a:ahLst/>
              <a:cxnLst/>
              <a:rect l="l" t="t" r="r" b="b"/>
              <a:pathLst>
                <a:path w="822960" h="45719">
                  <a:moveTo>
                    <a:pt x="0" y="45720"/>
                  </a:moveTo>
                  <a:lnTo>
                    <a:pt x="822960" y="457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48052" y="1650872"/>
            <a:ext cx="3086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93A2B8"/>
                </a:solidFill>
                <a:latin typeface="Times New Roman"/>
                <a:cs typeface="Times New Roman"/>
              </a:rPr>
              <a:t>HTTP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05075" y="1251203"/>
            <a:ext cx="1939289" cy="1344930"/>
            <a:chOff x="2505075" y="1251203"/>
            <a:chExt cx="1939289" cy="1344930"/>
          </a:xfrm>
        </p:grpSpPr>
        <p:sp>
          <p:nvSpPr>
            <p:cNvPr id="13" name="object 13"/>
            <p:cNvSpPr/>
            <p:nvPr/>
          </p:nvSpPr>
          <p:spPr>
            <a:xfrm>
              <a:off x="2514600" y="1260728"/>
              <a:ext cx="1920239" cy="1325880"/>
            </a:xfrm>
            <a:custGeom>
              <a:avLst/>
              <a:gdLst/>
              <a:ahLst/>
              <a:cxnLst/>
              <a:rect l="l" t="t" r="r" b="b"/>
              <a:pathLst>
                <a:path w="1920239" h="1325880">
                  <a:moveTo>
                    <a:pt x="1920239" y="0"/>
                  </a:moveTo>
                  <a:lnTo>
                    <a:pt x="0" y="0"/>
                  </a:lnTo>
                  <a:lnTo>
                    <a:pt x="0" y="1325880"/>
                  </a:lnTo>
                  <a:lnTo>
                    <a:pt x="1920239" y="132588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14600" y="1260728"/>
              <a:ext cx="1920239" cy="1325880"/>
            </a:xfrm>
            <a:custGeom>
              <a:avLst/>
              <a:gdLst/>
              <a:ahLst/>
              <a:cxnLst/>
              <a:rect l="l" t="t" r="r" b="b"/>
              <a:pathLst>
                <a:path w="1920239" h="1325880">
                  <a:moveTo>
                    <a:pt x="0" y="1325880"/>
                  </a:moveTo>
                  <a:lnTo>
                    <a:pt x="1920239" y="132588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1325880"/>
                  </a:lnTo>
                  <a:close/>
                </a:path>
              </a:pathLst>
            </a:custGeom>
            <a:ln w="1905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08173" y="1373505"/>
            <a:ext cx="11322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6764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5B6D3"/>
                </a:solidFill>
                <a:latin typeface="Times New Roman"/>
                <a:cs typeface="Times New Roman"/>
              </a:rPr>
              <a:t>Spring</a:t>
            </a:r>
            <a:r>
              <a:rPr sz="1100" b="1" spc="-25" dirty="0">
                <a:solidFill>
                  <a:srgbClr val="05B6D3"/>
                </a:solidFill>
                <a:latin typeface="Times New Roman"/>
                <a:cs typeface="Times New Roman"/>
              </a:rPr>
              <a:t> MVC </a:t>
            </a:r>
            <a:r>
              <a:rPr sz="1100" b="1" dirty="0">
                <a:solidFill>
                  <a:srgbClr val="05B6D3"/>
                </a:solidFill>
                <a:latin typeface="Times New Roman"/>
                <a:cs typeface="Times New Roman"/>
              </a:rPr>
              <a:t>Dispatcher</a:t>
            </a:r>
            <a:r>
              <a:rPr sz="1100" b="1" spc="-5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05B6D3"/>
                </a:solidFill>
                <a:latin typeface="Times New Roman"/>
                <a:cs typeface="Times New Roman"/>
              </a:rPr>
              <a:t>Servlet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1760" y="1827657"/>
            <a:ext cx="1645920" cy="256540"/>
          </a:xfrm>
          <a:prstGeom prst="rect">
            <a:avLst/>
          </a:prstGeom>
          <a:solidFill>
            <a:srgbClr val="0891B1">
              <a:alpha val="79998"/>
            </a:srgbClr>
          </a:solidFill>
          <a:ln w="12700">
            <a:solidFill>
              <a:srgbClr val="0891B1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370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1760" y="2138552"/>
            <a:ext cx="1645920" cy="256540"/>
          </a:xfrm>
          <a:prstGeom prst="rect">
            <a:avLst/>
          </a:prstGeom>
          <a:solidFill>
            <a:srgbClr val="0891B1">
              <a:alpha val="59999"/>
            </a:srgbClr>
          </a:solidFill>
          <a:ln w="12700">
            <a:solidFill>
              <a:srgbClr val="0891B1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370"/>
              </a:spcBef>
            </a:pP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r>
              <a:rPr sz="1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28490" y="1257172"/>
            <a:ext cx="2553335" cy="1457960"/>
            <a:chOff x="4428490" y="1257172"/>
            <a:chExt cx="2553335" cy="1457960"/>
          </a:xfrm>
        </p:grpSpPr>
        <p:sp>
          <p:nvSpPr>
            <p:cNvPr id="19" name="object 19"/>
            <p:cNvSpPr/>
            <p:nvPr/>
          </p:nvSpPr>
          <p:spPr>
            <a:xfrm>
              <a:off x="4434840" y="1818512"/>
              <a:ext cx="617220" cy="45720"/>
            </a:xfrm>
            <a:custGeom>
              <a:avLst/>
              <a:gdLst/>
              <a:ahLst/>
              <a:cxnLst/>
              <a:rect l="l" t="t" r="r" b="b"/>
              <a:pathLst>
                <a:path w="617220" h="45719">
                  <a:moveTo>
                    <a:pt x="0" y="45720"/>
                  </a:moveTo>
                  <a:lnTo>
                    <a:pt x="617220" y="45720"/>
                  </a:lnTo>
                  <a:lnTo>
                    <a:pt x="61722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34840" y="1818512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79" h="45719">
                  <a:moveTo>
                    <a:pt x="0" y="45720"/>
                  </a:moveTo>
                  <a:lnTo>
                    <a:pt x="640079" y="45720"/>
                  </a:lnTo>
                  <a:lnTo>
                    <a:pt x="640079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52060" y="1266697"/>
              <a:ext cx="1920239" cy="1438910"/>
            </a:xfrm>
            <a:custGeom>
              <a:avLst/>
              <a:gdLst/>
              <a:ahLst/>
              <a:cxnLst/>
              <a:rect l="l" t="t" r="r" b="b"/>
              <a:pathLst>
                <a:path w="1920240" h="1438910">
                  <a:moveTo>
                    <a:pt x="1920239" y="0"/>
                  </a:moveTo>
                  <a:lnTo>
                    <a:pt x="0" y="0"/>
                  </a:lnTo>
                  <a:lnTo>
                    <a:pt x="0" y="1438783"/>
                  </a:lnTo>
                  <a:lnTo>
                    <a:pt x="1920239" y="1438783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52060" y="1266697"/>
              <a:ext cx="1920239" cy="1438910"/>
            </a:xfrm>
            <a:custGeom>
              <a:avLst/>
              <a:gdLst/>
              <a:ahLst/>
              <a:cxnLst/>
              <a:rect l="l" t="t" r="r" b="b"/>
              <a:pathLst>
                <a:path w="1920240" h="1438910">
                  <a:moveTo>
                    <a:pt x="0" y="1438783"/>
                  </a:moveTo>
                  <a:lnTo>
                    <a:pt x="1920239" y="1438783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1438783"/>
                  </a:lnTo>
                  <a:close/>
                </a:path>
              </a:pathLst>
            </a:custGeom>
            <a:ln w="1905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40502" y="1373505"/>
            <a:ext cx="98996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8A5CF6"/>
                </a:solidFill>
                <a:latin typeface="Times New Roman"/>
                <a:cs typeface="Times New Roman"/>
              </a:rPr>
              <a:t>Service</a:t>
            </a:r>
            <a:r>
              <a:rPr sz="1100" b="1" spc="-4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100" b="1" spc="-20" dirty="0">
                <a:solidFill>
                  <a:srgbClr val="8A5CF6"/>
                </a:solidFill>
                <a:latin typeface="Times New Roman"/>
                <a:cs typeface="Times New Roman"/>
              </a:rPr>
              <a:t>Layer </a:t>
            </a:r>
            <a:r>
              <a:rPr sz="11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@Transactional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205729" y="1784730"/>
          <a:ext cx="1645920" cy="848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10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InventoryService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8A5CF6"/>
                      </a:solidFill>
                      <a:prstDash val="solid"/>
                    </a:lnL>
                    <a:lnR w="12700">
                      <a:solidFill>
                        <a:srgbClr val="8A5CF6"/>
                      </a:solidFill>
                      <a:prstDash val="solid"/>
                    </a:lnR>
                    <a:lnT w="12700">
                      <a:solidFill>
                        <a:srgbClr val="8A5CF6"/>
                      </a:solidFill>
                      <a:prstDash val="solid"/>
                    </a:lnT>
                    <a:lnB w="12700">
                      <a:solidFill>
                        <a:srgbClr val="8A5CF6"/>
                      </a:solidFill>
                      <a:prstDash val="solid"/>
                    </a:lnB>
                    <a:solidFill>
                      <a:srgbClr val="8A5CF6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OrderService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8A5CF6"/>
                      </a:solidFill>
                      <a:prstDash val="solid"/>
                    </a:lnL>
                    <a:lnR w="12700">
                      <a:solidFill>
                        <a:srgbClr val="8A5CF6"/>
                      </a:solidFill>
                      <a:prstDash val="solid"/>
                    </a:lnR>
                    <a:lnT w="12700">
                      <a:solidFill>
                        <a:srgbClr val="8A5CF6"/>
                      </a:solidFill>
                      <a:prstDash val="solid"/>
                    </a:lnT>
                    <a:lnB w="12700">
                      <a:solidFill>
                        <a:srgbClr val="8A5CF6"/>
                      </a:solidFill>
                      <a:prstDash val="solid"/>
                    </a:lnB>
                    <a:solidFill>
                      <a:srgbClr val="8A5CF6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SimulationSvc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8A5CF6"/>
                      </a:solidFill>
                      <a:prstDash val="solid"/>
                    </a:lnL>
                    <a:lnR w="12700">
                      <a:solidFill>
                        <a:srgbClr val="8A5CF6"/>
                      </a:solidFill>
                      <a:prstDash val="solid"/>
                    </a:lnR>
                    <a:lnT w="12700">
                      <a:solidFill>
                        <a:srgbClr val="8A5CF6"/>
                      </a:solidFill>
                      <a:prstDash val="solid"/>
                    </a:lnT>
                    <a:lnB w="12700">
                      <a:solidFill>
                        <a:srgbClr val="8A5CF6"/>
                      </a:solidFill>
                      <a:prstDash val="solid"/>
                    </a:lnB>
                    <a:solidFill>
                      <a:srgbClr val="8A5CF6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ReportService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8A5CF6"/>
                      </a:solidFill>
                      <a:prstDash val="solid"/>
                    </a:lnL>
                    <a:lnR w="12700">
                      <a:solidFill>
                        <a:srgbClr val="8A5CF6"/>
                      </a:solidFill>
                      <a:prstDash val="solid"/>
                    </a:lnR>
                    <a:lnT w="12700">
                      <a:solidFill>
                        <a:srgbClr val="8A5CF6"/>
                      </a:solidFill>
                      <a:prstDash val="solid"/>
                    </a:lnT>
                    <a:lnB w="12700">
                      <a:solidFill>
                        <a:srgbClr val="8A5CF6"/>
                      </a:solidFill>
                      <a:prstDash val="solid"/>
                    </a:lnB>
                    <a:solidFill>
                      <a:srgbClr val="8A5CF6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6988809" y="1812163"/>
            <a:ext cx="652780" cy="58419"/>
            <a:chOff x="6988809" y="1812163"/>
            <a:chExt cx="652780" cy="58419"/>
          </a:xfrm>
        </p:grpSpPr>
        <p:sp>
          <p:nvSpPr>
            <p:cNvPr id="26" name="object 26"/>
            <p:cNvSpPr/>
            <p:nvPr/>
          </p:nvSpPr>
          <p:spPr>
            <a:xfrm>
              <a:off x="6995159" y="1818513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79" h="45719">
                  <a:moveTo>
                    <a:pt x="640079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40079" y="45720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95159" y="1818513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79" h="45719">
                  <a:moveTo>
                    <a:pt x="0" y="45720"/>
                  </a:moveTo>
                  <a:lnTo>
                    <a:pt x="640079" y="45720"/>
                  </a:lnTo>
                  <a:lnTo>
                    <a:pt x="640079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635240" y="1260728"/>
            <a:ext cx="1371600" cy="640080"/>
          </a:xfrm>
          <a:prstGeom prst="rect">
            <a:avLst/>
          </a:prstGeom>
          <a:solidFill>
            <a:srgbClr val="1B2A3D"/>
          </a:solidFill>
          <a:ln w="19050">
            <a:solidFill>
              <a:srgbClr val="0FB881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70"/>
              </a:spcBef>
            </a:pPr>
            <a:r>
              <a:rPr sz="11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JPA</a:t>
            </a:r>
            <a:endParaRPr sz="11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1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Repository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674609" y="2222500"/>
            <a:ext cx="1292860" cy="772160"/>
            <a:chOff x="7674609" y="2222500"/>
            <a:chExt cx="1292860" cy="772160"/>
          </a:xfrm>
        </p:grpSpPr>
        <p:sp>
          <p:nvSpPr>
            <p:cNvPr id="30" name="object 30"/>
            <p:cNvSpPr/>
            <p:nvPr/>
          </p:nvSpPr>
          <p:spPr>
            <a:xfrm>
              <a:off x="7680959" y="2228850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640080" y="0"/>
                  </a:moveTo>
                  <a:lnTo>
                    <a:pt x="565421" y="860"/>
                  </a:lnTo>
                  <a:lnTo>
                    <a:pt x="493296" y="3379"/>
                  </a:lnTo>
                  <a:lnTo>
                    <a:pt x="424182" y="7459"/>
                  </a:lnTo>
                  <a:lnTo>
                    <a:pt x="358562" y="13005"/>
                  </a:lnTo>
                  <a:lnTo>
                    <a:pt x="296913" y="19921"/>
                  </a:lnTo>
                  <a:lnTo>
                    <a:pt x="239716" y="28111"/>
                  </a:lnTo>
                  <a:lnTo>
                    <a:pt x="187451" y="37480"/>
                  </a:lnTo>
                  <a:lnTo>
                    <a:pt x="140598" y="47932"/>
                  </a:lnTo>
                  <a:lnTo>
                    <a:pt x="99637" y="59371"/>
                  </a:lnTo>
                  <a:lnTo>
                    <a:pt x="37309" y="84826"/>
                  </a:lnTo>
                  <a:lnTo>
                    <a:pt x="4305" y="113079"/>
                  </a:lnTo>
                  <a:lnTo>
                    <a:pt x="0" y="128016"/>
                  </a:lnTo>
                  <a:lnTo>
                    <a:pt x="4305" y="142952"/>
                  </a:lnTo>
                  <a:lnTo>
                    <a:pt x="37309" y="171205"/>
                  </a:lnTo>
                  <a:lnTo>
                    <a:pt x="99637" y="196660"/>
                  </a:lnTo>
                  <a:lnTo>
                    <a:pt x="140598" y="208099"/>
                  </a:lnTo>
                  <a:lnTo>
                    <a:pt x="187451" y="218551"/>
                  </a:lnTo>
                  <a:lnTo>
                    <a:pt x="239716" y="227920"/>
                  </a:lnTo>
                  <a:lnTo>
                    <a:pt x="296913" y="236110"/>
                  </a:lnTo>
                  <a:lnTo>
                    <a:pt x="358562" y="243026"/>
                  </a:lnTo>
                  <a:lnTo>
                    <a:pt x="424182" y="248572"/>
                  </a:lnTo>
                  <a:lnTo>
                    <a:pt x="493296" y="252652"/>
                  </a:lnTo>
                  <a:lnTo>
                    <a:pt x="565421" y="255171"/>
                  </a:lnTo>
                  <a:lnTo>
                    <a:pt x="640080" y="256031"/>
                  </a:lnTo>
                  <a:lnTo>
                    <a:pt x="714738" y="255171"/>
                  </a:lnTo>
                  <a:lnTo>
                    <a:pt x="786863" y="252652"/>
                  </a:lnTo>
                  <a:lnTo>
                    <a:pt x="855977" y="248572"/>
                  </a:lnTo>
                  <a:lnTo>
                    <a:pt x="921597" y="243026"/>
                  </a:lnTo>
                  <a:lnTo>
                    <a:pt x="983246" y="236110"/>
                  </a:lnTo>
                  <a:lnTo>
                    <a:pt x="1040443" y="227920"/>
                  </a:lnTo>
                  <a:lnTo>
                    <a:pt x="1092708" y="218551"/>
                  </a:lnTo>
                  <a:lnTo>
                    <a:pt x="1139561" y="208099"/>
                  </a:lnTo>
                  <a:lnTo>
                    <a:pt x="1180522" y="196660"/>
                  </a:lnTo>
                  <a:lnTo>
                    <a:pt x="1242850" y="171205"/>
                  </a:lnTo>
                  <a:lnTo>
                    <a:pt x="1275854" y="142952"/>
                  </a:lnTo>
                  <a:lnTo>
                    <a:pt x="1280160" y="128016"/>
                  </a:lnTo>
                  <a:lnTo>
                    <a:pt x="1275854" y="113079"/>
                  </a:lnTo>
                  <a:lnTo>
                    <a:pt x="1242850" y="84826"/>
                  </a:lnTo>
                  <a:lnTo>
                    <a:pt x="1180522" y="59371"/>
                  </a:lnTo>
                  <a:lnTo>
                    <a:pt x="1139561" y="47932"/>
                  </a:lnTo>
                  <a:lnTo>
                    <a:pt x="1092708" y="37480"/>
                  </a:lnTo>
                  <a:lnTo>
                    <a:pt x="1040443" y="28111"/>
                  </a:lnTo>
                  <a:lnTo>
                    <a:pt x="983246" y="19921"/>
                  </a:lnTo>
                  <a:lnTo>
                    <a:pt x="921597" y="13005"/>
                  </a:lnTo>
                  <a:lnTo>
                    <a:pt x="855977" y="7459"/>
                  </a:lnTo>
                  <a:lnTo>
                    <a:pt x="786863" y="3379"/>
                  </a:lnTo>
                  <a:lnTo>
                    <a:pt x="714738" y="860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80959" y="2228850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0" y="128016"/>
                  </a:moveTo>
                  <a:lnTo>
                    <a:pt x="37309" y="84826"/>
                  </a:lnTo>
                  <a:lnTo>
                    <a:pt x="99637" y="59371"/>
                  </a:lnTo>
                  <a:lnTo>
                    <a:pt x="140598" y="47932"/>
                  </a:lnTo>
                  <a:lnTo>
                    <a:pt x="187451" y="37480"/>
                  </a:lnTo>
                  <a:lnTo>
                    <a:pt x="239716" y="28111"/>
                  </a:lnTo>
                  <a:lnTo>
                    <a:pt x="296913" y="19921"/>
                  </a:lnTo>
                  <a:lnTo>
                    <a:pt x="358562" y="13005"/>
                  </a:lnTo>
                  <a:lnTo>
                    <a:pt x="424182" y="7459"/>
                  </a:lnTo>
                  <a:lnTo>
                    <a:pt x="493296" y="3379"/>
                  </a:lnTo>
                  <a:lnTo>
                    <a:pt x="565421" y="860"/>
                  </a:lnTo>
                  <a:lnTo>
                    <a:pt x="640080" y="0"/>
                  </a:lnTo>
                  <a:lnTo>
                    <a:pt x="714738" y="860"/>
                  </a:lnTo>
                  <a:lnTo>
                    <a:pt x="786863" y="3379"/>
                  </a:lnTo>
                  <a:lnTo>
                    <a:pt x="855977" y="7459"/>
                  </a:lnTo>
                  <a:lnTo>
                    <a:pt x="921597" y="13005"/>
                  </a:lnTo>
                  <a:lnTo>
                    <a:pt x="983246" y="19921"/>
                  </a:lnTo>
                  <a:lnTo>
                    <a:pt x="1040443" y="28111"/>
                  </a:lnTo>
                  <a:lnTo>
                    <a:pt x="1092708" y="37480"/>
                  </a:lnTo>
                  <a:lnTo>
                    <a:pt x="1139561" y="47932"/>
                  </a:lnTo>
                  <a:lnTo>
                    <a:pt x="1180522" y="59371"/>
                  </a:lnTo>
                  <a:lnTo>
                    <a:pt x="1242850" y="84826"/>
                  </a:lnTo>
                  <a:lnTo>
                    <a:pt x="1275854" y="113079"/>
                  </a:lnTo>
                  <a:lnTo>
                    <a:pt x="1280160" y="128016"/>
                  </a:lnTo>
                  <a:lnTo>
                    <a:pt x="1275854" y="142952"/>
                  </a:lnTo>
                  <a:lnTo>
                    <a:pt x="1242850" y="171205"/>
                  </a:lnTo>
                  <a:lnTo>
                    <a:pt x="1180522" y="196660"/>
                  </a:lnTo>
                  <a:lnTo>
                    <a:pt x="1139561" y="208099"/>
                  </a:lnTo>
                  <a:lnTo>
                    <a:pt x="1092708" y="218551"/>
                  </a:lnTo>
                  <a:lnTo>
                    <a:pt x="1040443" y="227920"/>
                  </a:lnTo>
                  <a:lnTo>
                    <a:pt x="983246" y="236110"/>
                  </a:lnTo>
                  <a:lnTo>
                    <a:pt x="921597" y="243026"/>
                  </a:lnTo>
                  <a:lnTo>
                    <a:pt x="855977" y="248572"/>
                  </a:lnTo>
                  <a:lnTo>
                    <a:pt x="786863" y="252652"/>
                  </a:lnTo>
                  <a:lnTo>
                    <a:pt x="714738" y="255171"/>
                  </a:lnTo>
                  <a:lnTo>
                    <a:pt x="640080" y="256031"/>
                  </a:lnTo>
                  <a:lnTo>
                    <a:pt x="565421" y="255171"/>
                  </a:lnTo>
                  <a:lnTo>
                    <a:pt x="493296" y="252652"/>
                  </a:lnTo>
                  <a:lnTo>
                    <a:pt x="424182" y="248572"/>
                  </a:lnTo>
                  <a:lnTo>
                    <a:pt x="358562" y="243026"/>
                  </a:lnTo>
                  <a:lnTo>
                    <a:pt x="296913" y="236110"/>
                  </a:lnTo>
                  <a:lnTo>
                    <a:pt x="239716" y="227920"/>
                  </a:lnTo>
                  <a:lnTo>
                    <a:pt x="187451" y="218551"/>
                  </a:lnTo>
                  <a:lnTo>
                    <a:pt x="140598" y="208099"/>
                  </a:lnTo>
                  <a:lnTo>
                    <a:pt x="99637" y="196660"/>
                  </a:lnTo>
                  <a:lnTo>
                    <a:pt x="37309" y="171205"/>
                  </a:lnTo>
                  <a:lnTo>
                    <a:pt x="4305" y="142952"/>
                  </a:lnTo>
                  <a:lnTo>
                    <a:pt x="0" y="128016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80959" y="2356865"/>
              <a:ext cx="1280160" cy="502920"/>
            </a:xfrm>
            <a:custGeom>
              <a:avLst/>
              <a:gdLst/>
              <a:ahLst/>
              <a:cxnLst/>
              <a:rect l="l" t="t" r="r" b="b"/>
              <a:pathLst>
                <a:path w="1280159" h="502919">
                  <a:moveTo>
                    <a:pt x="1280159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1280159" y="502919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F59E0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80959" y="2356865"/>
              <a:ext cx="1280160" cy="502920"/>
            </a:xfrm>
            <a:custGeom>
              <a:avLst/>
              <a:gdLst/>
              <a:ahLst/>
              <a:cxnLst/>
              <a:rect l="l" t="t" r="r" b="b"/>
              <a:pathLst>
                <a:path w="1280159" h="502919">
                  <a:moveTo>
                    <a:pt x="0" y="502919"/>
                  </a:moveTo>
                  <a:lnTo>
                    <a:pt x="1280159" y="502919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02919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80959" y="2731769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640080" y="0"/>
                  </a:moveTo>
                  <a:lnTo>
                    <a:pt x="565421" y="860"/>
                  </a:lnTo>
                  <a:lnTo>
                    <a:pt x="493296" y="3379"/>
                  </a:lnTo>
                  <a:lnTo>
                    <a:pt x="424182" y="7459"/>
                  </a:lnTo>
                  <a:lnTo>
                    <a:pt x="358562" y="13005"/>
                  </a:lnTo>
                  <a:lnTo>
                    <a:pt x="296913" y="19921"/>
                  </a:lnTo>
                  <a:lnTo>
                    <a:pt x="239716" y="28111"/>
                  </a:lnTo>
                  <a:lnTo>
                    <a:pt x="187451" y="37480"/>
                  </a:lnTo>
                  <a:lnTo>
                    <a:pt x="140598" y="47932"/>
                  </a:lnTo>
                  <a:lnTo>
                    <a:pt x="99637" y="59371"/>
                  </a:lnTo>
                  <a:lnTo>
                    <a:pt x="37309" y="84826"/>
                  </a:lnTo>
                  <a:lnTo>
                    <a:pt x="4305" y="113079"/>
                  </a:lnTo>
                  <a:lnTo>
                    <a:pt x="0" y="128016"/>
                  </a:lnTo>
                  <a:lnTo>
                    <a:pt x="4305" y="142952"/>
                  </a:lnTo>
                  <a:lnTo>
                    <a:pt x="37309" y="171205"/>
                  </a:lnTo>
                  <a:lnTo>
                    <a:pt x="99637" y="196660"/>
                  </a:lnTo>
                  <a:lnTo>
                    <a:pt x="140598" y="208099"/>
                  </a:lnTo>
                  <a:lnTo>
                    <a:pt x="187451" y="218551"/>
                  </a:lnTo>
                  <a:lnTo>
                    <a:pt x="239716" y="227920"/>
                  </a:lnTo>
                  <a:lnTo>
                    <a:pt x="296913" y="236110"/>
                  </a:lnTo>
                  <a:lnTo>
                    <a:pt x="358562" y="243026"/>
                  </a:lnTo>
                  <a:lnTo>
                    <a:pt x="424182" y="248572"/>
                  </a:lnTo>
                  <a:lnTo>
                    <a:pt x="493296" y="252652"/>
                  </a:lnTo>
                  <a:lnTo>
                    <a:pt x="565421" y="255171"/>
                  </a:lnTo>
                  <a:lnTo>
                    <a:pt x="640080" y="256031"/>
                  </a:lnTo>
                  <a:lnTo>
                    <a:pt x="714738" y="255171"/>
                  </a:lnTo>
                  <a:lnTo>
                    <a:pt x="786863" y="252652"/>
                  </a:lnTo>
                  <a:lnTo>
                    <a:pt x="855977" y="248572"/>
                  </a:lnTo>
                  <a:lnTo>
                    <a:pt x="921597" y="243026"/>
                  </a:lnTo>
                  <a:lnTo>
                    <a:pt x="983246" y="236110"/>
                  </a:lnTo>
                  <a:lnTo>
                    <a:pt x="1040443" y="227920"/>
                  </a:lnTo>
                  <a:lnTo>
                    <a:pt x="1092708" y="218551"/>
                  </a:lnTo>
                  <a:lnTo>
                    <a:pt x="1139561" y="208099"/>
                  </a:lnTo>
                  <a:lnTo>
                    <a:pt x="1180522" y="196660"/>
                  </a:lnTo>
                  <a:lnTo>
                    <a:pt x="1242850" y="171205"/>
                  </a:lnTo>
                  <a:lnTo>
                    <a:pt x="1275854" y="142952"/>
                  </a:lnTo>
                  <a:lnTo>
                    <a:pt x="1280160" y="128016"/>
                  </a:lnTo>
                  <a:lnTo>
                    <a:pt x="1275854" y="113079"/>
                  </a:lnTo>
                  <a:lnTo>
                    <a:pt x="1242850" y="84826"/>
                  </a:lnTo>
                  <a:lnTo>
                    <a:pt x="1180522" y="59371"/>
                  </a:lnTo>
                  <a:lnTo>
                    <a:pt x="1139561" y="47932"/>
                  </a:lnTo>
                  <a:lnTo>
                    <a:pt x="1092708" y="37480"/>
                  </a:lnTo>
                  <a:lnTo>
                    <a:pt x="1040443" y="28111"/>
                  </a:lnTo>
                  <a:lnTo>
                    <a:pt x="983246" y="19921"/>
                  </a:lnTo>
                  <a:lnTo>
                    <a:pt x="921597" y="13005"/>
                  </a:lnTo>
                  <a:lnTo>
                    <a:pt x="855977" y="7459"/>
                  </a:lnTo>
                  <a:lnTo>
                    <a:pt x="786863" y="3379"/>
                  </a:lnTo>
                  <a:lnTo>
                    <a:pt x="714738" y="860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F59E0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80959" y="2731769"/>
              <a:ext cx="1280160" cy="256540"/>
            </a:xfrm>
            <a:custGeom>
              <a:avLst/>
              <a:gdLst/>
              <a:ahLst/>
              <a:cxnLst/>
              <a:rect l="l" t="t" r="r" b="b"/>
              <a:pathLst>
                <a:path w="1280159" h="256539">
                  <a:moveTo>
                    <a:pt x="0" y="128016"/>
                  </a:moveTo>
                  <a:lnTo>
                    <a:pt x="37309" y="84826"/>
                  </a:lnTo>
                  <a:lnTo>
                    <a:pt x="99637" y="59371"/>
                  </a:lnTo>
                  <a:lnTo>
                    <a:pt x="140598" y="47932"/>
                  </a:lnTo>
                  <a:lnTo>
                    <a:pt x="187451" y="37480"/>
                  </a:lnTo>
                  <a:lnTo>
                    <a:pt x="239716" y="28111"/>
                  </a:lnTo>
                  <a:lnTo>
                    <a:pt x="296913" y="19921"/>
                  </a:lnTo>
                  <a:lnTo>
                    <a:pt x="358562" y="13005"/>
                  </a:lnTo>
                  <a:lnTo>
                    <a:pt x="424182" y="7459"/>
                  </a:lnTo>
                  <a:lnTo>
                    <a:pt x="493296" y="3379"/>
                  </a:lnTo>
                  <a:lnTo>
                    <a:pt x="565421" y="860"/>
                  </a:lnTo>
                  <a:lnTo>
                    <a:pt x="640080" y="0"/>
                  </a:lnTo>
                  <a:lnTo>
                    <a:pt x="714738" y="860"/>
                  </a:lnTo>
                  <a:lnTo>
                    <a:pt x="786863" y="3379"/>
                  </a:lnTo>
                  <a:lnTo>
                    <a:pt x="855977" y="7459"/>
                  </a:lnTo>
                  <a:lnTo>
                    <a:pt x="921597" y="13005"/>
                  </a:lnTo>
                  <a:lnTo>
                    <a:pt x="983246" y="19921"/>
                  </a:lnTo>
                  <a:lnTo>
                    <a:pt x="1040443" y="28111"/>
                  </a:lnTo>
                  <a:lnTo>
                    <a:pt x="1092708" y="37480"/>
                  </a:lnTo>
                  <a:lnTo>
                    <a:pt x="1139561" y="47932"/>
                  </a:lnTo>
                  <a:lnTo>
                    <a:pt x="1180522" y="59371"/>
                  </a:lnTo>
                  <a:lnTo>
                    <a:pt x="1242850" y="84826"/>
                  </a:lnTo>
                  <a:lnTo>
                    <a:pt x="1275854" y="113079"/>
                  </a:lnTo>
                  <a:lnTo>
                    <a:pt x="1280160" y="128016"/>
                  </a:lnTo>
                  <a:lnTo>
                    <a:pt x="1275854" y="142952"/>
                  </a:lnTo>
                  <a:lnTo>
                    <a:pt x="1242850" y="171205"/>
                  </a:lnTo>
                  <a:lnTo>
                    <a:pt x="1180522" y="196660"/>
                  </a:lnTo>
                  <a:lnTo>
                    <a:pt x="1139561" y="208099"/>
                  </a:lnTo>
                  <a:lnTo>
                    <a:pt x="1092708" y="218551"/>
                  </a:lnTo>
                  <a:lnTo>
                    <a:pt x="1040443" y="227920"/>
                  </a:lnTo>
                  <a:lnTo>
                    <a:pt x="983246" y="236110"/>
                  </a:lnTo>
                  <a:lnTo>
                    <a:pt x="921597" y="243026"/>
                  </a:lnTo>
                  <a:lnTo>
                    <a:pt x="855977" y="248572"/>
                  </a:lnTo>
                  <a:lnTo>
                    <a:pt x="786863" y="252652"/>
                  </a:lnTo>
                  <a:lnTo>
                    <a:pt x="714738" y="255171"/>
                  </a:lnTo>
                  <a:lnTo>
                    <a:pt x="640080" y="256031"/>
                  </a:lnTo>
                  <a:lnTo>
                    <a:pt x="565421" y="255171"/>
                  </a:lnTo>
                  <a:lnTo>
                    <a:pt x="493296" y="252652"/>
                  </a:lnTo>
                  <a:lnTo>
                    <a:pt x="424182" y="248572"/>
                  </a:lnTo>
                  <a:lnTo>
                    <a:pt x="358562" y="243026"/>
                  </a:lnTo>
                  <a:lnTo>
                    <a:pt x="296913" y="236110"/>
                  </a:lnTo>
                  <a:lnTo>
                    <a:pt x="239716" y="227920"/>
                  </a:lnTo>
                  <a:lnTo>
                    <a:pt x="187451" y="218551"/>
                  </a:lnTo>
                  <a:lnTo>
                    <a:pt x="140598" y="208099"/>
                  </a:lnTo>
                  <a:lnTo>
                    <a:pt x="99637" y="196660"/>
                  </a:lnTo>
                  <a:lnTo>
                    <a:pt x="37309" y="171205"/>
                  </a:lnTo>
                  <a:lnTo>
                    <a:pt x="4305" y="142952"/>
                  </a:lnTo>
                  <a:lnTo>
                    <a:pt x="0" y="128016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986776" y="2474467"/>
            <a:ext cx="669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r>
              <a:rPr sz="1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7743" y="3529584"/>
            <a:ext cx="1298575" cy="439420"/>
          </a:xfrm>
          <a:prstGeom prst="rect">
            <a:avLst/>
          </a:prstGeom>
          <a:solidFill>
            <a:srgbClr val="0891B1">
              <a:alpha val="79998"/>
            </a:srgbClr>
          </a:solidFill>
          <a:ln w="12700">
            <a:solidFill>
              <a:srgbClr val="0891B1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9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82495" y="3529584"/>
            <a:ext cx="1298575" cy="439420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Stock</a:t>
            </a:r>
            <a:r>
              <a:rPr sz="95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27248" y="3529584"/>
            <a:ext cx="1298575" cy="439420"/>
          </a:xfrm>
          <a:prstGeom prst="rect">
            <a:avLst/>
          </a:prstGeom>
          <a:solidFill>
            <a:srgbClr val="8A5CF6">
              <a:alpha val="79998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94310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Analytics</a:t>
            </a:r>
            <a:r>
              <a:rPr sz="9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72000" y="3529584"/>
            <a:ext cx="1298575" cy="439420"/>
          </a:xfrm>
          <a:prstGeom prst="rect">
            <a:avLst/>
          </a:prstGeom>
          <a:solidFill>
            <a:srgbClr val="F87316">
              <a:alpha val="79998"/>
            </a:srgbClr>
          </a:solidFill>
          <a:ln w="12700">
            <a:solidFill>
              <a:srgbClr val="F8731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312420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Logs</a:t>
            </a:r>
            <a:r>
              <a:rPr sz="9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16752" y="3529584"/>
            <a:ext cx="1298575" cy="439420"/>
          </a:xfrm>
          <a:prstGeom prst="rect">
            <a:avLst/>
          </a:prstGeom>
          <a:solidFill>
            <a:srgbClr val="EE4444">
              <a:alpha val="79998"/>
            </a:srgbClr>
          </a:solidFill>
          <a:ln w="12700">
            <a:solidFill>
              <a:srgbClr val="EE4444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Simulation</a:t>
            </a:r>
            <a:r>
              <a:rPr sz="9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61504" y="3529584"/>
            <a:ext cx="1298575" cy="439420"/>
          </a:xfrm>
          <a:prstGeom prst="rect">
            <a:avLst/>
          </a:prstGeom>
          <a:solidFill>
            <a:srgbClr val="F59E0A">
              <a:alpha val="79998"/>
            </a:srgbClr>
          </a:solidFill>
          <a:ln w="12700">
            <a:solidFill>
              <a:srgbClr val="F59E0A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Report</a:t>
            </a:r>
            <a:r>
              <a:rPr sz="9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81425" y="4042359"/>
            <a:ext cx="15074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93A2B8"/>
                </a:solidFill>
                <a:latin typeface="Times New Roman"/>
                <a:cs typeface="Times New Roman"/>
              </a:rPr>
              <a:t>Core</a:t>
            </a:r>
            <a:r>
              <a:rPr sz="1100" i="1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93A2B8"/>
                </a:solidFill>
                <a:latin typeface="Times New Roman"/>
                <a:cs typeface="Times New Roman"/>
              </a:rPr>
              <a:t>Application</a:t>
            </a:r>
            <a:r>
              <a:rPr sz="1100" i="1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93A2B8"/>
                </a:solidFill>
                <a:latin typeface="Times New Roman"/>
                <a:cs typeface="Times New Roman"/>
              </a:rPr>
              <a:t>Modules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Layered</a:t>
            </a:r>
            <a:r>
              <a:rPr spc="-15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3007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Separation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of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Concerns</a:t>
            </a:r>
            <a:r>
              <a:rPr sz="1300" i="1" spc="-5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Across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All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System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Layers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6700" y="952500"/>
            <a:ext cx="8610600" cy="820419"/>
            <a:chOff x="266700" y="952500"/>
            <a:chExt cx="8610600" cy="820419"/>
          </a:xfrm>
        </p:grpSpPr>
        <p:sp>
          <p:nvSpPr>
            <p:cNvPr id="5" name="object 5"/>
            <p:cNvSpPr/>
            <p:nvPr/>
          </p:nvSpPr>
          <p:spPr>
            <a:xfrm>
              <a:off x="2194560" y="960120"/>
              <a:ext cx="6675120" cy="805180"/>
            </a:xfrm>
            <a:custGeom>
              <a:avLst/>
              <a:gdLst/>
              <a:ahLst/>
              <a:cxnLst/>
              <a:rect l="l" t="t" r="r" b="b"/>
              <a:pathLst>
                <a:path w="6675120" h="805180">
                  <a:moveTo>
                    <a:pt x="0" y="804672"/>
                  </a:moveTo>
                  <a:lnTo>
                    <a:pt x="6675120" y="804672"/>
                  </a:lnTo>
                  <a:lnTo>
                    <a:pt x="667512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891B1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960120"/>
              <a:ext cx="8595360" cy="805180"/>
            </a:xfrm>
            <a:custGeom>
              <a:avLst/>
              <a:gdLst/>
              <a:ahLst/>
              <a:cxnLst/>
              <a:rect l="l" t="t" r="r" b="b"/>
              <a:pathLst>
                <a:path w="8595360" h="805180">
                  <a:moveTo>
                    <a:pt x="0" y="804672"/>
                  </a:moveTo>
                  <a:lnTo>
                    <a:pt x="8595360" y="8046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524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20"/>
              <a:ext cx="1920239" cy="805180"/>
            </a:xfrm>
            <a:custGeom>
              <a:avLst/>
              <a:gdLst/>
              <a:ahLst/>
              <a:cxnLst/>
              <a:rect l="l" t="t" r="r" b="b"/>
              <a:pathLst>
                <a:path w="1920239" h="805180">
                  <a:moveTo>
                    <a:pt x="0" y="804672"/>
                  </a:moveTo>
                  <a:lnTo>
                    <a:pt x="1920239" y="804672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960119"/>
            <a:ext cx="1920239" cy="805180"/>
          </a:xfrm>
          <a:prstGeom prst="rect">
            <a:avLst/>
          </a:prstGeom>
          <a:solidFill>
            <a:srgbClr val="0891B1"/>
          </a:solidFill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sz="12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950" i="1" dirty="0">
                <a:solidFill>
                  <a:srgbClr val="FFFFFF"/>
                </a:solidFill>
                <a:latin typeface="Times New Roman"/>
                <a:cs typeface="Times New Roman"/>
              </a:rPr>
              <a:t>Thymeleaf</a:t>
            </a:r>
            <a:r>
              <a:rPr sz="9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Templates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25370" y="1273810"/>
            <a:ext cx="4923155" cy="159385"/>
            <a:chOff x="2325370" y="1273810"/>
            <a:chExt cx="4923155" cy="15938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5370" y="1273810"/>
              <a:ext cx="122428" cy="1224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5570" y="1310386"/>
              <a:ext cx="122427" cy="1224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5770" y="1273810"/>
              <a:ext cx="122427" cy="1224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5970" y="1273810"/>
              <a:ext cx="122427" cy="12242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87422" y="1202181"/>
            <a:ext cx="9563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product.html,</a:t>
            </a:r>
            <a:r>
              <a:rPr sz="10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add-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product.html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88003" y="1278381"/>
            <a:ext cx="1341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Bootstrap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5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responsive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UI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88457" y="1202181"/>
            <a:ext cx="12852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Thymeleaf</a:t>
            </a:r>
            <a:r>
              <a:rPr sz="10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fragments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for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reuse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89038" y="1202181"/>
            <a:ext cx="11969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Model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attributes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bound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from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controllers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6700" y="1912620"/>
            <a:ext cx="8610600" cy="820419"/>
            <a:chOff x="266700" y="1912620"/>
            <a:chExt cx="8610600" cy="820419"/>
          </a:xfrm>
        </p:grpSpPr>
        <p:sp>
          <p:nvSpPr>
            <p:cNvPr id="19" name="object 19"/>
            <p:cNvSpPr/>
            <p:nvPr/>
          </p:nvSpPr>
          <p:spPr>
            <a:xfrm>
              <a:off x="2194560" y="1920240"/>
              <a:ext cx="6675120" cy="805180"/>
            </a:xfrm>
            <a:custGeom>
              <a:avLst/>
              <a:gdLst/>
              <a:ahLst/>
              <a:cxnLst/>
              <a:rect l="l" t="t" r="r" b="b"/>
              <a:pathLst>
                <a:path w="6675120" h="805180">
                  <a:moveTo>
                    <a:pt x="0" y="804672"/>
                  </a:moveTo>
                  <a:lnTo>
                    <a:pt x="6675120" y="804672"/>
                  </a:lnTo>
                  <a:lnTo>
                    <a:pt x="667512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8A5CF6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1920240"/>
              <a:ext cx="8595360" cy="805180"/>
            </a:xfrm>
            <a:custGeom>
              <a:avLst/>
              <a:gdLst/>
              <a:ahLst/>
              <a:cxnLst/>
              <a:rect l="l" t="t" r="r" b="b"/>
              <a:pathLst>
                <a:path w="8595360" h="805180">
                  <a:moveTo>
                    <a:pt x="0" y="804672"/>
                  </a:moveTo>
                  <a:lnTo>
                    <a:pt x="8595360" y="8046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524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1920240"/>
              <a:ext cx="1920239" cy="805180"/>
            </a:xfrm>
            <a:custGeom>
              <a:avLst/>
              <a:gdLst/>
              <a:ahLst/>
              <a:cxnLst/>
              <a:rect l="l" t="t" r="r" b="b"/>
              <a:pathLst>
                <a:path w="1920239" h="805180">
                  <a:moveTo>
                    <a:pt x="0" y="804672"/>
                  </a:moveTo>
                  <a:lnTo>
                    <a:pt x="1920239" y="804672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4320" y="1920239"/>
            <a:ext cx="1920239" cy="805180"/>
          </a:xfrm>
          <a:prstGeom prst="rect">
            <a:avLst/>
          </a:prstGeom>
          <a:solidFill>
            <a:srgbClr val="8A5CF6"/>
          </a:solidFill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Controller</a:t>
            </a:r>
            <a:r>
              <a:rPr sz="12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r>
              <a:rPr sz="950" i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9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@RestController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25370" y="2233929"/>
            <a:ext cx="4923155" cy="159385"/>
            <a:chOff x="2325370" y="2233929"/>
            <a:chExt cx="4923155" cy="15938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5370" y="2233929"/>
              <a:ext cx="122428" cy="1224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5570" y="2270505"/>
              <a:ext cx="122427" cy="1224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5770" y="2233929"/>
              <a:ext cx="122427" cy="1224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5970" y="2233929"/>
              <a:ext cx="122427" cy="12242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487422" y="2162682"/>
            <a:ext cx="10509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Handles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HTTP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GET/POST</a:t>
            </a:r>
            <a:r>
              <a:rPr sz="10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requests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88003" y="2238882"/>
            <a:ext cx="1125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Calls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service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methods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88457" y="2162682"/>
            <a:ext cx="12636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Adds</a:t>
            </a:r>
            <a:r>
              <a:rPr sz="10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model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attributes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to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view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89038" y="2162682"/>
            <a:ext cx="1005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Input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validation</a:t>
            </a:r>
            <a:r>
              <a:rPr sz="10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via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@Valid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266700" y="2872739"/>
          <a:ext cx="8595993" cy="803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Service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0FB881"/>
                      </a:solidFill>
                      <a:prstDash val="solid"/>
                    </a:lnL>
                    <a:lnR w="12700">
                      <a:solidFill>
                        <a:srgbClr val="0FB881"/>
                      </a:solidFill>
                      <a:prstDash val="solid"/>
                    </a:lnR>
                    <a:lnT w="19050">
                      <a:solidFill>
                        <a:srgbClr val="0FB881"/>
                      </a:solidFill>
                      <a:prstDash val="solid"/>
                    </a:lnT>
                    <a:solidFill>
                      <a:srgbClr val="0FB88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273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000" spc="-4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B881"/>
                      </a:solidFill>
                      <a:prstDash val="solid"/>
                    </a:lnL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2555" marR="20320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Orchestrates</a:t>
                      </a:r>
                      <a:r>
                        <a:rPr sz="1000" spc="114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multi-step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operations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0820" marR="26860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sz="1000" spc="-4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transaction boundaries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76225" marR="565150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sz="1000" spc="-2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000" spc="-3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risk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threshold</a:t>
                      </a:r>
                      <a:r>
                        <a:rPr sz="1000" spc="-3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000" spc="-3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here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R w="19050">
                      <a:solidFill>
                        <a:srgbClr val="0FB881"/>
                      </a:solidFill>
                      <a:prstDash val="solid"/>
                    </a:lnR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@Service</a:t>
                      </a: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@Transactional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FB881"/>
                      </a:solidFill>
                      <a:prstDash val="solid"/>
                    </a:lnL>
                    <a:lnR w="12700">
                      <a:solidFill>
                        <a:srgbClr val="0FB881"/>
                      </a:solidFill>
                      <a:prstDash val="solid"/>
                    </a:lnR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FB881"/>
                      </a:solidFill>
                      <a:prstDash val="solid"/>
                    </a:lnL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R w="19050">
                      <a:solidFill>
                        <a:srgbClr val="0FB881"/>
                      </a:solidFill>
                      <a:prstDash val="solid"/>
                    </a:lnR>
                    <a:lnT w="19050">
                      <a:solidFill>
                        <a:srgbClr val="0FB881"/>
                      </a:solidFill>
                      <a:prstDash val="solid"/>
                    </a:lnT>
                    <a:lnB w="19050">
                      <a:solidFill>
                        <a:srgbClr val="0FB881"/>
                      </a:solidFill>
                      <a:prstDash val="solid"/>
                    </a:lnB>
                    <a:solidFill>
                      <a:srgbClr val="0FB881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5370" y="3240151"/>
            <a:ext cx="122428" cy="12242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25570" y="3194050"/>
            <a:ext cx="122427" cy="12242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5770" y="3194050"/>
            <a:ext cx="122427" cy="12242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25969" y="3194050"/>
            <a:ext cx="122427" cy="122427"/>
          </a:xfrm>
          <a:prstGeom prst="rect">
            <a:avLst/>
          </a:prstGeom>
        </p:spPr>
      </p:pic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266700" y="3832859"/>
          <a:ext cx="8595357" cy="814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1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F59E0A"/>
                      </a:solidFill>
                      <a:prstDash val="solid"/>
                    </a:lnL>
                    <a:lnR w="12700">
                      <a:solidFill>
                        <a:srgbClr val="F59E0A"/>
                      </a:solidFill>
                      <a:prstDash val="solid"/>
                    </a:lnR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2735" marR="225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Extends JpaRepository&lt;Entity,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59E0A"/>
                      </a:solidFill>
                      <a:prstDash val="solid"/>
                    </a:lnL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33045" marR="2349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000" spc="-4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@Query</a:t>
                      </a:r>
                      <a:r>
                        <a:rPr sz="1000" spc="-1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JPQL/SQL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42570" marR="142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Hibernate</a:t>
                      </a:r>
                      <a:r>
                        <a:rPr sz="1000" spc="-5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entity lifecycle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9860" marR="2330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sz="1000" spc="-3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MySQL</a:t>
                      </a:r>
                      <a:r>
                        <a:rPr sz="1000" spc="-1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interaction </a:t>
                      </a:r>
                      <a:r>
                        <a:rPr sz="100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000" spc="-1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JDBC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R w="19050">
                      <a:solidFill>
                        <a:srgbClr val="F59E0A"/>
                      </a:solidFill>
                      <a:prstDash val="solid"/>
                    </a:lnR>
                    <a:lnT w="19050">
                      <a:solidFill>
                        <a:srgbClr val="F59E0A"/>
                      </a:solidFill>
                      <a:prstDash val="solid"/>
                    </a:lnT>
                    <a:solidFill>
                      <a:srgbClr val="F59E0A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JpaRepository</a:t>
                      </a:r>
                      <a:r>
                        <a:rPr sz="950" i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i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Hibernate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59E0A"/>
                      </a:solidFill>
                      <a:prstDash val="solid"/>
                    </a:lnL>
                    <a:lnR w="12700">
                      <a:solidFill>
                        <a:srgbClr val="F59E0A"/>
                      </a:solidFill>
                      <a:prstDash val="solid"/>
                    </a:lnR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/>
                    </a:solidFill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ts val="835"/>
                        </a:lnSpc>
                      </a:pPr>
                      <a:r>
                        <a:rPr sz="1000" spc="-25" dirty="0">
                          <a:solidFill>
                            <a:srgbClr val="1E293A"/>
                          </a:solidFill>
                          <a:latin typeface="Times New Roman"/>
                          <a:cs typeface="Times New Roman"/>
                        </a:rPr>
                        <a:t>ID&gt;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59E0A"/>
                      </a:solidFill>
                      <a:prstDash val="solid"/>
                    </a:lnL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>
                        <a:alpha val="1215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59E0A"/>
                      </a:solidFill>
                      <a:prstDash val="solid"/>
                    </a:lnR>
                    <a:lnB w="19050">
                      <a:solidFill>
                        <a:srgbClr val="F59E0A"/>
                      </a:solidFill>
                      <a:prstDash val="solid"/>
                    </a:lnB>
                    <a:solidFill>
                      <a:srgbClr val="F59E0A">
                        <a:alpha val="1215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25370" y="4154170"/>
            <a:ext cx="122428" cy="12242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25570" y="4154170"/>
            <a:ext cx="122427" cy="12242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25770" y="4154170"/>
            <a:ext cx="122427" cy="12242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25969" y="4154170"/>
            <a:ext cx="122427" cy="1224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Controller</a:t>
            </a:r>
            <a:r>
              <a:rPr spc="-35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8049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Spring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MVC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Controllers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—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Request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Handling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Routing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905255"/>
            <a:ext cx="4327525" cy="4053204"/>
            <a:chOff x="137160" y="905255"/>
            <a:chExt cx="4327525" cy="40532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905255"/>
              <a:ext cx="4327398" cy="40530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371600"/>
              <a:ext cx="4114800" cy="3456940"/>
            </a:xfrm>
            <a:custGeom>
              <a:avLst/>
              <a:gdLst/>
              <a:ahLst/>
              <a:cxnLst/>
              <a:rect l="l" t="t" r="r" b="b"/>
              <a:pathLst>
                <a:path w="4114800" h="3456940">
                  <a:moveTo>
                    <a:pt x="0" y="3456432"/>
                  </a:moveTo>
                  <a:lnTo>
                    <a:pt x="4114800" y="3456432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456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87551"/>
              <a:ext cx="4114800" cy="3840479"/>
            </a:xfrm>
            <a:custGeom>
              <a:avLst/>
              <a:gdLst/>
              <a:ahLst/>
              <a:cxnLst/>
              <a:rect l="l" t="t" r="r" b="b"/>
              <a:pathLst>
                <a:path w="4114800" h="3840479">
                  <a:moveTo>
                    <a:pt x="0" y="3840479"/>
                  </a:moveTo>
                  <a:lnTo>
                    <a:pt x="4114800" y="3840479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84047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987552"/>
            <a:ext cx="4114800" cy="384175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630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Role</a:t>
            </a: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Controllers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047" y="1508760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51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@Controller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1478407"/>
            <a:ext cx="242633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Returns</a:t>
            </a:r>
            <a:r>
              <a:rPr sz="105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view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name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for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Thymeleaf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templates,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adds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model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data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047" y="1965960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1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@RequestMapping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194" y="1935607"/>
            <a:ext cx="199072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Maps</a:t>
            </a:r>
            <a:r>
              <a:rPr sz="105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URL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paths</a:t>
            </a:r>
            <a:r>
              <a:rPr sz="105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handler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methods (GET/POST)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047" y="2423160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51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@PathVariable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9194" y="2392502"/>
            <a:ext cx="197485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Extracts</a:t>
            </a:r>
            <a:r>
              <a:rPr sz="105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dynamic</a:t>
            </a:r>
            <a:r>
              <a:rPr sz="105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path</a:t>
            </a:r>
            <a:r>
              <a:rPr sz="105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segments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like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/product/{id}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047" y="2880360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2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@ModelAttribute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9194" y="2929839"/>
            <a:ext cx="245618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Binds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form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data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05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Java</a:t>
            </a:r>
            <a:r>
              <a:rPr sz="105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objects</a:t>
            </a:r>
            <a:r>
              <a:rPr sz="105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automatically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047" y="3337559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515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@Valid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9194" y="3307460"/>
            <a:ext cx="24022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Triggers</a:t>
            </a:r>
            <a:r>
              <a:rPr sz="105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Bean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Validation</a:t>
            </a:r>
            <a:r>
              <a:rPr sz="105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on</a:t>
            </a:r>
            <a:r>
              <a:rPr sz="105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form-submitted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objects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4047" y="3794759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52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BindingResult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9194" y="3764991"/>
            <a:ext cx="23622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Captures</a:t>
            </a:r>
            <a:r>
              <a:rPr sz="105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validation</a:t>
            </a:r>
            <a:r>
              <a:rPr sz="105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errors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without</a:t>
            </a:r>
            <a:r>
              <a:rPr sz="105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throwing exceptions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4047" y="4251959"/>
            <a:ext cx="1234440" cy="292735"/>
          </a:xfrm>
          <a:prstGeom prst="rect">
            <a:avLst/>
          </a:prstGeom>
          <a:solidFill>
            <a:srgbClr val="8A5CF6">
              <a:alpha val="85096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520"/>
              </a:spcBef>
            </a:pPr>
            <a:r>
              <a:rPr sz="1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RedirectAttributes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79194" y="4302353"/>
            <a:ext cx="20624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Passes</a:t>
            </a:r>
            <a:r>
              <a:rPr sz="105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flash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messages</a:t>
            </a:r>
            <a:r>
              <a:rPr sz="105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1E293A"/>
                </a:solidFill>
                <a:latin typeface="Times New Roman"/>
                <a:cs typeface="Times New Roman"/>
              </a:rPr>
              <a:t>across</a:t>
            </a:r>
            <a:r>
              <a:rPr sz="105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Times New Roman"/>
                <a:cs typeface="Times New Roman"/>
              </a:rPr>
              <a:t>redirects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26279" y="905255"/>
            <a:ext cx="4418965" cy="1383030"/>
            <a:chOff x="4526279" y="905255"/>
            <a:chExt cx="4418965" cy="138303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905255"/>
              <a:ext cx="4418837" cy="138303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63439" y="98755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63439" y="98755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63440" y="987552"/>
            <a:ext cx="4206240" cy="320040"/>
          </a:xfrm>
          <a:prstGeom prst="rect">
            <a:avLst/>
          </a:prstGeom>
          <a:solidFill>
            <a:srgbClr val="8A5CF6">
              <a:alpha val="79998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505"/>
              </a:spcBef>
            </a:pP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AuthController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69790" y="131394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5250" rIns="0" bIns="0" rtlCol="0">
            <a:spAutoFit/>
          </a:bodyPr>
          <a:lstStyle/>
          <a:p>
            <a:pPr marL="85725" marR="239141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/login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show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login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page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/register</a:t>
            </a:r>
            <a:r>
              <a:rPr sz="10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user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registration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/logout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logout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user</a:t>
            </a: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Purpose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:</a:t>
            </a:r>
            <a:r>
              <a:rPr sz="10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Handles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authentication</a:t>
            </a:r>
            <a:r>
              <a:rPr sz="10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user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access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26279" y="2185416"/>
            <a:ext cx="4418965" cy="1383030"/>
            <a:chOff x="4526279" y="2185416"/>
            <a:chExt cx="4418965" cy="138303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2185416"/>
              <a:ext cx="4418837" cy="13830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63439" y="2267712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63439" y="2267712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63440" y="2267711"/>
            <a:ext cx="4206240" cy="320040"/>
          </a:xfrm>
          <a:prstGeom prst="rect">
            <a:avLst/>
          </a:prstGeom>
          <a:solidFill>
            <a:srgbClr val="8A5CF6">
              <a:alpha val="79998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505"/>
              </a:spcBef>
            </a:pP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InventoryController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69790" y="259410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755"/>
              </a:lnSpc>
            </a:pPr>
            <a:endParaRPr lang="en-US" sz="1000" dirty="0">
              <a:solidFill>
                <a:srgbClr val="1E293A"/>
              </a:solidFill>
              <a:latin typeface="Times New Roman"/>
              <a:cs typeface="Times New Roman"/>
            </a:endParaRPr>
          </a:p>
          <a:p>
            <a:pPr marL="85725">
              <a:lnSpc>
                <a:spcPts val="755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/dashboard</a:t>
            </a:r>
            <a:r>
              <a:rPr sz="10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main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dashboard</a:t>
            </a:r>
            <a:endParaRPr sz="1000" dirty="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GET/products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view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all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products</a:t>
            </a:r>
            <a:endParaRPr sz="1000" dirty="0">
              <a:latin typeface="Times New Roman"/>
              <a:cs typeface="Times New Roman"/>
            </a:endParaRPr>
          </a:p>
          <a:p>
            <a:pPr marL="85725" marR="1888489"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POST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/add-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product —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add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new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product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POST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/increase/{id}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increase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by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50" dirty="0">
                <a:solidFill>
                  <a:srgbClr val="1E293A"/>
                </a:solidFill>
                <a:latin typeface="Times New Roman"/>
                <a:cs typeface="Times New Roman"/>
              </a:rPr>
              <a:t>1</a:t>
            </a:r>
            <a:endParaRPr sz="1000" dirty="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POST</a:t>
            </a:r>
            <a:r>
              <a:rPr sz="10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/decrease/{id}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decrease stock</a:t>
            </a:r>
            <a:r>
              <a:rPr sz="10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by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50" dirty="0">
                <a:solidFill>
                  <a:srgbClr val="1E293A"/>
                </a:solidFill>
                <a:latin typeface="Times New Roman"/>
                <a:cs typeface="Times New Roman"/>
              </a:rPr>
              <a:t>1</a:t>
            </a:r>
            <a:endParaRPr sz="1000" dirty="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26279" y="3465550"/>
            <a:ext cx="4418965" cy="1383030"/>
            <a:chOff x="4526279" y="3465550"/>
            <a:chExt cx="4418965" cy="138303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6279" y="3465550"/>
              <a:ext cx="4418837" cy="138303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63439" y="354787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4206240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4206240" y="1170432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63439" y="3547871"/>
              <a:ext cx="4206240" cy="1170940"/>
            </a:xfrm>
            <a:custGeom>
              <a:avLst/>
              <a:gdLst/>
              <a:ahLst/>
              <a:cxnLst/>
              <a:rect l="l" t="t" r="r" b="b"/>
              <a:pathLst>
                <a:path w="4206240" h="1170939">
                  <a:moveTo>
                    <a:pt x="0" y="1170432"/>
                  </a:moveTo>
                  <a:lnTo>
                    <a:pt x="4206240" y="117043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663440" y="3547871"/>
            <a:ext cx="4206240" cy="320040"/>
          </a:xfrm>
          <a:prstGeom prst="rect">
            <a:avLst/>
          </a:prstGeom>
          <a:solidFill>
            <a:srgbClr val="8A5CF6">
              <a:alpha val="79998"/>
            </a:srgbClr>
          </a:solidFill>
          <a:ln w="12700">
            <a:solidFill>
              <a:srgbClr val="8A5CF6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509"/>
              </a:spcBef>
            </a:pPr>
            <a:r>
              <a:rPr sz="1200" b="1" dirty="0">
                <a:solidFill>
                  <a:srgbClr val="8A5CF6"/>
                </a:solidFill>
                <a:latin typeface="Times New Roman"/>
                <a:cs typeface="Times New Roman"/>
              </a:rPr>
              <a:t>StockController</a:t>
            </a:r>
            <a:r>
              <a:rPr sz="1200" b="1" spc="25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/stock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69790" y="3874261"/>
            <a:ext cx="4193540" cy="838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/stock</a:t>
            </a:r>
            <a:r>
              <a:rPr sz="10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view all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endParaRPr sz="1000">
              <a:latin typeface="Times New Roman"/>
              <a:cs typeface="Times New Roman"/>
            </a:endParaRPr>
          </a:p>
          <a:p>
            <a:pPr marL="85725" marR="2217420">
              <a:lnSpc>
                <a:spcPct val="100000"/>
              </a:lnSpc>
            </a:pP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POST</a:t>
            </a:r>
            <a:r>
              <a:rPr sz="10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/stock/adjust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manual</a:t>
            </a:r>
            <a:r>
              <a:rPr sz="1000" spc="-10" dirty="0">
                <a:solidFill>
                  <a:srgbClr val="1E293A"/>
                </a:solidFill>
                <a:latin typeface="Times New Roman"/>
                <a:cs typeface="Times New Roman"/>
              </a:rPr>
              <a:t> adjust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GET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/stock/alerts</a:t>
            </a:r>
            <a:r>
              <a:rPr sz="10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low</a:t>
            </a:r>
            <a:r>
              <a:rPr sz="10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293A"/>
                </a:solidFill>
                <a:latin typeface="Times New Roman"/>
                <a:cs typeface="Times New Roman"/>
              </a:rPr>
              <a:t>stock</a:t>
            </a:r>
            <a:r>
              <a:rPr sz="10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1E293A"/>
                </a:solidFill>
                <a:latin typeface="Times New Roman"/>
                <a:cs typeface="Times New Roman"/>
              </a:rPr>
              <a:t>list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Service</a:t>
            </a:r>
            <a:r>
              <a:rPr spc="-25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39357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Business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Logic,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Transaction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Management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Orchestration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824"/>
            <a:ext cx="2224405" cy="1584325"/>
            <a:chOff x="137160" y="877824"/>
            <a:chExt cx="2224405" cy="1584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824"/>
              <a:ext cx="2224278" cy="1584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80" h="1371600">
                  <a:moveTo>
                    <a:pt x="0" y="1371599"/>
                  </a:moveTo>
                  <a:lnTo>
                    <a:pt x="2011680" y="137159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4320" y="960119"/>
            <a:ext cx="2011680" cy="347980"/>
          </a:xfrm>
          <a:prstGeom prst="rect">
            <a:avLst/>
          </a:prstGeom>
          <a:solidFill>
            <a:srgbClr val="0FB881"/>
          </a:solidFill>
          <a:ln w="12700">
            <a:solidFill>
              <a:srgbClr val="0FB881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@Service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32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imes New Roman"/>
              <a:cs typeface="Times New Roman"/>
            </a:endParaRPr>
          </a:p>
          <a:p>
            <a:pPr marL="90805" marR="114300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Marks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class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as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Spring-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managed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service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bean.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Detected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by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component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scan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injected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via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@Autowired.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86000" y="877824"/>
            <a:ext cx="2224405" cy="1584325"/>
            <a:chOff x="2286000" y="877824"/>
            <a:chExt cx="2224405" cy="15843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877824"/>
              <a:ext cx="2224278" cy="15841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2316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80" y="1371599"/>
                  </a:lnTo>
                  <a:lnTo>
                    <a:pt x="2011680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23160" y="960119"/>
            <a:ext cx="2011680" cy="347980"/>
          </a:xfrm>
          <a:prstGeom prst="rect">
            <a:avLst/>
          </a:prstGeom>
          <a:solidFill>
            <a:srgbClr val="0891B1"/>
          </a:solidFill>
          <a:ln w="12700">
            <a:solidFill>
              <a:srgbClr val="0891B1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550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@Transactional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316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Wraps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entire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method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91440" marR="125730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database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transaction.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Rolls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back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on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RuntimeException</a:t>
            </a:r>
            <a:r>
              <a:rPr sz="1100" spc="-5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ensuring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data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consistency.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34840" y="877824"/>
            <a:ext cx="2224405" cy="1584325"/>
            <a:chOff x="4434840" y="877824"/>
            <a:chExt cx="2224405" cy="15843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0" y="877824"/>
              <a:ext cx="2224277" cy="158419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57200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79" y="137159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72000" y="960119"/>
            <a:ext cx="2011680" cy="347980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55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13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7200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82550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Centralized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domain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rules: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price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calculation,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discount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logic,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stock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deduction,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reorder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point evaluation.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83680" y="877824"/>
            <a:ext cx="2224405" cy="1584325"/>
            <a:chOff x="6583680" y="877824"/>
            <a:chExt cx="2224405" cy="158432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3680" y="877824"/>
              <a:ext cx="2224278" cy="15841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20840" y="960120"/>
              <a:ext cx="2011680" cy="1371600"/>
            </a:xfrm>
            <a:custGeom>
              <a:avLst/>
              <a:gdLst/>
              <a:ahLst/>
              <a:cxnLst/>
              <a:rect l="l" t="t" r="r" b="b"/>
              <a:pathLst>
                <a:path w="2011679" h="1371600">
                  <a:moveTo>
                    <a:pt x="0" y="1371599"/>
                  </a:moveTo>
                  <a:lnTo>
                    <a:pt x="2011679" y="137159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20840" y="960119"/>
            <a:ext cx="2011680" cy="347980"/>
          </a:xfrm>
          <a:prstGeom prst="rect">
            <a:avLst/>
          </a:prstGeom>
          <a:solidFill>
            <a:srgbClr val="F87316"/>
          </a:solidFill>
          <a:ln w="12700">
            <a:solidFill>
              <a:srgbClr val="F87316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377190">
              <a:lnSpc>
                <a:spcPct val="100000"/>
              </a:lnSpc>
              <a:spcBef>
                <a:spcPts val="550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Interfaces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20840" y="1307591"/>
            <a:ext cx="201168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30"/>
              </a:spcBef>
            </a:pPr>
            <a:endParaRPr sz="1100">
              <a:latin typeface="Times New Roman"/>
              <a:cs typeface="Times New Roman"/>
            </a:endParaRPr>
          </a:p>
          <a:p>
            <a:pPr marL="92075" marR="191770" algn="just"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Services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implement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interfaces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loose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coupling,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testability,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easy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mocking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unit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tests.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160" y="2432315"/>
            <a:ext cx="8808085" cy="2635885"/>
            <a:chOff x="137160" y="2432315"/>
            <a:chExt cx="8808085" cy="263588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2432315"/>
              <a:ext cx="8807958" cy="26357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320" y="2862072"/>
              <a:ext cx="8595360" cy="2075814"/>
            </a:xfrm>
            <a:custGeom>
              <a:avLst/>
              <a:gdLst/>
              <a:ahLst/>
              <a:cxnLst/>
              <a:rect l="l" t="t" r="r" b="b"/>
              <a:pathLst>
                <a:path w="8595360" h="2075814">
                  <a:moveTo>
                    <a:pt x="0" y="2075688"/>
                  </a:moveTo>
                  <a:lnTo>
                    <a:pt x="8595360" y="207568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20756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20" y="2514600"/>
              <a:ext cx="8595360" cy="2423160"/>
            </a:xfrm>
            <a:custGeom>
              <a:avLst/>
              <a:gdLst/>
              <a:ahLst/>
              <a:cxnLst/>
              <a:rect l="l" t="t" r="r" b="b"/>
              <a:pathLst>
                <a:path w="8595360" h="2423160">
                  <a:moveTo>
                    <a:pt x="0" y="2423160"/>
                  </a:moveTo>
                  <a:lnTo>
                    <a:pt x="8595360" y="242316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2423160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2514600"/>
              <a:ext cx="8595360" cy="347980"/>
            </a:xfrm>
            <a:custGeom>
              <a:avLst/>
              <a:gdLst/>
              <a:ahLst/>
              <a:cxnLst/>
              <a:rect l="l" t="t" r="r" b="b"/>
              <a:pathLst>
                <a:path w="8595360" h="347980">
                  <a:moveTo>
                    <a:pt x="859536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8595360" y="347472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4320" y="2514600"/>
              <a:ext cx="8595360" cy="347980"/>
            </a:xfrm>
            <a:custGeom>
              <a:avLst/>
              <a:gdLst/>
              <a:ahLst/>
              <a:cxnLst/>
              <a:rect l="l" t="t" r="r" b="b"/>
              <a:pathLst>
                <a:path w="8595360" h="347980">
                  <a:moveTo>
                    <a:pt x="0" y="347472"/>
                  </a:moveTo>
                  <a:lnTo>
                    <a:pt x="8595360" y="3474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07340" y="2563749"/>
            <a:ext cx="2300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Methods</a:t>
            </a:r>
            <a:r>
              <a:rPr sz="1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4047" y="2971800"/>
            <a:ext cx="2743200" cy="329565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0"/>
              </a:spcBef>
            </a:pPr>
            <a:r>
              <a:rPr sz="10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processOrder(OrderDTO</a:t>
            </a:r>
            <a:r>
              <a:rPr sz="1000" b="1" spc="9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1E293A"/>
                </a:solidFill>
                <a:latin typeface="Times New Roman"/>
                <a:cs typeface="Times New Roman"/>
              </a:rPr>
              <a:t>dto)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34054" y="2959989"/>
            <a:ext cx="544766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Validates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deducts</a:t>
            </a:r>
            <a:r>
              <a:rPr sz="10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quantity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creates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10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record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updates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ledger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triggers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alert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if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below</a:t>
            </a:r>
            <a:r>
              <a:rPr sz="10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threshold.</a:t>
            </a:r>
            <a:r>
              <a:rPr sz="10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Fully</a:t>
            </a:r>
            <a:r>
              <a:rPr sz="10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transactional.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4047" y="3447288"/>
            <a:ext cx="2743200" cy="329565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0"/>
              </a:spcBef>
            </a:pPr>
            <a:r>
              <a:rPr sz="10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restockProduct(int</a:t>
            </a:r>
            <a:r>
              <a:rPr sz="1000" b="1" spc="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E293A"/>
                </a:solidFill>
                <a:latin typeface="Times New Roman"/>
                <a:cs typeface="Times New Roman"/>
              </a:rPr>
              <a:t>id, int</a:t>
            </a:r>
            <a:r>
              <a:rPr sz="1000" b="1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1E293A"/>
                </a:solidFill>
                <a:latin typeface="Times New Roman"/>
                <a:cs typeface="Times New Roman"/>
              </a:rPr>
              <a:t>qty)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34054" y="3435477"/>
            <a:ext cx="518795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Adds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product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logs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movement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clears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any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low-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alert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recalculates</a:t>
            </a:r>
            <a:r>
              <a:rPr sz="10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total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inventory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value.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4047" y="3922776"/>
            <a:ext cx="2743200" cy="329565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5"/>
              </a:spcBef>
            </a:pPr>
            <a:r>
              <a:rPr sz="10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evaluateRiskThreshold(Product</a:t>
            </a:r>
            <a:r>
              <a:rPr sz="1000" b="1" spc="114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000" b="1" spc="-25" dirty="0">
                <a:solidFill>
                  <a:srgbClr val="1E293A"/>
                </a:solidFill>
                <a:latin typeface="Times New Roman"/>
                <a:cs typeface="Times New Roman"/>
              </a:rPr>
              <a:t>p)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34054" y="3911295"/>
            <a:ext cx="51796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Compares</a:t>
            </a:r>
            <a:r>
              <a:rPr sz="10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currentStock against</a:t>
            </a:r>
            <a:r>
              <a:rPr sz="10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minimumThreshold.</a:t>
            </a:r>
            <a:r>
              <a:rPr sz="10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Returns</a:t>
            </a:r>
            <a:r>
              <a:rPr sz="105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CRITICAL/WARNING/OK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enum.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Called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after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every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stock-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deducting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operation.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4047" y="4398264"/>
            <a:ext cx="2743200" cy="329565"/>
          </a:xfrm>
          <a:prstGeom prst="rect">
            <a:avLst/>
          </a:prstGeom>
          <a:solidFill>
            <a:srgbClr val="0FB881">
              <a:alpha val="79998"/>
            </a:srgbClr>
          </a:solidFill>
          <a:ln w="12700">
            <a:solidFill>
              <a:srgbClr val="0FB881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5"/>
              </a:spcBef>
            </a:pPr>
            <a:r>
              <a:rPr sz="1000" b="1" spc="-10" dirty="0">
                <a:solidFill>
                  <a:srgbClr val="1E293A"/>
                </a:solidFill>
                <a:latin typeface="Times New Roman"/>
                <a:cs typeface="Times New Roman"/>
              </a:rPr>
              <a:t>generateInventoryReport()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34054" y="4386783"/>
            <a:ext cx="53213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Aggregates</a:t>
            </a:r>
            <a:r>
              <a:rPr sz="10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product</a:t>
            </a:r>
            <a:r>
              <a:rPr sz="10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values,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calculates</a:t>
            </a:r>
            <a:r>
              <a:rPr sz="10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total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inventory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worth,</a:t>
            </a:r>
            <a:r>
              <a:rPr sz="10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identifies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top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movers</a:t>
            </a:r>
            <a:r>
              <a:rPr sz="10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critical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items</a:t>
            </a:r>
            <a:r>
              <a:rPr sz="10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0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3A2B8"/>
                </a:solidFill>
                <a:latin typeface="Times New Roman"/>
                <a:cs typeface="Times New Roman"/>
              </a:rPr>
              <a:t>dashboard</a:t>
            </a:r>
            <a:r>
              <a:rPr sz="10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Times New Roman"/>
                <a:cs typeface="Times New Roman"/>
              </a:rPr>
              <a:t>display.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55297"/>
            <a:ext cx="4435475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pc="-20" dirty="0">
                <a:solidFill>
                  <a:srgbClr val="000000"/>
                </a:solidFill>
              </a:rPr>
              <a:t>Transaction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Module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ACID</a:t>
            </a:r>
            <a:r>
              <a:rPr sz="1300" b="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Compliance,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@Transactional</a:t>
            </a:r>
            <a:r>
              <a:rPr sz="1300" b="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Behavior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5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Rollback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Strategy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320" y="1005839"/>
            <a:ext cx="2011680" cy="1737360"/>
            <a:chOff x="274320" y="1005839"/>
            <a:chExt cx="2011680" cy="1737360"/>
          </a:xfrm>
        </p:grpSpPr>
        <p:sp>
          <p:nvSpPr>
            <p:cNvPr id="8" name="object 8"/>
            <p:cNvSpPr/>
            <p:nvPr/>
          </p:nvSpPr>
          <p:spPr>
            <a:xfrm>
              <a:off x="27432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80" h="1737360">
                  <a:moveTo>
                    <a:pt x="201168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80" y="1737360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012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80" h="675639">
                  <a:moveTo>
                    <a:pt x="320040" y="0"/>
                  </a:moveTo>
                  <a:lnTo>
                    <a:pt x="272745" y="3663"/>
                  </a:lnTo>
                  <a:lnTo>
                    <a:pt x="227606" y="14303"/>
                  </a:lnTo>
                  <a:lnTo>
                    <a:pt x="185116" y="31399"/>
                  </a:lnTo>
                  <a:lnTo>
                    <a:pt x="145772" y="54427"/>
                  </a:lnTo>
                  <a:lnTo>
                    <a:pt x="110068" y="82864"/>
                  </a:lnTo>
                  <a:lnTo>
                    <a:pt x="78498" y="116189"/>
                  </a:lnTo>
                  <a:lnTo>
                    <a:pt x="51559" y="153877"/>
                  </a:lnTo>
                  <a:lnTo>
                    <a:pt x="29744" y="195407"/>
                  </a:lnTo>
                  <a:lnTo>
                    <a:pt x="13549" y="240256"/>
                  </a:lnTo>
                  <a:lnTo>
                    <a:pt x="3469" y="287901"/>
                  </a:lnTo>
                  <a:lnTo>
                    <a:pt x="0" y="337820"/>
                  </a:lnTo>
                  <a:lnTo>
                    <a:pt x="3469" y="387738"/>
                  </a:lnTo>
                  <a:lnTo>
                    <a:pt x="13549" y="435383"/>
                  </a:lnTo>
                  <a:lnTo>
                    <a:pt x="29744" y="480232"/>
                  </a:lnTo>
                  <a:lnTo>
                    <a:pt x="51559" y="521762"/>
                  </a:lnTo>
                  <a:lnTo>
                    <a:pt x="78498" y="559450"/>
                  </a:lnTo>
                  <a:lnTo>
                    <a:pt x="110068" y="592775"/>
                  </a:lnTo>
                  <a:lnTo>
                    <a:pt x="145772" y="621212"/>
                  </a:lnTo>
                  <a:lnTo>
                    <a:pt x="185116" y="644240"/>
                  </a:lnTo>
                  <a:lnTo>
                    <a:pt x="227606" y="661336"/>
                  </a:lnTo>
                  <a:lnTo>
                    <a:pt x="272745" y="671976"/>
                  </a:lnTo>
                  <a:lnTo>
                    <a:pt x="320040" y="675640"/>
                  </a:lnTo>
                  <a:lnTo>
                    <a:pt x="367340" y="671976"/>
                  </a:lnTo>
                  <a:lnTo>
                    <a:pt x="412483" y="661336"/>
                  </a:lnTo>
                  <a:lnTo>
                    <a:pt x="454974" y="644240"/>
                  </a:lnTo>
                  <a:lnTo>
                    <a:pt x="494318" y="621212"/>
                  </a:lnTo>
                  <a:lnTo>
                    <a:pt x="530022" y="592775"/>
                  </a:lnTo>
                  <a:lnTo>
                    <a:pt x="561589" y="559450"/>
                  </a:lnTo>
                  <a:lnTo>
                    <a:pt x="588527" y="521762"/>
                  </a:lnTo>
                  <a:lnTo>
                    <a:pt x="610339" y="480232"/>
                  </a:lnTo>
                  <a:lnTo>
                    <a:pt x="626532" y="435383"/>
                  </a:lnTo>
                  <a:lnTo>
                    <a:pt x="636610" y="387738"/>
                  </a:lnTo>
                  <a:lnTo>
                    <a:pt x="640080" y="337820"/>
                  </a:lnTo>
                  <a:lnTo>
                    <a:pt x="636610" y="287901"/>
                  </a:lnTo>
                  <a:lnTo>
                    <a:pt x="626532" y="240256"/>
                  </a:lnTo>
                  <a:lnTo>
                    <a:pt x="610339" y="195407"/>
                  </a:lnTo>
                  <a:lnTo>
                    <a:pt x="588527" y="153877"/>
                  </a:lnTo>
                  <a:lnTo>
                    <a:pt x="561589" y="116189"/>
                  </a:lnTo>
                  <a:lnTo>
                    <a:pt x="530022" y="82864"/>
                  </a:lnTo>
                  <a:lnTo>
                    <a:pt x="494318" y="54427"/>
                  </a:lnTo>
                  <a:lnTo>
                    <a:pt x="454974" y="31399"/>
                  </a:lnTo>
                  <a:lnTo>
                    <a:pt x="412483" y="14303"/>
                  </a:lnTo>
                  <a:lnTo>
                    <a:pt x="367340" y="3663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012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80" h="675639">
                  <a:moveTo>
                    <a:pt x="0" y="337820"/>
                  </a:moveTo>
                  <a:lnTo>
                    <a:pt x="3469" y="287901"/>
                  </a:lnTo>
                  <a:lnTo>
                    <a:pt x="13549" y="240256"/>
                  </a:lnTo>
                  <a:lnTo>
                    <a:pt x="29744" y="195407"/>
                  </a:lnTo>
                  <a:lnTo>
                    <a:pt x="51559" y="153877"/>
                  </a:lnTo>
                  <a:lnTo>
                    <a:pt x="78498" y="116189"/>
                  </a:lnTo>
                  <a:lnTo>
                    <a:pt x="110068" y="82864"/>
                  </a:lnTo>
                  <a:lnTo>
                    <a:pt x="145772" y="54427"/>
                  </a:lnTo>
                  <a:lnTo>
                    <a:pt x="185116" y="31399"/>
                  </a:lnTo>
                  <a:lnTo>
                    <a:pt x="227606" y="14303"/>
                  </a:lnTo>
                  <a:lnTo>
                    <a:pt x="272745" y="3663"/>
                  </a:lnTo>
                  <a:lnTo>
                    <a:pt x="320040" y="0"/>
                  </a:lnTo>
                  <a:lnTo>
                    <a:pt x="367340" y="3663"/>
                  </a:lnTo>
                  <a:lnTo>
                    <a:pt x="412483" y="14303"/>
                  </a:lnTo>
                  <a:lnTo>
                    <a:pt x="454974" y="31399"/>
                  </a:lnTo>
                  <a:lnTo>
                    <a:pt x="494318" y="54427"/>
                  </a:lnTo>
                  <a:lnTo>
                    <a:pt x="530022" y="82864"/>
                  </a:lnTo>
                  <a:lnTo>
                    <a:pt x="561589" y="116189"/>
                  </a:lnTo>
                  <a:lnTo>
                    <a:pt x="588527" y="153877"/>
                  </a:lnTo>
                  <a:lnTo>
                    <a:pt x="610339" y="195407"/>
                  </a:lnTo>
                  <a:lnTo>
                    <a:pt x="626532" y="240256"/>
                  </a:lnTo>
                  <a:lnTo>
                    <a:pt x="636610" y="287901"/>
                  </a:lnTo>
                  <a:lnTo>
                    <a:pt x="640080" y="337820"/>
                  </a:lnTo>
                  <a:lnTo>
                    <a:pt x="636610" y="387738"/>
                  </a:lnTo>
                  <a:lnTo>
                    <a:pt x="626532" y="435383"/>
                  </a:lnTo>
                  <a:lnTo>
                    <a:pt x="610339" y="480232"/>
                  </a:lnTo>
                  <a:lnTo>
                    <a:pt x="588527" y="521762"/>
                  </a:lnTo>
                  <a:lnTo>
                    <a:pt x="561589" y="559450"/>
                  </a:lnTo>
                  <a:lnTo>
                    <a:pt x="530022" y="592775"/>
                  </a:lnTo>
                  <a:lnTo>
                    <a:pt x="494318" y="621212"/>
                  </a:lnTo>
                  <a:lnTo>
                    <a:pt x="454974" y="644240"/>
                  </a:lnTo>
                  <a:lnTo>
                    <a:pt x="412483" y="661336"/>
                  </a:lnTo>
                  <a:lnTo>
                    <a:pt x="367340" y="671976"/>
                  </a:lnTo>
                  <a:lnTo>
                    <a:pt x="320040" y="675640"/>
                  </a:lnTo>
                  <a:lnTo>
                    <a:pt x="272745" y="671976"/>
                  </a:lnTo>
                  <a:lnTo>
                    <a:pt x="227606" y="661336"/>
                  </a:lnTo>
                  <a:lnTo>
                    <a:pt x="185116" y="644240"/>
                  </a:lnTo>
                  <a:lnTo>
                    <a:pt x="145772" y="621212"/>
                  </a:lnTo>
                  <a:lnTo>
                    <a:pt x="110068" y="592775"/>
                  </a:lnTo>
                  <a:lnTo>
                    <a:pt x="78498" y="559450"/>
                  </a:lnTo>
                  <a:lnTo>
                    <a:pt x="51559" y="521762"/>
                  </a:lnTo>
                  <a:lnTo>
                    <a:pt x="29744" y="480232"/>
                  </a:lnTo>
                  <a:lnTo>
                    <a:pt x="13549" y="435383"/>
                  </a:lnTo>
                  <a:lnTo>
                    <a:pt x="3469" y="387738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1005839"/>
            <a:ext cx="2011680" cy="1737360"/>
          </a:xfrm>
          <a:prstGeom prst="rect">
            <a:avLst/>
          </a:prstGeom>
          <a:ln w="19050">
            <a:solidFill>
              <a:srgbClr val="0891B1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985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sz="13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Atomicity</a:t>
            </a:r>
            <a:endParaRPr sz="1300">
              <a:latin typeface="Times New Roman"/>
              <a:cs typeface="Times New Roman"/>
            </a:endParaRPr>
          </a:p>
          <a:p>
            <a:pPr marL="107950" marR="102870" indent="-1270" algn="ctr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All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steps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a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transaction</a:t>
            </a:r>
            <a:r>
              <a:rPr sz="10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succeed</a:t>
            </a:r>
            <a:r>
              <a:rPr sz="1000" spc="50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or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none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commit. If</a:t>
            </a:r>
            <a:r>
              <a:rPr sz="10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10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save</a:t>
            </a:r>
            <a:r>
              <a:rPr sz="10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fails,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deduction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is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rolled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back.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3160" y="1005839"/>
            <a:ext cx="2011680" cy="1737360"/>
            <a:chOff x="2423160" y="1005839"/>
            <a:chExt cx="2011680" cy="1737360"/>
          </a:xfrm>
        </p:grpSpPr>
        <p:sp>
          <p:nvSpPr>
            <p:cNvPr id="13" name="object 13"/>
            <p:cNvSpPr/>
            <p:nvPr/>
          </p:nvSpPr>
          <p:spPr>
            <a:xfrm>
              <a:off x="242316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8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80" y="1737360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0896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39" y="3663"/>
                  </a:lnTo>
                  <a:lnTo>
                    <a:pt x="227596" y="14303"/>
                  </a:lnTo>
                  <a:lnTo>
                    <a:pt x="185105" y="31399"/>
                  </a:lnTo>
                  <a:lnTo>
                    <a:pt x="145761" y="54427"/>
                  </a:lnTo>
                  <a:lnTo>
                    <a:pt x="110057" y="82864"/>
                  </a:lnTo>
                  <a:lnTo>
                    <a:pt x="78490" y="116189"/>
                  </a:lnTo>
                  <a:lnTo>
                    <a:pt x="51552" y="153877"/>
                  </a:lnTo>
                  <a:lnTo>
                    <a:pt x="29740" y="195407"/>
                  </a:lnTo>
                  <a:lnTo>
                    <a:pt x="13547" y="240256"/>
                  </a:lnTo>
                  <a:lnTo>
                    <a:pt x="3469" y="287901"/>
                  </a:lnTo>
                  <a:lnTo>
                    <a:pt x="0" y="337820"/>
                  </a:lnTo>
                  <a:lnTo>
                    <a:pt x="3469" y="387738"/>
                  </a:lnTo>
                  <a:lnTo>
                    <a:pt x="13547" y="435383"/>
                  </a:lnTo>
                  <a:lnTo>
                    <a:pt x="29740" y="480232"/>
                  </a:lnTo>
                  <a:lnTo>
                    <a:pt x="51552" y="521762"/>
                  </a:lnTo>
                  <a:lnTo>
                    <a:pt x="78490" y="559450"/>
                  </a:lnTo>
                  <a:lnTo>
                    <a:pt x="110057" y="592775"/>
                  </a:lnTo>
                  <a:lnTo>
                    <a:pt x="145761" y="621212"/>
                  </a:lnTo>
                  <a:lnTo>
                    <a:pt x="185105" y="644240"/>
                  </a:lnTo>
                  <a:lnTo>
                    <a:pt x="227596" y="661336"/>
                  </a:lnTo>
                  <a:lnTo>
                    <a:pt x="272739" y="671976"/>
                  </a:lnTo>
                  <a:lnTo>
                    <a:pt x="320039" y="675640"/>
                  </a:lnTo>
                  <a:lnTo>
                    <a:pt x="367340" y="671976"/>
                  </a:lnTo>
                  <a:lnTo>
                    <a:pt x="412483" y="661336"/>
                  </a:lnTo>
                  <a:lnTo>
                    <a:pt x="454974" y="644240"/>
                  </a:lnTo>
                  <a:lnTo>
                    <a:pt x="494318" y="621212"/>
                  </a:lnTo>
                  <a:lnTo>
                    <a:pt x="530022" y="592775"/>
                  </a:lnTo>
                  <a:lnTo>
                    <a:pt x="561589" y="559450"/>
                  </a:lnTo>
                  <a:lnTo>
                    <a:pt x="588527" y="521762"/>
                  </a:lnTo>
                  <a:lnTo>
                    <a:pt x="610339" y="480232"/>
                  </a:lnTo>
                  <a:lnTo>
                    <a:pt x="626532" y="435383"/>
                  </a:lnTo>
                  <a:lnTo>
                    <a:pt x="636610" y="387738"/>
                  </a:lnTo>
                  <a:lnTo>
                    <a:pt x="640079" y="337820"/>
                  </a:lnTo>
                  <a:lnTo>
                    <a:pt x="636610" y="287901"/>
                  </a:lnTo>
                  <a:lnTo>
                    <a:pt x="626532" y="240256"/>
                  </a:lnTo>
                  <a:lnTo>
                    <a:pt x="610339" y="195407"/>
                  </a:lnTo>
                  <a:lnTo>
                    <a:pt x="588527" y="153877"/>
                  </a:lnTo>
                  <a:lnTo>
                    <a:pt x="561589" y="116189"/>
                  </a:lnTo>
                  <a:lnTo>
                    <a:pt x="530022" y="82864"/>
                  </a:lnTo>
                  <a:lnTo>
                    <a:pt x="494318" y="54427"/>
                  </a:lnTo>
                  <a:lnTo>
                    <a:pt x="454974" y="31399"/>
                  </a:lnTo>
                  <a:lnTo>
                    <a:pt x="412483" y="14303"/>
                  </a:lnTo>
                  <a:lnTo>
                    <a:pt x="367340" y="36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0896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69" y="287901"/>
                  </a:lnTo>
                  <a:lnTo>
                    <a:pt x="13547" y="240256"/>
                  </a:lnTo>
                  <a:lnTo>
                    <a:pt x="29740" y="195407"/>
                  </a:lnTo>
                  <a:lnTo>
                    <a:pt x="51552" y="153877"/>
                  </a:lnTo>
                  <a:lnTo>
                    <a:pt x="78490" y="116189"/>
                  </a:lnTo>
                  <a:lnTo>
                    <a:pt x="110057" y="82864"/>
                  </a:lnTo>
                  <a:lnTo>
                    <a:pt x="145761" y="54427"/>
                  </a:lnTo>
                  <a:lnTo>
                    <a:pt x="185105" y="31399"/>
                  </a:lnTo>
                  <a:lnTo>
                    <a:pt x="227596" y="14303"/>
                  </a:lnTo>
                  <a:lnTo>
                    <a:pt x="272739" y="3663"/>
                  </a:lnTo>
                  <a:lnTo>
                    <a:pt x="320039" y="0"/>
                  </a:lnTo>
                  <a:lnTo>
                    <a:pt x="367340" y="3663"/>
                  </a:lnTo>
                  <a:lnTo>
                    <a:pt x="412483" y="14303"/>
                  </a:lnTo>
                  <a:lnTo>
                    <a:pt x="454974" y="31399"/>
                  </a:lnTo>
                  <a:lnTo>
                    <a:pt x="494318" y="54427"/>
                  </a:lnTo>
                  <a:lnTo>
                    <a:pt x="530022" y="82864"/>
                  </a:lnTo>
                  <a:lnTo>
                    <a:pt x="561589" y="116189"/>
                  </a:lnTo>
                  <a:lnTo>
                    <a:pt x="588527" y="153877"/>
                  </a:lnTo>
                  <a:lnTo>
                    <a:pt x="610339" y="195407"/>
                  </a:lnTo>
                  <a:lnTo>
                    <a:pt x="626532" y="240256"/>
                  </a:lnTo>
                  <a:lnTo>
                    <a:pt x="636610" y="287901"/>
                  </a:lnTo>
                  <a:lnTo>
                    <a:pt x="640079" y="337820"/>
                  </a:lnTo>
                  <a:lnTo>
                    <a:pt x="636610" y="387738"/>
                  </a:lnTo>
                  <a:lnTo>
                    <a:pt x="626532" y="435383"/>
                  </a:lnTo>
                  <a:lnTo>
                    <a:pt x="610339" y="480232"/>
                  </a:lnTo>
                  <a:lnTo>
                    <a:pt x="588527" y="521762"/>
                  </a:lnTo>
                  <a:lnTo>
                    <a:pt x="561589" y="559450"/>
                  </a:lnTo>
                  <a:lnTo>
                    <a:pt x="530022" y="592775"/>
                  </a:lnTo>
                  <a:lnTo>
                    <a:pt x="494318" y="621212"/>
                  </a:lnTo>
                  <a:lnTo>
                    <a:pt x="454974" y="644240"/>
                  </a:lnTo>
                  <a:lnTo>
                    <a:pt x="412483" y="661336"/>
                  </a:lnTo>
                  <a:lnTo>
                    <a:pt x="367340" y="671976"/>
                  </a:lnTo>
                  <a:lnTo>
                    <a:pt x="320039" y="675640"/>
                  </a:lnTo>
                  <a:lnTo>
                    <a:pt x="272739" y="671976"/>
                  </a:lnTo>
                  <a:lnTo>
                    <a:pt x="227596" y="661336"/>
                  </a:lnTo>
                  <a:lnTo>
                    <a:pt x="185105" y="644240"/>
                  </a:lnTo>
                  <a:lnTo>
                    <a:pt x="145761" y="621212"/>
                  </a:lnTo>
                  <a:lnTo>
                    <a:pt x="110057" y="592775"/>
                  </a:lnTo>
                  <a:lnTo>
                    <a:pt x="78490" y="559450"/>
                  </a:lnTo>
                  <a:lnTo>
                    <a:pt x="51552" y="521762"/>
                  </a:lnTo>
                  <a:lnTo>
                    <a:pt x="29740" y="480232"/>
                  </a:lnTo>
                  <a:lnTo>
                    <a:pt x="13547" y="435383"/>
                  </a:lnTo>
                  <a:lnTo>
                    <a:pt x="3469" y="387738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23160" y="1005839"/>
            <a:ext cx="2011680" cy="1737360"/>
          </a:xfrm>
          <a:prstGeom prst="rect">
            <a:avLst/>
          </a:prstGeom>
          <a:ln w="19050">
            <a:solidFill>
              <a:srgbClr val="8A5CF6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985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sz="13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Consistency</a:t>
            </a:r>
            <a:endParaRPr sz="1300">
              <a:latin typeface="Times New Roman"/>
              <a:cs typeface="Times New Roman"/>
            </a:endParaRPr>
          </a:p>
          <a:p>
            <a:pPr marL="151130" marR="144145" indent="-635" algn="ctr">
              <a:lnSpc>
                <a:spcPct val="100000"/>
              </a:lnSpc>
              <a:spcBef>
                <a:spcPts val="30"/>
              </a:spcBef>
            </a:pP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Database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moves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from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one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valid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state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another.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never</a:t>
            </a:r>
            <a:r>
              <a:rPr sz="10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goes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negative;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is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never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created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without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deduction.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0" y="1005839"/>
            <a:ext cx="2011680" cy="1737360"/>
            <a:chOff x="4572000" y="1005839"/>
            <a:chExt cx="2011680" cy="1737360"/>
          </a:xfrm>
        </p:grpSpPr>
        <p:sp>
          <p:nvSpPr>
            <p:cNvPr id="18" name="object 18"/>
            <p:cNvSpPr/>
            <p:nvPr/>
          </p:nvSpPr>
          <p:spPr>
            <a:xfrm>
              <a:off x="457200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79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79" y="1737360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5780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39" y="3663"/>
                  </a:lnTo>
                  <a:lnTo>
                    <a:pt x="227596" y="14303"/>
                  </a:lnTo>
                  <a:lnTo>
                    <a:pt x="185105" y="31399"/>
                  </a:lnTo>
                  <a:lnTo>
                    <a:pt x="145761" y="54427"/>
                  </a:lnTo>
                  <a:lnTo>
                    <a:pt x="110057" y="82864"/>
                  </a:lnTo>
                  <a:lnTo>
                    <a:pt x="78490" y="116189"/>
                  </a:lnTo>
                  <a:lnTo>
                    <a:pt x="51552" y="153877"/>
                  </a:lnTo>
                  <a:lnTo>
                    <a:pt x="29740" y="195407"/>
                  </a:lnTo>
                  <a:lnTo>
                    <a:pt x="13547" y="240256"/>
                  </a:lnTo>
                  <a:lnTo>
                    <a:pt x="3469" y="287901"/>
                  </a:lnTo>
                  <a:lnTo>
                    <a:pt x="0" y="337820"/>
                  </a:lnTo>
                  <a:lnTo>
                    <a:pt x="3469" y="387738"/>
                  </a:lnTo>
                  <a:lnTo>
                    <a:pt x="13547" y="435383"/>
                  </a:lnTo>
                  <a:lnTo>
                    <a:pt x="29740" y="480232"/>
                  </a:lnTo>
                  <a:lnTo>
                    <a:pt x="51552" y="521762"/>
                  </a:lnTo>
                  <a:lnTo>
                    <a:pt x="78490" y="559450"/>
                  </a:lnTo>
                  <a:lnTo>
                    <a:pt x="110057" y="592775"/>
                  </a:lnTo>
                  <a:lnTo>
                    <a:pt x="145761" y="621212"/>
                  </a:lnTo>
                  <a:lnTo>
                    <a:pt x="185105" y="644240"/>
                  </a:lnTo>
                  <a:lnTo>
                    <a:pt x="227596" y="661336"/>
                  </a:lnTo>
                  <a:lnTo>
                    <a:pt x="272739" y="671976"/>
                  </a:lnTo>
                  <a:lnTo>
                    <a:pt x="320039" y="675640"/>
                  </a:lnTo>
                  <a:lnTo>
                    <a:pt x="367340" y="671976"/>
                  </a:lnTo>
                  <a:lnTo>
                    <a:pt x="412483" y="661336"/>
                  </a:lnTo>
                  <a:lnTo>
                    <a:pt x="454974" y="644240"/>
                  </a:lnTo>
                  <a:lnTo>
                    <a:pt x="494318" y="621212"/>
                  </a:lnTo>
                  <a:lnTo>
                    <a:pt x="530022" y="592775"/>
                  </a:lnTo>
                  <a:lnTo>
                    <a:pt x="561589" y="559450"/>
                  </a:lnTo>
                  <a:lnTo>
                    <a:pt x="588527" y="521762"/>
                  </a:lnTo>
                  <a:lnTo>
                    <a:pt x="610339" y="480232"/>
                  </a:lnTo>
                  <a:lnTo>
                    <a:pt x="626532" y="435383"/>
                  </a:lnTo>
                  <a:lnTo>
                    <a:pt x="636610" y="387738"/>
                  </a:lnTo>
                  <a:lnTo>
                    <a:pt x="640079" y="337820"/>
                  </a:lnTo>
                  <a:lnTo>
                    <a:pt x="636610" y="287901"/>
                  </a:lnTo>
                  <a:lnTo>
                    <a:pt x="626532" y="240256"/>
                  </a:lnTo>
                  <a:lnTo>
                    <a:pt x="610339" y="195407"/>
                  </a:lnTo>
                  <a:lnTo>
                    <a:pt x="588527" y="153877"/>
                  </a:lnTo>
                  <a:lnTo>
                    <a:pt x="561589" y="116189"/>
                  </a:lnTo>
                  <a:lnTo>
                    <a:pt x="530022" y="82864"/>
                  </a:lnTo>
                  <a:lnTo>
                    <a:pt x="494318" y="54427"/>
                  </a:lnTo>
                  <a:lnTo>
                    <a:pt x="454974" y="31399"/>
                  </a:lnTo>
                  <a:lnTo>
                    <a:pt x="412483" y="14303"/>
                  </a:lnTo>
                  <a:lnTo>
                    <a:pt x="367340" y="36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69" y="287901"/>
                  </a:lnTo>
                  <a:lnTo>
                    <a:pt x="13547" y="240256"/>
                  </a:lnTo>
                  <a:lnTo>
                    <a:pt x="29740" y="195407"/>
                  </a:lnTo>
                  <a:lnTo>
                    <a:pt x="51552" y="153877"/>
                  </a:lnTo>
                  <a:lnTo>
                    <a:pt x="78490" y="116189"/>
                  </a:lnTo>
                  <a:lnTo>
                    <a:pt x="110057" y="82864"/>
                  </a:lnTo>
                  <a:lnTo>
                    <a:pt x="145761" y="54427"/>
                  </a:lnTo>
                  <a:lnTo>
                    <a:pt x="185105" y="31399"/>
                  </a:lnTo>
                  <a:lnTo>
                    <a:pt x="227596" y="14303"/>
                  </a:lnTo>
                  <a:lnTo>
                    <a:pt x="272739" y="3663"/>
                  </a:lnTo>
                  <a:lnTo>
                    <a:pt x="320039" y="0"/>
                  </a:lnTo>
                  <a:lnTo>
                    <a:pt x="367340" y="3663"/>
                  </a:lnTo>
                  <a:lnTo>
                    <a:pt x="412483" y="14303"/>
                  </a:lnTo>
                  <a:lnTo>
                    <a:pt x="454974" y="31399"/>
                  </a:lnTo>
                  <a:lnTo>
                    <a:pt x="494318" y="54427"/>
                  </a:lnTo>
                  <a:lnTo>
                    <a:pt x="530022" y="82864"/>
                  </a:lnTo>
                  <a:lnTo>
                    <a:pt x="561589" y="116189"/>
                  </a:lnTo>
                  <a:lnTo>
                    <a:pt x="588527" y="153877"/>
                  </a:lnTo>
                  <a:lnTo>
                    <a:pt x="610339" y="195407"/>
                  </a:lnTo>
                  <a:lnTo>
                    <a:pt x="626532" y="240256"/>
                  </a:lnTo>
                  <a:lnTo>
                    <a:pt x="636610" y="287901"/>
                  </a:lnTo>
                  <a:lnTo>
                    <a:pt x="640079" y="337820"/>
                  </a:lnTo>
                  <a:lnTo>
                    <a:pt x="636610" y="387738"/>
                  </a:lnTo>
                  <a:lnTo>
                    <a:pt x="626532" y="435383"/>
                  </a:lnTo>
                  <a:lnTo>
                    <a:pt x="610339" y="480232"/>
                  </a:lnTo>
                  <a:lnTo>
                    <a:pt x="588527" y="521762"/>
                  </a:lnTo>
                  <a:lnTo>
                    <a:pt x="561589" y="559450"/>
                  </a:lnTo>
                  <a:lnTo>
                    <a:pt x="530022" y="592775"/>
                  </a:lnTo>
                  <a:lnTo>
                    <a:pt x="494318" y="621212"/>
                  </a:lnTo>
                  <a:lnTo>
                    <a:pt x="454974" y="644240"/>
                  </a:lnTo>
                  <a:lnTo>
                    <a:pt x="412483" y="661336"/>
                  </a:lnTo>
                  <a:lnTo>
                    <a:pt x="367340" y="671976"/>
                  </a:lnTo>
                  <a:lnTo>
                    <a:pt x="320039" y="675640"/>
                  </a:lnTo>
                  <a:lnTo>
                    <a:pt x="272739" y="671976"/>
                  </a:lnTo>
                  <a:lnTo>
                    <a:pt x="227596" y="661336"/>
                  </a:lnTo>
                  <a:lnTo>
                    <a:pt x="185105" y="644240"/>
                  </a:lnTo>
                  <a:lnTo>
                    <a:pt x="145761" y="621212"/>
                  </a:lnTo>
                  <a:lnTo>
                    <a:pt x="110057" y="592775"/>
                  </a:lnTo>
                  <a:lnTo>
                    <a:pt x="78490" y="559450"/>
                  </a:lnTo>
                  <a:lnTo>
                    <a:pt x="51552" y="521762"/>
                  </a:lnTo>
                  <a:lnTo>
                    <a:pt x="29740" y="480232"/>
                  </a:lnTo>
                  <a:lnTo>
                    <a:pt x="13547" y="435383"/>
                  </a:lnTo>
                  <a:lnTo>
                    <a:pt x="3469" y="387738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72000" y="1005839"/>
            <a:ext cx="2011680" cy="1737360"/>
          </a:xfrm>
          <a:prstGeom prst="rect">
            <a:avLst/>
          </a:prstGeom>
          <a:ln w="19050">
            <a:solidFill>
              <a:srgbClr val="0FB881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85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2325"/>
              </a:spcBef>
            </a:pPr>
            <a:r>
              <a:rPr sz="13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Isolation</a:t>
            </a:r>
            <a:endParaRPr sz="1300">
              <a:latin typeface="Times New Roman"/>
              <a:cs typeface="Times New Roman"/>
            </a:endParaRPr>
          </a:p>
          <a:p>
            <a:pPr marL="181610" marR="174625" indent="-635" algn="ctr">
              <a:lnSpc>
                <a:spcPct val="100000"/>
              </a:lnSpc>
              <a:spcBef>
                <a:spcPts val="30"/>
              </a:spcBef>
            </a:pP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Concurrent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transactions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don't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interfere.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Spring</a:t>
            </a:r>
            <a:r>
              <a:rPr sz="10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uses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default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READ_COMMITTED</a:t>
            </a:r>
            <a:r>
              <a:rPr sz="1000" spc="-6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isolation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preventing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dirty</a:t>
            </a:r>
            <a:r>
              <a:rPr sz="10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reads.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20840" y="1005839"/>
            <a:ext cx="2011680" cy="1737360"/>
            <a:chOff x="6720840" y="1005839"/>
            <a:chExt cx="2011680" cy="1737360"/>
          </a:xfrm>
        </p:grpSpPr>
        <p:sp>
          <p:nvSpPr>
            <p:cNvPr id="23" name="object 23"/>
            <p:cNvSpPr/>
            <p:nvPr/>
          </p:nvSpPr>
          <p:spPr>
            <a:xfrm>
              <a:off x="6720840" y="1005839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2011679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011679" y="1737360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0664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320039" y="0"/>
                  </a:moveTo>
                  <a:lnTo>
                    <a:pt x="272739" y="3663"/>
                  </a:lnTo>
                  <a:lnTo>
                    <a:pt x="227596" y="14303"/>
                  </a:lnTo>
                  <a:lnTo>
                    <a:pt x="185105" y="31399"/>
                  </a:lnTo>
                  <a:lnTo>
                    <a:pt x="145761" y="54427"/>
                  </a:lnTo>
                  <a:lnTo>
                    <a:pt x="110057" y="82864"/>
                  </a:lnTo>
                  <a:lnTo>
                    <a:pt x="78490" y="116189"/>
                  </a:lnTo>
                  <a:lnTo>
                    <a:pt x="51552" y="153877"/>
                  </a:lnTo>
                  <a:lnTo>
                    <a:pt x="29740" y="195407"/>
                  </a:lnTo>
                  <a:lnTo>
                    <a:pt x="13547" y="240256"/>
                  </a:lnTo>
                  <a:lnTo>
                    <a:pt x="3469" y="287901"/>
                  </a:lnTo>
                  <a:lnTo>
                    <a:pt x="0" y="337820"/>
                  </a:lnTo>
                  <a:lnTo>
                    <a:pt x="3469" y="387738"/>
                  </a:lnTo>
                  <a:lnTo>
                    <a:pt x="13547" y="435383"/>
                  </a:lnTo>
                  <a:lnTo>
                    <a:pt x="29740" y="480232"/>
                  </a:lnTo>
                  <a:lnTo>
                    <a:pt x="51552" y="521762"/>
                  </a:lnTo>
                  <a:lnTo>
                    <a:pt x="78490" y="559450"/>
                  </a:lnTo>
                  <a:lnTo>
                    <a:pt x="110057" y="592775"/>
                  </a:lnTo>
                  <a:lnTo>
                    <a:pt x="145761" y="621212"/>
                  </a:lnTo>
                  <a:lnTo>
                    <a:pt x="185105" y="644240"/>
                  </a:lnTo>
                  <a:lnTo>
                    <a:pt x="227596" y="661336"/>
                  </a:lnTo>
                  <a:lnTo>
                    <a:pt x="272739" y="671976"/>
                  </a:lnTo>
                  <a:lnTo>
                    <a:pt x="320039" y="675640"/>
                  </a:lnTo>
                  <a:lnTo>
                    <a:pt x="367340" y="671976"/>
                  </a:lnTo>
                  <a:lnTo>
                    <a:pt x="412483" y="661336"/>
                  </a:lnTo>
                  <a:lnTo>
                    <a:pt x="454974" y="644240"/>
                  </a:lnTo>
                  <a:lnTo>
                    <a:pt x="494318" y="621212"/>
                  </a:lnTo>
                  <a:lnTo>
                    <a:pt x="530022" y="592775"/>
                  </a:lnTo>
                  <a:lnTo>
                    <a:pt x="561589" y="559450"/>
                  </a:lnTo>
                  <a:lnTo>
                    <a:pt x="588527" y="521762"/>
                  </a:lnTo>
                  <a:lnTo>
                    <a:pt x="610339" y="480232"/>
                  </a:lnTo>
                  <a:lnTo>
                    <a:pt x="626532" y="435383"/>
                  </a:lnTo>
                  <a:lnTo>
                    <a:pt x="636610" y="387738"/>
                  </a:lnTo>
                  <a:lnTo>
                    <a:pt x="640079" y="337820"/>
                  </a:lnTo>
                  <a:lnTo>
                    <a:pt x="636610" y="287901"/>
                  </a:lnTo>
                  <a:lnTo>
                    <a:pt x="626532" y="240256"/>
                  </a:lnTo>
                  <a:lnTo>
                    <a:pt x="610339" y="195407"/>
                  </a:lnTo>
                  <a:lnTo>
                    <a:pt x="588527" y="153877"/>
                  </a:lnTo>
                  <a:lnTo>
                    <a:pt x="561589" y="116189"/>
                  </a:lnTo>
                  <a:lnTo>
                    <a:pt x="530022" y="82864"/>
                  </a:lnTo>
                  <a:lnTo>
                    <a:pt x="494318" y="54427"/>
                  </a:lnTo>
                  <a:lnTo>
                    <a:pt x="454974" y="31399"/>
                  </a:lnTo>
                  <a:lnTo>
                    <a:pt x="412483" y="14303"/>
                  </a:lnTo>
                  <a:lnTo>
                    <a:pt x="367340" y="3663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06640" y="1097279"/>
              <a:ext cx="640080" cy="675640"/>
            </a:xfrm>
            <a:custGeom>
              <a:avLst/>
              <a:gdLst/>
              <a:ahLst/>
              <a:cxnLst/>
              <a:rect l="l" t="t" r="r" b="b"/>
              <a:pathLst>
                <a:path w="640079" h="675639">
                  <a:moveTo>
                    <a:pt x="0" y="337820"/>
                  </a:moveTo>
                  <a:lnTo>
                    <a:pt x="3469" y="287901"/>
                  </a:lnTo>
                  <a:lnTo>
                    <a:pt x="13547" y="240256"/>
                  </a:lnTo>
                  <a:lnTo>
                    <a:pt x="29740" y="195407"/>
                  </a:lnTo>
                  <a:lnTo>
                    <a:pt x="51552" y="153877"/>
                  </a:lnTo>
                  <a:lnTo>
                    <a:pt x="78490" y="116189"/>
                  </a:lnTo>
                  <a:lnTo>
                    <a:pt x="110057" y="82864"/>
                  </a:lnTo>
                  <a:lnTo>
                    <a:pt x="145761" y="54427"/>
                  </a:lnTo>
                  <a:lnTo>
                    <a:pt x="185105" y="31399"/>
                  </a:lnTo>
                  <a:lnTo>
                    <a:pt x="227596" y="14303"/>
                  </a:lnTo>
                  <a:lnTo>
                    <a:pt x="272739" y="3663"/>
                  </a:lnTo>
                  <a:lnTo>
                    <a:pt x="320039" y="0"/>
                  </a:lnTo>
                  <a:lnTo>
                    <a:pt x="367340" y="3663"/>
                  </a:lnTo>
                  <a:lnTo>
                    <a:pt x="412483" y="14303"/>
                  </a:lnTo>
                  <a:lnTo>
                    <a:pt x="454974" y="31399"/>
                  </a:lnTo>
                  <a:lnTo>
                    <a:pt x="494318" y="54427"/>
                  </a:lnTo>
                  <a:lnTo>
                    <a:pt x="530022" y="82864"/>
                  </a:lnTo>
                  <a:lnTo>
                    <a:pt x="561589" y="116189"/>
                  </a:lnTo>
                  <a:lnTo>
                    <a:pt x="588527" y="153877"/>
                  </a:lnTo>
                  <a:lnTo>
                    <a:pt x="610339" y="195407"/>
                  </a:lnTo>
                  <a:lnTo>
                    <a:pt x="626532" y="240256"/>
                  </a:lnTo>
                  <a:lnTo>
                    <a:pt x="636610" y="287901"/>
                  </a:lnTo>
                  <a:lnTo>
                    <a:pt x="640079" y="337820"/>
                  </a:lnTo>
                  <a:lnTo>
                    <a:pt x="636610" y="387738"/>
                  </a:lnTo>
                  <a:lnTo>
                    <a:pt x="626532" y="435383"/>
                  </a:lnTo>
                  <a:lnTo>
                    <a:pt x="610339" y="480232"/>
                  </a:lnTo>
                  <a:lnTo>
                    <a:pt x="588527" y="521762"/>
                  </a:lnTo>
                  <a:lnTo>
                    <a:pt x="561589" y="559450"/>
                  </a:lnTo>
                  <a:lnTo>
                    <a:pt x="530022" y="592775"/>
                  </a:lnTo>
                  <a:lnTo>
                    <a:pt x="494318" y="621212"/>
                  </a:lnTo>
                  <a:lnTo>
                    <a:pt x="454974" y="644240"/>
                  </a:lnTo>
                  <a:lnTo>
                    <a:pt x="412483" y="661336"/>
                  </a:lnTo>
                  <a:lnTo>
                    <a:pt x="367340" y="671976"/>
                  </a:lnTo>
                  <a:lnTo>
                    <a:pt x="320039" y="675640"/>
                  </a:lnTo>
                  <a:lnTo>
                    <a:pt x="272739" y="671976"/>
                  </a:lnTo>
                  <a:lnTo>
                    <a:pt x="227596" y="661336"/>
                  </a:lnTo>
                  <a:lnTo>
                    <a:pt x="185105" y="644240"/>
                  </a:lnTo>
                  <a:lnTo>
                    <a:pt x="145761" y="621212"/>
                  </a:lnTo>
                  <a:lnTo>
                    <a:pt x="110057" y="592775"/>
                  </a:lnTo>
                  <a:lnTo>
                    <a:pt x="78490" y="559450"/>
                  </a:lnTo>
                  <a:lnTo>
                    <a:pt x="51552" y="521762"/>
                  </a:lnTo>
                  <a:lnTo>
                    <a:pt x="29740" y="480232"/>
                  </a:lnTo>
                  <a:lnTo>
                    <a:pt x="13547" y="435383"/>
                  </a:lnTo>
                  <a:lnTo>
                    <a:pt x="3469" y="387738"/>
                  </a:lnTo>
                  <a:lnTo>
                    <a:pt x="0" y="337820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20840" y="1005839"/>
            <a:ext cx="2011680" cy="1737360"/>
          </a:xfrm>
          <a:prstGeom prst="rect">
            <a:avLst/>
          </a:prstGeom>
          <a:ln w="19050">
            <a:solidFill>
              <a:srgbClr val="F59E0A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985"/>
              </a:spcBef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sz="13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Durability</a:t>
            </a:r>
            <a:endParaRPr sz="1300">
              <a:latin typeface="Times New Roman"/>
              <a:cs typeface="Times New Roman"/>
            </a:endParaRPr>
          </a:p>
          <a:p>
            <a:pPr marL="123825" marR="116839" indent="1905" algn="ctr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Committed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transactions</a:t>
            </a:r>
            <a:r>
              <a:rPr sz="10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survive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crashes.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MySQL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InnoDB</a:t>
            </a:r>
            <a:r>
              <a:rPr sz="10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ensures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durability</a:t>
            </a:r>
            <a:r>
              <a:rPr sz="10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via</a:t>
            </a:r>
            <a:r>
              <a:rPr sz="10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93A2B8"/>
                </a:solidFill>
                <a:latin typeface="Times New Roman"/>
                <a:cs typeface="Times New Roman"/>
              </a:rPr>
              <a:t>write-</a:t>
            </a:r>
            <a:r>
              <a:rPr sz="1000" dirty="0">
                <a:solidFill>
                  <a:srgbClr val="93A2B8"/>
                </a:solidFill>
                <a:latin typeface="Times New Roman"/>
                <a:cs typeface="Times New Roman"/>
              </a:rPr>
              <a:t>ahead</a:t>
            </a:r>
            <a:r>
              <a:rPr sz="1000" spc="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93A2B8"/>
                </a:solidFill>
                <a:latin typeface="Times New Roman"/>
                <a:cs typeface="Times New Roman"/>
              </a:rPr>
              <a:t>logging.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6367" y="3230702"/>
            <a:ext cx="25457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FB881"/>
                </a:solidFill>
                <a:latin typeface="Times New Roman"/>
                <a:cs typeface="Times New Roman"/>
              </a:rPr>
              <a:t>Order</a:t>
            </a:r>
            <a:r>
              <a:rPr sz="1300" b="1" spc="-4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B881"/>
                </a:solidFill>
                <a:latin typeface="Times New Roman"/>
                <a:cs typeface="Times New Roman"/>
              </a:rPr>
              <a:t>Processing</a:t>
            </a:r>
            <a:r>
              <a:rPr sz="1300" b="1" spc="-5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B881"/>
                </a:solidFill>
                <a:latin typeface="Times New Roman"/>
                <a:cs typeface="Times New Roman"/>
              </a:rPr>
              <a:t>Transaction</a:t>
            </a:r>
            <a:r>
              <a:rPr sz="1300" b="1" spc="-3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Flow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8526" y="3591598"/>
            <a:ext cx="1247140" cy="515620"/>
            <a:chOff x="348526" y="3591598"/>
            <a:chExt cx="1247140" cy="515620"/>
          </a:xfrm>
        </p:grpSpPr>
        <p:sp>
          <p:nvSpPr>
            <p:cNvPr id="29" name="object 29"/>
            <p:cNvSpPr/>
            <p:nvPr/>
          </p:nvSpPr>
          <p:spPr>
            <a:xfrm>
              <a:off x="354876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4876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37387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6383" y="3680840"/>
            <a:ext cx="6121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BEGIN</a:t>
            </a:r>
            <a:endParaRPr sz="10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82927" y="3591598"/>
            <a:ext cx="1430020" cy="515620"/>
            <a:chOff x="1582927" y="3591598"/>
            <a:chExt cx="1430020" cy="515620"/>
          </a:xfrm>
        </p:grpSpPr>
        <p:sp>
          <p:nvSpPr>
            <p:cNvPr id="34" name="object 34"/>
            <p:cNvSpPr/>
            <p:nvPr/>
          </p:nvSpPr>
          <p:spPr>
            <a:xfrm>
              <a:off x="158927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18287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79" y="54863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8927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0" y="54863"/>
                  </a:moveTo>
                  <a:lnTo>
                    <a:pt x="182879" y="54863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7215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7215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854961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89048" y="3680840"/>
            <a:ext cx="4425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 marR="5080" indent="-7048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Validate Stock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00248" y="3591598"/>
            <a:ext cx="1430020" cy="515620"/>
            <a:chOff x="3000248" y="3591598"/>
            <a:chExt cx="1430020" cy="515620"/>
          </a:xfrm>
        </p:grpSpPr>
        <p:sp>
          <p:nvSpPr>
            <p:cNvPr id="41" name="object 41"/>
            <p:cNvSpPr/>
            <p:nvPr/>
          </p:nvSpPr>
          <p:spPr>
            <a:xfrm>
              <a:off x="3006598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18288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80" y="54863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06598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80" h="55245">
                  <a:moveTo>
                    <a:pt x="0" y="54863"/>
                  </a:moveTo>
                  <a:lnTo>
                    <a:pt x="182880" y="54863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8947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8947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9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272663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38626" y="3680840"/>
            <a:ext cx="378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080" indent="-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Deduct Stock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417567" y="3591598"/>
            <a:ext cx="1430020" cy="515620"/>
            <a:chOff x="4417567" y="3591598"/>
            <a:chExt cx="1430020" cy="515620"/>
          </a:xfrm>
        </p:grpSpPr>
        <p:sp>
          <p:nvSpPr>
            <p:cNvPr id="48" name="object 48"/>
            <p:cNvSpPr/>
            <p:nvPr/>
          </p:nvSpPr>
          <p:spPr>
            <a:xfrm>
              <a:off x="442391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79" y="54863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2391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3"/>
                  </a:moveTo>
                  <a:lnTo>
                    <a:pt x="182879" y="54863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0679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0679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39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9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689983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73090" y="3680840"/>
            <a:ext cx="343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1714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Create Order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834888" y="3591598"/>
            <a:ext cx="1430020" cy="515620"/>
            <a:chOff x="5834888" y="3591598"/>
            <a:chExt cx="1430020" cy="515620"/>
          </a:xfrm>
        </p:grpSpPr>
        <p:sp>
          <p:nvSpPr>
            <p:cNvPr id="55" name="object 55"/>
            <p:cNvSpPr/>
            <p:nvPr/>
          </p:nvSpPr>
          <p:spPr>
            <a:xfrm>
              <a:off x="5841238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79" y="54863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41238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3"/>
                  </a:moveTo>
                  <a:lnTo>
                    <a:pt x="182879" y="54863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02411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39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39" y="502920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24118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39" y="502920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699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107557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72377" y="3680840"/>
            <a:ext cx="3797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" marR="5080" indent="-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Update Ledger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252207" y="3591598"/>
            <a:ext cx="1430020" cy="515620"/>
            <a:chOff x="7252207" y="3591598"/>
            <a:chExt cx="1430020" cy="515620"/>
          </a:xfrm>
        </p:grpSpPr>
        <p:sp>
          <p:nvSpPr>
            <p:cNvPr id="62" name="object 62"/>
            <p:cNvSpPr/>
            <p:nvPr/>
          </p:nvSpPr>
          <p:spPr>
            <a:xfrm>
              <a:off x="725855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8287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82879" y="54863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93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258557" y="3817366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0" y="54863"/>
                  </a:moveTo>
                  <a:lnTo>
                    <a:pt x="182879" y="54863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93A2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44143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123444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34440" y="50292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41437" y="3597948"/>
              <a:ext cx="1234440" cy="502920"/>
            </a:xfrm>
            <a:custGeom>
              <a:avLst/>
              <a:gdLst/>
              <a:ahLst/>
              <a:cxnLst/>
              <a:rect l="l" t="t" r="r" b="b"/>
              <a:pathLst>
                <a:path w="1234440" h="502920">
                  <a:moveTo>
                    <a:pt x="0" y="502920"/>
                  </a:moveTo>
                  <a:lnTo>
                    <a:pt x="1234440" y="50292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525257" y="3725062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765668" y="3680840"/>
            <a:ext cx="8293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COMMIT</a:t>
            </a:r>
            <a:endParaRPr sz="10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 ROLLBACK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55297"/>
            <a:ext cx="4210050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>
                <a:solidFill>
                  <a:srgbClr val="000000"/>
                </a:solidFill>
              </a:rPr>
              <a:t>Execution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Flow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Step-by-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Step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Request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→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Response</a:t>
            </a:r>
            <a:r>
              <a:rPr sz="1300" b="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Journey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Through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the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879" y="987552"/>
            <a:ext cx="2057400" cy="1719580"/>
            <a:chOff x="182879" y="987552"/>
            <a:chExt cx="2057400" cy="1719580"/>
          </a:xfrm>
        </p:grpSpPr>
        <p:sp>
          <p:nvSpPr>
            <p:cNvPr id="4" name="object 4"/>
            <p:cNvSpPr/>
            <p:nvPr/>
          </p:nvSpPr>
          <p:spPr>
            <a:xfrm>
              <a:off x="182879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6111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6111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320040"/>
                  </a:moveTo>
                  <a:lnTo>
                    <a:pt x="3469" y="272739"/>
                  </a:lnTo>
                  <a:lnTo>
                    <a:pt x="13549" y="227596"/>
                  </a:lnTo>
                  <a:lnTo>
                    <a:pt x="29744" y="185105"/>
                  </a:lnTo>
                  <a:lnTo>
                    <a:pt x="51559" y="145761"/>
                  </a:lnTo>
                  <a:lnTo>
                    <a:pt x="78498" y="110057"/>
                  </a:lnTo>
                  <a:lnTo>
                    <a:pt x="110068" y="78490"/>
                  </a:lnTo>
                  <a:lnTo>
                    <a:pt x="145772" y="51552"/>
                  </a:lnTo>
                  <a:lnTo>
                    <a:pt x="185116" y="29740"/>
                  </a:lnTo>
                  <a:lnTo>
                    <a:pt x="227606" y="13547"/>
                  </a:lnTo>
                  <a:lnTo>
                    <a:pt x="272745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80"/>
                  </a:lnTo>
                  <a:lnTo>
                    <a:pt x="272745" y="636610"/>
                  </a:lnTo>
                  <a:lnTo>
                    <a:pt x="227606" y="626532"/>
                  </a:lnTo>
                  <a:lnTo>
                    <a:pt x="185116" y="610339"/>
                  </a:lnTo>
                  <a:lnTo>
                    <a:pt x="145772" y="588527"/>
                  </a:lnTo>
                  <a:lnTo>
                    <a:pt x="110068" y="561589"/>
                  </a:lnTo>
                  <a:lnTo>
                    <a:pt x="78498" y="530022"/>
                  </a:lnTo>
                  <a:lnTo>
                    <a:pt x="51559" y="494318"/>
                  </a:lnTo>
                  <a:lnTo>
                    <a:pt x="29744" y="454974"/>
                  </a:lnTo>
                  <a:lnTo>
                    <a:pt x="13549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2879" y="987552"/>
            <a:ext cx="2057400" cy="1719580"/>
          </a:xfrm>
          <a:prstGeom prst="rect">
            <a:avLst/>
          </a:prstGeom>
          <a:ln w="15239">
            <a:solidFill>
              <a:srgbClr val="0891B1"/>
            </a:solidFill>
          </a:ln>
        </p:spPr>
        <p:txBody>
          <a:bodyPr vert="horz" wrap="square" lIns="0" tIns="26860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11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  <a:spcBef>
                <a:spcPts val="2295"/>
              </a:spcBef>
            </a:pP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User</a:t>
            </a:r>
            <a:r>
              <a:rPr sz="1200" b="1" spc="-1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Action</a:t>
            </a:r>
            <a:endParaRPr sz="1200">
              <a:latin typeface="Times New Roman"/>
              <a:cs typeface="Times New Roman"/>
            </a:endParaRPr>
          </a:p>
          <a:p>
            <a:pPr marL="147955" marR="142875" indent="-1905" algn="ctr">
              <a:lnSpc>
                <a:spcPct val="100000"/>
              </a:lnSpc>
              <a:spcBef>
                <a:spcPts val="88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User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 submits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'Create</a:t>
            </a:r>
            <a:r>
              <a:rPr sz="95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Order'</a:t>
            </a:r>
            <a:r>
              <a:rPr sz="9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form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in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browser.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HTTP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POST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/orders/create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with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form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data.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04872" y="987552"/>
            <a:ext cx="2057400" cy="1719580"/>
            <a:chOff x="2404872" y="987552"/>
            <a:chExt cx="2057400" cy="1719580"/>
          </a:xfrm>
        </p:grpSpPr>
        <p:sp>
          <p:nvSpPr>
            <p:cNvPr id="9" name="object 9"/>
            <p:cNvSpPr/>
            <p:nvPr/>
          </p:nvSpPr>
          <p:spPr>
            <a:xfrm>
              <a:off x="2404872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18104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5B6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18104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5B6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04872" y="987552"/>
            <a:ext cx="2057400" cy="1719580"/>
          </a:xfrm>
          <a:prstGeom prst="rect">
            <a:avLst/>
          </a:prstGeom>
          <a:ln w="15240">
            <a:solidFill>
              <a:srgbClr val="05B6D3"/>
            </a:solidFill>
          </a:ln>
        </p:spPr>
        <p:txBody>
          <a:bodyPr vert="horz" wrap="square" lIns="0" tIns="26860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211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  <a:spcBef>
                <a:spcPts val="2295"/>
              </a:spcBef>
            </a:pPr>
            <a:r>
              <a:rPr sz="1200" b="1" spc="-10" dirty="0">
                <a:solidFill>
                  <a:srgbClr val="05B6D3"/>
                </a:solidFill>
                <a:latin typeface="Times New Roman"/>
                <a:cs typeface="Times New Roman"/>
              </a:rPr>
              <a:t>DispatcherServlet</a:t>
            </a:r>
            <a:endParaRPr sz="1200">
              <a:latin typeface="Times New Roman"/>
              <a:cs typeface="Times New Roman"/>
            </a:endParaRPr>
          </a:p>
          <a:p>
            <a:pPr marL="113030" marR="107314" algn="ctr">
              <a:lnSpc>
                <a:spcPct val="100000"/>
              </a:lnSpc>
              <a:spcBef>
                <a:spcPts val="309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Spring's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front</a:t>
            </a:r>
            <a:r>
              <a:rPr sz="950" spc="-5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controller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intercepts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the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request,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identifies</a:t>
            </a:r>
            <a:r>
              <a:rPr sz="95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matching @RequestMapping</a:t>
            </a:r>
            <a:r>
              <a:rPr sz="950" spc="7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in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OrderController.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26864" y="987552"/>
            <a:ext cx="2057400" cy="1719580"/>
            <a:chOff x="4626864" y="987552"/>
            <a:chExt cx="2057400" cy="1719580"/>
          </a:xfrm>
        </p:grpSpPr>
        <p:sp>
          <p:nvSpPr>
            <p:cNvPr id="14" name="object 14"/>
            <p:cNvSpPr/>
            <p:nvPr/>
          </p:nvSpPr>
          <p:spPr>
            <a:xfrm>
              <a:off x="4626864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399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399" y="1719072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40096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40096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26864" y="987552"/>
            <a:ext cx="2057400" cy="1719580"/>
          </a:xfrm>
          <a:prstGeom prst="rect">
            <a:avLst/>
          </a:prstGeom>
          <a:ln w="15240">
            <a:solidFill>
              <a:srgbClr val="8A5CF6"/>
            </a:solidFill>
          </a:ln>
        </p:spPr>
        <p:txBody>
          <a:bodyPr vert="horz" wrap="square" lIns="0" tIns="26860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211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  <a:spcBef>
                <a:spcPts val="2295"/>
              </a:spcBef>
            </a:pPr>
            <a:r>
              <a:rPr sz="1200" b="1" dirty="0">
                <a:solidFill>
                  <a:srgbClr val="8A5CF6"/>
                </a:solidFill>
                <a:latin typeface="Times New Roman"/>
                <a:cs typeface="Times New Roman"/>
              </a:rPr>
              <a:t>Controller</a:t>
            </a:r>
            <a:r>
              <a:rPr sz="1200" b="1" spc="-7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Processes</a:t>
            </a:r>
            <a:endParaRPr sz="1200">
              <a:latin typeface="Times New Roman"/>
              <a:cs typeface="Times New Roman"/>
            </a:endParaRPr>
          </a:p>
          <a:p>
            <a:pPr marL="213360" marR="203835" indent="-2540" algn="ctr">
              <a:lnSpc>
                <a:spcPct val="100000"/>
              </a:lnSpc>
              <a:spcBef>
                <a:spcPts val="309"/>
              </a:spcBef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OrderController</a:t>
            </a:r>
            <a:r>
              <a:rPr sz="950" spc="8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validates @ModelAttribute</a:t>
            </a:r>
            <a:r>
              <a:rPr sz="95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OrderDTO</a:t>
            </a:r>
            <a:r>
              <a:rPr sz="950" spc="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via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@Valid.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On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error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→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returns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form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view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with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BindingResult.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48856" y="987552"/>
            <a:ext cx="2057400" cy="1719580"/>
            <a:chOff x="6848856" y="987552"/>
            <a:chExt cx="2057400" cy="1719580"/>
          </a:xfrm>
        </p:grpSpPr>
        <p:sp>
          <p:nvSpPr>
            <p:cNvPr id="19" name="object 19"/>
            <p:cNvSpPr/>
            <p:nvPr/>
          </p:nvSpPr>
          <p:spPr>
            <a:xfrm>
              <a:off x="6848856" y="98755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80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62088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62088" y="10972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48856" y="987552"/>
            <a:ext cx="2057400" cy="1719580"/>
          </a:xfrm>
          <a:prstGeom prst="rect">
            <a:avLst/>
          </a:prstGeom>
          <a:ln w="15240">
            <a:solidFill>
              <a:srgbClr val="0FB881"/>
            </a:solidFill>
          </a:ln>
        </p:spPr>
        <p:txBody>
          <a:bodyPr vert="horz" wrap="square" lIns="0" tIns="268605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2115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2295"/>
              </a:spcBef>
            </a:pPr>
            <a:r>
              <a:rPr sz="1200" b="1" dirty="0">
                <a:solidFill>
                  <a:srgbClr val="0FB881"/>
                </a:solidFill>
                <a:latin typeface="Times New Roman"/>
                <a:cs typeface="Times New Roman"/>
              </a:rPr>
              <a:t>Service</a:t>
            </a:r>
            <a:r>
              <a:rPr sz="1200" b="1" spc="-3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Invoked</a:t>
            </a:r>
            <a:endParaRPr sz="1200">
              <a:latin typeface="Times New Roman"/>
              <a:cs typeface="Times New Roman"/>
            </a:endParaRPr>
          </a:p>
          <a:p>
            <a:pPr marL="252729" marR="245110" indent="-1270" algn="ctr">
              <a:lnSpc>
                <a:spcPct val="100000"/>
              </a:lnSpc>
              <a:spcBef>
                <a:spcPts val="309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Controller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calls orderService.processOrder(dto).</a:t>
            </a: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Spring</a:t>
            </a:r>
            <a:r>
              <a:rPr sz="9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opens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@Transactional</a:t>
            </a:r>
            <a:r>
              <a:rPr sz="950" spc="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context</a:t>
            </a: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here.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2879" y="2907792"/>
            <a:ext cx="2057400" cy="1719580"/>
            <a:chOff x="182879" y="2907792"/>
            <a:chExt cx="2057400" cy="1719580"/>
          </a:xfrm>
        </p:grpSpPr>
        <p:sp>
          <p:nvSpPr>
            <p:cNvPr id="24" name="object 24"/>
            <p:cNvSpPr/>
            <p:nvPr/>
          </p:nvSpPr>
          <p:spPr>
            <a:xfrm>
              <a:off x="182879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6111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6111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9" y="227596"/>
                  </a:lnTo>
                  <a:lnTo>
                    <a:pt x="29744" y="185105"/>
                  </a:lnTo>
                  <a:lnTo>
                    <a:pt x="51559" y="145761"/>
                  </a:lnTo>
                  <a:lnTo>
                    <a:pt x="78498" y="110057"/>
                  </a:lnTo>
                  <a:lnTo>
                    <a:pt x="110068" y="78490"/>
                  </a:lnTo>
                  <a:lnTo>
                    <a:pt x="145772" y="51552"/>
                  </a:lnTo>
                  <a:lnTo>
                    <a:pt x="185116" y="29740"/>
                  </a:lnTo>
                  <a:lnTo>
                    <a:pt x="227606" y="13547"/>
                  </a:lnTo>
                  <a:lnTo>
                    <a:pt x="272745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80"/>
                  </a:lnTo>
                  <a:lnTo>
                    <a:pt x="272745" y="636610"/>
                  </a:lnTo>
                  <a:lnTo>
                    <a:pt x="227606" y="626532"/>
                  </a:lnTo>
                  <a:lnTo>
                    <a:pt x="185116" y="610339"/>
                  </a:lnTo>
                  <a:lnTo>
                    <a:pt x="145772" y="588527"/>
                  </a:lnTo>
                  <a:lnTo>
                    <a:pt x="110068" y="561589"/>
                  </a:lnTo>
                  <a:lnTo>
                    <a:pt x="78498" y="530022"/>
                  </a:lnTo>
                  <a:lnTo>
                    <a:pt x="51559" y="494318"/>
                  </a:lnTo>
                  <a:lnTo>
                    <a:pt x="29744" y="454974"/>
                  </a:lnTo>
                  <a:lnTo>
                    <a:pt x="13549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2879" y="2907792"/>
            <a:ext cx="2057400" cy="1719580"/>
          </a:xfrm>
          <a:prstGeom prst="rect">
            <a:avLst/>
          </a:prstGeom>
          <a:ln w="15239">
            <a:solidFill>
              <a:srgbClr val="F87316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12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2290"/>
              </a:spcBef>
            </a:pP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Business</a:t>
            </a:r>
            <a:r>
              <a:rPr sz="1200" b="1" spc="-5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Logic</a:t>
            </a:r>
            <a:endParaRPr sz="1200">
              <a:latin typeface="Times New Roman"/>
              <a:cs typeface="Times New Roman"/>
            </a:endParaRPr>
          </a:p>
          <a:p>
            <a:pPr marL="109855" marR="106680" indent="635" algn="ctr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Service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checks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availability,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deducts</a:t>
            </a:r>
            <a:r>
              <a:rPr sz="95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quantity,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creates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entity,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updates</a:t>
            </a:r>
            <a:r>
              <a:rPr sz="950" spc="-6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StockMovement,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calls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threshold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evaluator.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04872" y="2907792"/>
            <a:ext cx="2057400" cy="1719580"/>
            <a:chOff x="2404872" y="2907792"/>
            <a:chExt cx="2057400" cy="1719580"/>
          </a:xfrm>
        </p:grpSpPr>
        <p:sp>
          <p:nvSpPr>
            <p:cNvPr id="29" name="object 29"/>
            <p:cNvSpPr/>
            <p:nvPr/>
          </p:nvSpPr>
          <p:spPr>
            <a:xfrm>
              <a:off x="2404872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18104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18104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404872" y="2907792"/>
            <a:ext cx="2057400" cy="1719580"/>
          </a:xfrm>
          <a:prstGeom prst="rect">
            <a:avLst/>
          </a:prstGeom>
          <a:ln w="15240">
            <a:solidFill>
              <a:srgbClr val="F59E0A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212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 marL="8890" algn="ctr">
              <a:lnSpc>
                <a:spcPct val="100000"/>
              </a:lnSpc>
              <a:spcBef>
                <a:spcPts val="2290"/>
              </a:spcBef>
            </a:pPr>
            <a:r>
              <a:rPr sz="1200" b="1" dirty="0">
                <a:solidFill>
                  <a:srgbClr val="F59E0A"/>
                </a:solidFill>
                <a:latin typeface="Times New Roman"/>
                <a:cs typeface="Times New Roman"/>
              </a:rPr>
              <a:t>Repository</a:t>
            </a:r>
            <a:r>
              <a:rPr sz="1200" b="1" spc="-50" dirty="0">
                <a:solidFill>
                  <a:srgbClr val="F59E0A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Saves</a:t>
            </a:r>
            <a:endParaRPr sz="1200">
              <a:latin typeface="Times New Roman"/>
              <a:cs typeface="Times New Roman"/>
            </a:endParaRPr>
          </a:p>
          <a:p>
            <a:pPr marL="114935" marR="106680" indent="-4445" algn="ctr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JPA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repositories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persist</a:t>
            </a:r>
            <a:r>
              <a:rPr sz="95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50" dirty="0">
                <a:solidFill>
                  <a:srgbClr val="93A2B8"/>
                </a:solidFill>
                <a:latin typeface="Times New Roman"/>
                <a:cs typeface="Times New Roman"/>
              </a:rPr>
              <a:t>+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 StockMovement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entities.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Hibernate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generates</a:t>
            </a:r>
            <a:r>
              <a:rPr sz="95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INSERT/UPDATE</a:t>
            </a:r>
            <a:r>
              <a:rPr sz="95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SQL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on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MySQL.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26864" y="2907792"/>
            <a:ext cx="2057400" cy="1719580"/>
            <a:chOff x="4626864" y="2907792"/>
            <a:chExt cx="2057400" cy="1719580"/>
          </a:xfrm>
        </p:grpSpPr>
        <p:sp>
          <p:nvSpPr>
            <p:cNvPr id="34" name="object 34"/>
            <p:cNvSpPr/>
            <p:nvPr/>
          </p:nvSpPr>
          <p:spPr>
            <a:xfrm>
              <a:off x="4626864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399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399" y="1719072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40096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40096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626864" y="2907792"/>
            <a:ext cx="2057400" cy="1719580"/>
          </a:xfrm>
          <a:prstGeom prst="rect">
            <a:avLst/>
          </a:prstGeom>
          <a:ln w="15240">
            <a:solidFill>
              <a:srgbClr val="0FB881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212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2290"/>
              </a:spcBef>
            </a:pPr>
            <a:r>
              <a:rPr sz="12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Transaction</a:t>
            </a:r>
            <a:r>
              <a:rPr sz="1200" b="1" spc="-40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FB881"/>
                </a:solidFill>
                <a:latin typeface="Times New Roman"/>
                <a:cs typeface="Times New Roman"/>
              </a:rPr>
              <a:t>Committed</a:t>
            </a:r>
            <a:endParaRPr sz="1200">
              <a:latin typeface="Times New Roman"/>
              <a:cs typeface="Times New Roman"/>
            </a:endParaRPr>
          </a:p>
          <a:p>
            <a:pPr marL="138430" marR="127000" indent="-5080" algn="just">
              <a:lnSpc>
                <a:spcPct val="100000"/>
              </a:lnSpc>
              <a:spcBef>
                <a:spcPts val="88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All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DB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writes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committed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atomically.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If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any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step</a:t>
            </a:r>
            <a:r>
              <a:rPr sz="95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threw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RuntimeException,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full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rollback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would</a:t>
            </a:r>
            <a:r>
              <a:rPr sz="95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have</a:t>
            </a:r>
            <a:r>
              <a:rPr sz="9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occurred.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848856" y="2907792"/>
            <a:ext cx="2057400" cy="1719580"/>
            <a:chOff x="6848856" y="2907792"/>
            <a:chExt cx="2057400" cy="1719580"/>
          </a:xfrm>
        </p:grpSpPr>
        <p:sp>
          <p:nvSpPr>
            <p:cNvPr id="39" name="object 39"/>
            <p:cNvSpPr/>
            <p:nvPr/>
          </p:nvSpPr>
          <p:spPr>
            <a:xfrm>
              <a:off x="6848856" y="2907792"/>
              <a:ext cx="2057400" cy="1719580"/>
            </a:xfrm>
            <a:custGeom>
              <a:avLst/>
              <a:gdLst/>
              <a:ahLst/>
              <a:cxnLst/>
              <a:rect l="l" t="t" r="r" b="b"/>
              <a:pathLst>
                <a:path w="2057400" h="1719579">
                  <a:moveTo>
                    <a:pt x="2057400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2057400" y="171907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62088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80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62088" y="30175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320040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40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80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848856" y="2907792"/>
            <a:ext cx="2057400" cy="1719580"/>
          </a:xfrm>
          <a:prstGeom prst="rect">
            <a:avLst/>
          </a:prstGeom>
          <a:ln w="15240">
            <a:solidFill>
              <a:srgbClr val="0891B1"/>
            </a:solidFill>
          </a:ln>
        </p:spPr>
        <p:txBody>
          <a:bodyPr vert="horz" wrap="square" lIns="0" tIns="26924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212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2290"/>
              </a:spcBef>
            </a:pP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Response</a:t>
            </a:r>
            <a:r>
              <a:rPr sz="1200" b="1" spc="-6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Rendered</a:t>
            </a:r>
            <a:endParaRPr sz="1200">
              <a:latin typeface="Times New Roman"/>
              <a:cs typeface="Times New Roman"/>
            </a:endParaRPr>
          </a:p>
          <a:p>
            <a:pPr marL="106680" marR="99060" algn="ctr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Controller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adds</a:t>
            </a:r>
            <a:r>
              <a:rPr sz="95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success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flash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message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via</a:t>
            </a:r>
            <a:r>
              <a:rPr sz="950" spc="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RedirectAttributes,</a:t>
            </a:r>
            <a:r>
              <a:rPr sz="95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redirects</a:t>
            </a:r>
            <a:r>
              <a:rPr sz="95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25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endParaRPr sz="950">
              <a:latin typeface="Times New Roman"/>
              <a:cs typeface="Times New Roman"/>
            </a:endParaRPr>
          </a:p>
          <a:p>
            <a:pPr marL="109855" marR="104139" algn="ctr">
              <a:lnSpc>
                <a:spcPct val="100000"/>
              </a:lnSpc>
            </a:pP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/orders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—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Thymeleaf</a:t>
            </a:r>
            <a:r>
              <a:rPr sz="95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renders</a:t>
            </a:r>
            <a:r>
              <a:rPr sz="95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updated </a:t>
            </a:r>
            <a:r>
              <a:rPr sz="950" dirty="0">
                <a:solidFill>
                  <a:srgbClr val="93A2B8"/>
                </a:solidFill>
                <a:latin typeface="Times New Roman"/>
                <a:cs typeface="Times New Roman"/>
              </a:rPr>
              <a:t>order</a:t>
            </a:r>
            <a:r>
              <a:rPr sz="95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93A2B8"/>
                </a:solidFill>
                <a:latin typeface="Times New Roman"/>
                <a:cs typeface="Times New Roman"/>
              </a:rPr>
              <a:t>list.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spc="-10" dirty="0"/>
              <a:t>Approach?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2072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Design</a:t>
            </a:r>
            <a:r>
              <a:rPr sz="1300" i="1" spc="-4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Decisions</a:t>
            </a:r>
            <a:r>
              <a:rPr sz="1300" i="1" spc="-3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&amp;</a:t>
            </a:r>
            <a:r>
              <a:rPr sz="1300" i="1" spc="-3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Justification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785"/>
            <a:ext cx="8808085" cy="962660"/>
            <a:chOff x="137160" y="877785"/>
            <a:chExt cx="8808085" cy="962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785"/>
              <a:ext cx="8807958" cy="9624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9184" y="960119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8"/>
                  </a:moveTo>
                  <a:lnTo>
                    <a:pt x="8540496" y="749808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19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960119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4" y="74980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960119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4" y="74980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9184" y="960119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2240279" y="749808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0FB881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9184" y="960119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8779" y="1226565"/>
            <a:ext cx="1235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B881"/>
                </a:solidFill>
                <a:latin typeface="Times New Roman"/>
                <a:cs typeface="Times New Roman"/>
              </a:rPr>
              <a:t>Why</a:t>
            </a:r>
            <a:r>
              <a:rPr sz="12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FB881"/>
                </a:solidFill>
                <a:latin typeface="Times New Roman"/>
                <a:cs typeface="Times New Roman"/>
              </a:rPr>
              <a:t>Spring</a:t>
            </a:r>
            <a:r>
              <a:rPr sz="1200" b="1" spc="-25" dirty="0">
                <a:solidFill>
                  <a:srgbClr val="0FB881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Boot?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9314" y="1150365"/>
            <a:ext cx="586803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Spring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Boot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eliminates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XML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configuration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boilerplate,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auto-configures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embedded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Tomcat,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provides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production-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ready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features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(actuator,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security)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out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of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the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box —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significantly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reducing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development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7160" y="1719033"/>
            <a:ext cx="8808085" cy="962660"/>
            <a:chOff x="137160" y="1719033"/>
            <a:chExt cx="8808085" cy="9626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719033"/>
              <a:ext cx="8807958" cy="9624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9184" y="1801367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8"/>
                  </a:moveTo>
                  <a:lnTo>
                    <a:pt x="8540496" y="749808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801367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" y="1801367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4" y="74980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" y="1801367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4" y="74980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9184" y="1801367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2240279" y="749808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0891B1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9184" y="1801367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8779" y="1976754"/>
            <a:ext cx="1393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Why</a:t>
            </a:r>
            <a:r>
              <a:rPr sz="1200" b="1" spc="-7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891B1"/>
                </a:solidFill>
                <a:latin typeface="Times New Roman"/>
                <a:cs typeface="Times New Roman"/>
              </a:rPr>
              <a:t>Thymeleaf</a:t>
            </a:r>
            <a:r>
              <a:rPr sz="1200" b="1" spc="-1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0891B1"/>
                </a:solidFill>
                <a:latin typeface="Times New Roman"/>
                <a:cs typeface="Times New Roman"/>
              </a:rPr>
              <a:t>over </a:t>
            </a:r>
            <a:r>
              <a:rPr sz="12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React/Angular?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39314" y="1991995"/>
            <a:ext cx="61067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enterprise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MVC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application,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Thymeleaf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integrates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naturally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with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Spring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model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attributes.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No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separate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frontend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build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pipeline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needed.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Server-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side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rendering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ensures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SEO</a:t>
            </a:r>
            <a:r>
              <a:rPr sz="1100" spc="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immediate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page</a:t>
            </a:r>
            <a:r>
              <a:rPr sz="1100" spc="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consistency.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160" y="2560281"/>
            <a:ext cx="8808085" cy="962660"/>
            <a:chOff x="137160" y="2560281"/>
            <a:chExt cx="8808085" cy="96266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560281"/>
              <a:ext cx="8807958" cy="9624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29184" y="2642615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7"/>
                  </a:moveTo>
                  <a:lnTo>
                    <a:pt x="8540496" y="749807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20" y="2642615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7"/>
                  </a:moveTo>
                  <a:lnTo>
                    <a:pt x="8595360" y="74980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2642615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54864" y="74980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8A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4320" y="2642615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7"/>
                  </a:moveTo>
                  <a:lnTo>
                    <a:pt x="54864" y="749807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9184" y="2642615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2240279" y="749807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8A5CF6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9184" y="2642615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7"/>
                  </a:moveTo>
                  <a:lnTo>
                    <a:pt x="2240279" y="749807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8A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98779" y="2909697"/>
            <a:ext cx="185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A5CF6"/>
                </a:solidFill>
                <a:latin typeface="Times New Roman"/>
                <a:cs typeface="Times New Roman"/>
              </a:rPr>
              <a:t>Why</a:t>
            </a:r>
            <a:r>
              <a:rPr sz="1200" b="1" spc="-40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8A5CF6"/>
                </a:solidFill>
                <a:latin typeface="Times New Roman"/>
                <a:cs typeface="Times New Roman"/>
              </a:rPr>
              <a:t>Layered</a:t>
            </a:r>
            <a:r>
              <a:rPr sz="1200" b="1" spc="-15" dirty="0">
                <a:solidFill>
                  <a:srgbClr val="8A5CF6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8A5CF6"/>
                </a:solidFill>
                <a:latin typeface="Times New Roman"/>
                <a:cs typeface="Times New Roman"/>
              </a:rPr>
              <a:t>Architecture?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39314" y="2833497"/>
            <a:ext cx="60940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Strict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separation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of</a:t>
            </a:r>
            <a:r>
              <a:rPr sz="11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Controller/Service/Repository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layers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enforces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Single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Responsibility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Principle.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Each</a:t>
            </a:r>
            <a:r>
              <a:rPr sz="1100" spc="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can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be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unit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tested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independently,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business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logic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changes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don't ripple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to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presentation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layer.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37160" y="3401555"/>
            <a:ext cx="8808085" cy="962660"/>
            <a:chOff x="137160" y="3401555"/>
            <a:chExt cx="8808085" cy="962660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401555"/>
              <a:ext cx="8807958" cy="96244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9184" y="3483863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8"/>
                  </a:moveTo>
                  <a:lnTo>
                    <a:pt x="8540496" y="749808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" y="3483863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320" y="3483863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4" y="74980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" y="3483863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4" y="74980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9184" y="3483863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2240279" y="749808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F87316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9184" y="3483863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699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98779" y="3659885"/>
            <a:ext cx="1890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Why</a:t>
            </a:r>
            <a:r>
              <a:rPr sz="1200" b="1" spc="-4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@Transactional</a:t>
            </a:r>
            <a:r>
              <a:rPr sz="1200" b="1" spc="-3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87316"/>
                </a:solidFill>
                <a:latin typeface="Times New Roman"/>
                <a:cs typeface="Times New Roman"/>
              </a:rPr>
              <a:t>for</a:t>
            </a:r>
            <a:r>
              <a:rPr sz="1200" b="1" spc="-30" dirty="0">
                <a:solidFill>
                  <a:srgbClr val="F87316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F87316"/>
                </a:solidFill>
                <a:latin typeface="Times New Roman"/>
                <a:cs typeface="Times New Roman"/>
              </a:rPr>
              <a:t>All </a:t>
            </a:r>
            <a:r>
              <a:rPr sz="1200" b="1" spc="-10" dirty="0">
                <a:solidFill>
                  <a:srgbClr val="F87316"/>
                </a:solidFill>
                <a:latin typeface="Times New Roman"/>
                <a:cs typeface="Times New Roman"/>
              </a:rPr>
              <a:t>Operations?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39314" y="3675126"/>
            <a:ext cx="59658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Inventory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operations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inherently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involve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multiple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DB writes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(stock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+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order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+ ledger).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Without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atomicity,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a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server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crash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mid-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operation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would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leave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data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inconsistent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state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—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unacceptable</a:t>
            </a:r>
            <a:r>
              <a:rPr sz="1100" spc="-5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in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enterprise</a:t>
            </a:r>
            <a:r>
              <a:rPr sz="1100" spc="-4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37160" y="4242809"/>
            <a:ext cx="8808085" cy="901065"/>
            <a:chOff x="137160" y="4242809"/>
            <a:chExt cx="8808085" cy="901065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4242809"/>
              <a:ext cx="8807958" cy="90069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29184" y="4325111"/>
              <a:ext cx="8540750" cy="749935"/>
            </a:xfrm>
            <a:custGeom>
              <a:avLst/>
              <a:gdLst/>
              <a:ahLst/>
              <a:cxnLst/>
              <a:rect l="l" t="t" r="r" b="b"/>
              <a:pathLst>
                <a:path w="8540750" h="749935">
                  <a:moveTo>
                    <a:pt x="0" y="749808"/>
                  </a:moveTo>
                  <a:lnTo>
                    <a:pt x="8540496" y="749808"/>
                  </a:lnTo>
                  <a:lnTo>
                    <a:pt x="8540496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4320" y="4325111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0" y="749808"/>
                  </a:moveTo>
                  <a:lnTo>
                    <a:pt x="8595360" y="7498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4320" y="43251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54864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54864" y="74980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74320" y="4325111"/>
              <a:ext cx="55244" cy="749935"/>
            </a:xfrm>
            <a:custGeom>
              <a:avLst/>
              <a:gdLst/>
              <a:ahLst/>
              <a:cxnLst/>
              <a:rect l="l" t="t" r="r" b="b"/>
              <a:pathLst>
                <a:path w="55245" h="749935">
                  <a:moveTo>
                    <a:pt x="0" y="749808"/>
                  </a:moveTo>
                  <a:lnTo>
                    <a:pt x="54864" y="74980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9184" y="4325111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2240279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2240279" y="749808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EE4444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9184" y="4325111"/>
              <a:ext cx="2240280" cy="749935"/>
            </a:xfrm>
            <a:custGeom>
              <a:avLst/>
              <a:gdLst/>
              <a:ahLst/>
              <a:cxnLst/>
              <a:rect l="l" t="t" r="r" b="b"/>
              <a:pathLst>
                <a:path w="2240280" h="749935">
                  <a:moveTo>
                    <a:pt x="0" y="749808"/>
                  </a:moveTo>
                  <a:lnTo>
                    <a:pt x="2240279" y="749808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98779" y="4592218"/>
            <a:ext cx="1816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E4444"/>
                </a:solidFill>
                <a:latin typeface="Times New Roman"/>
                <a:cs typeface="Times New Roman"/>
              </a:rPr>
              <a:t>Why</a:t>
            </a:r>
            <a:r>
              <a:rPr sz="1200" b="1" spc="-30" dirty="0">
                <a:solidFill>
                  <a:srgbClr val="EE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E4444"/>
                </a:solidFill>
                <a:latin typeface="Times New Roman"/>
                <a:cs typeface="Times New Roman"/>
              </a:rPr>
              <a:t>a</a:t>
            </a:r>
            <a:r>
              <a:rPr sz="1200" b="1" spc="-10" dirty="0">
                <a:solidFill>
                  <a:srgbClr val="EE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E4444"/>
                </a:solidFill>
                <a:latin typeface="Times New Roman"/>
                <a:cs typeface="Times New Roman"/>
              </a:rPr>
              <a:t>Simulation</a:t>
            </a:r>
            <a:r>
              <a:rPr sz="1200" b="1" spc="-10" dirty="0">
                <a:solidFill>
                  <a:srgbClr val="EE4444"/>
                </a:solidFill>
                <a:latin typeface="Times New Roman"/>
                <a:cs typeface="Times New Roman"/>
              </a:rPr>
              <a:t> Module?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39314" y="4516018"/>
            <a:ext cx="566674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Real-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world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systems are</a:t>
            </a:r>
            <a:r>
              <a:rPr sz="1100" spc="-1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tested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under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load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before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production.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The simulation</a:t>
            </a:r>
            <a:r>
              <a:rPr sz="1100" spc="-3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module</a:t>
            </a:r>
            <a:r>
              <a:rPr sz="1100" spc="-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validates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behavior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under</a:t>
            </a:r>
            <a:r>
              <a:rPr sz="1100" spc="-2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concurrent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order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processing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ensures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threshold</a:t>
            </a:r>
            <a:r>
              <a:rPr sz="1100" spc="-5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logic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fires</a:t>
            </a:r>
            <a:r>
              <a:rPr sz="1100" spc="-3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correctly</a:t>
            </a:r>
            <a:r>
              <a:rPr sz="1100" spc="-40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E293A"/>
                </a:solidFill>
                <a:latin typeface="Times New Roman"/>
                <a:cs typeface="Times New Roman"/>
              </a:rPr>
              <a:t>at</a:t>
            </a:r>
            <a:r>
              <a:rPr sz="1100" spc="-25" dirty="0">
                <a:solidFill>
                  <a:srgbClr val="1E293A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Times New Roman"/>
                <a:cs typeface="Times New Roman"/>
              </a:rPr>
              <a:t>scale.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55297"/>
            <a:ext cx="4922520" cy="7924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pc="-10" dirty="0">
                <a:solidFill>
                  <a:srgbClr val="000000"/>
                </a:solidFill>
              </a:rPr>
              <a:t>Project</a:t>
            </a:r>
            <a:r>
              <a:rPr spc="-1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Achievements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&amp;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Outcomes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What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Was</a:t>
            </a:r>
            <a:r>
              <a:rPr sz="1300" b="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Delivered</a:t>
            </a:r>
            <a:r>
              <a:rPr sz="1300" b="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What</a:t>
            </a:r>
            <a:r>
              <a:rPr sz="1300" b="0" i="1" spc="-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Was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Learned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320" y="1005839"/>
            <a:ext cx="2011680" cy="1417320"/>
          </a:xfrm>
          <a:prstGeom prst="rect">
            <a:avLst/>
          </a:prstGeom>
          <a:solidFill>
            <a:srgbClr val="1B2A3D"/>
          </a:solidFill>
          <a:ln w="19050">
            <a:solidFill>
              <a:srgbClr val="0891B1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4000" b="1" spc="-25" dirty="0">
                <a:solidFill>
                  <a:srgbClr val="0891B1"/>
                </a:solidFill>
                <a:latin typeface="Times New Roman"/>
                <a:cs typeface="Times New Roman"/>
              </a:rPr>
              <a:t>7+</a:t>
            </a:r>
            <a:endParaRPr sz="4000">
              <a:latin typeface="Times New Roman"/>
              <a:cs typeface="Times New Roman"/>
            </a:endParaRPr>
          </a:p>
          <a:p>
            <a:pPr marL="606425" marR="598805" algn="ctr">
              <a:lnSpc>
                <a:spcPct val="100000"/>
              </a:lnSpc>
              <a:spcBef>
                <a:spcPts val="1425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Modules Delivered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3160" y="1005839"/>
            <a:ext cx="2011680" cy="1417320"/>
          </a:xfrm>
          <a:prstGeom prst="rect">
            <a:avLst/>
          </a:prstGeom>
          <a:solidFill>
            <a:srgbClr val="1B2A3D"/>
          </a:solidFill>
          <a:ln w="19050">
            <a:solidFill>
              <a:srgbClr val="0FB881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85"/>
              </a:spcBef>
            </a:pPr>
            <a:r>
              <a:rPr sz="4000" b="1" spc="-20" dirty="0">
                <a:solidFill>
                  <a:srgbClr val="0FB881"/>
                </a:solidFill>
                <a:latin typeface="Times New Roman"/>
                <a:cs typeface="Times New Roman"/>
              </a:rPr>
              <a:t>100%</a:t>
            </a:r>
            <a:endParaRPr sz="4000">
              <a:latin typeface="Times New Roman"/>
              <a:cs typeface="Times New Roman"/>
            </a:endParaRPr>
          </a:p>
          <a:p>
            <a:pPr marL="518159" marR="511809" algn="ctr">
              <a:lnSpc>
                <a:spcPct val="100000"/>
              </a:lnSpc>
              <a:spcBef>
                <a:spcPts val="1425"/>
              </a:spcBef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ACID-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Compliant Transactions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0" y="1005839"/>
            <a:ext cx="2011680" cy="1417320"/>
          </a:xfrm>
          <a:prstGeom prst="rect">
            <a:avLst/>
          </a:prstGeom>
          <a:solidFill>
            <a:srgbClr val="1B2A3D"/>
          </a:solidFill>
          <a:ln w="19050">
            <a:solidFill>
              <a:srgbClr val="8A5CF6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4000" b="1" spc="-50" dirty="0">
                <a:solidFill>
                  <a:srgbClr val="8A5CF6"/>
                </a:solidFill>
                <a:latin typeface="Times New Roman"/>
                <a:cs typeface="Times New Roman"/>
              </a:rPr>
              <a:t>3</a:t>
            </a:r>
            <a:endParaRPr sz="4000">
              <a:latin typeface="Times New Roman"/>
              <a:cs typeface="Times New Roman"/>
            </a:endParaRPr>
          </a:p>
          <a:p>
            <a:pPr marL="697230" marR="688340" algn="ctr">
              <a:lnSpc>
                <a:spcPct val="100000"/>
              </a:lnSpc>
              <a:spcBef>
                <a:spcPts val="1425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Roles (RBAC)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0840" y="1005839"/>
            <a:ext cx="2011680" cy="1417320"/>
          </a:xfrm>
          <a:prstGeom prst="rect">
            <a:avLst/>
          </a:prstGeom>
          <a:solidFill>
            <a:srgbClr val="1B2A3D"/>
          </a:solidFill>
          <a:ln w="19050">
            <a:solidFill>
              <a:srgbClr val="F87316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4000" b="1" spc="-50" dirty="0">
                <a:solidFill>
                  <a:srgbClr val="F87316"/>
                </a:solidFill>
                <a:latin typeface="Times New Roman"/>
                <a:cs typeface="Times New Roman"/>
              </a:rPr>
              <a:t>4</a:t>
            </a:r>
            <a:endParaRPr sz="4000">
              <a:latin typeface="Times New Roman"/>
              <a:cs typeface="Times New Roman"/>
            </a:endParaRPr>
          </a:p>
          <a:p>
            <a:pPr marL="656590" marR="647065" algn="ctr">
              <a:lnSpc>
                <a:spcPct val="100000"/>
              </a:lnSpc>
              <a:spcBef>
                <a:spcPts val="1425"/>
              </a:spcBef>
            </a:pP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 Layers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160" y="2523731"/>
            <a:ext cx="3001645" cy="2590165"/>
            <a:chOff x="137160" y="2523731"/>
            <a:chExt cx="3001645" cy="259016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523731"/>
              <a:ext cx="3001518" cy="259003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4320" y="2953511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0" y="2029968"/>
                  </a:moveTo>
                  <a:lnTo>
                    <a:pt x="2788920" y="2029968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20" y="2606039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4320" y="2606039"/>
            <a:ext cx="2788920" cy="347980"/>
          </a:xfrm>
          <a:prstGeom prst="rect">
            <a:avLst/>
          </a:prstGeom>
          <a:solidFill>
            <a:srgbClr val="0891B1"/>
          </a:solidFill>
          <a:ln w="12700">
            <a:solidFill>
              <a:srgbClr val="0891B1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Technical</a:t>
            </a:r>
            <a:r>
              <a:rPr sz="1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Skills</a:t>
            </a:r>
            <a:r>
              <a:rPr sz="1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Gained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2562" y="2523731"/>
            <a:ext cx="5632450" cy="2590165"/>
            <a:chOff x="432562" y="2523731"/>
            <a:chExt cx="5632450" cy="259016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62" y="3175761"/>
              <a:ext cx="122428" cy="1224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62" y="3578097"/>
              <a:ext cx="122428" cy="12242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562" y="4135881"/>
              <a:ext cx="122428" cy="1224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562" y="4607852"/>
              <a:ext cx="122428" cy="1224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0" y="2523731"/>
              <a:ext cx="3001517" cy="259003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200400" y="2953511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0" y="2029968"/>
                  </a:moveTo>
                  <a:lnTo>
                    <a:pt x="2788920" y="2029968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400" y="2606039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21791" y="3136773"/>
            <a:ext cx="2239010" cy="114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Spring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Boot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auto-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configuration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mastery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JPA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entity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relationships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(OneToMany,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ManyToOne)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@Transactional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rollback</a:t>
            </a:r>
            <a:r>
              <a:rPr sz="1100" spc="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handling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1791" y="4563262"/>
            <a:ext cx="17862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Thymeleaf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fragment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templating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00400" y="2606039"/>
            <a:ext cx="2788920" cy="347980"/>
          </a:xfrm>
          <a:prstGeom prst="rect">
            <a:avLst/>
          </a:prstGeom>
          <a:solidFill>
            <a:srgbClr val="0FB881"/>
          </a:solidFill>
          <a:ln w="12700">
            <a:solidFill>
              <a:srgbClr val="0FB881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12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sz="1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Delivered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52419" y="2523731"/>
            <a:ext cx="5638800" cy="2590165"/>
            <a:chOff x="3352419" y="2523731"/>
            <a:chExt cx="5638800" cy="259016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8642" y="3166617"/>
              <a:ext cx="122428" cy="1224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53689" y="3660393"/>
              <a:ext cx="122427" cy="1224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2419" y="4126014"/>
              <a:ext cx="122427" cy="12242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62960" y="4601502"/>
              <a:ext cx="122427" cy="1224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9320" y="2523731"/>
              <a:ext cx="3001518" cy="259003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126479" y="2953511"/>
              <a:ext cx="2788920" cy="2030095"/>
            </a:xfrm>
            <a:custGeom>
              <a:avLst/>
              <a:gdLst/>
              <a:ahLst/>
              <a:cxnLst/>
              <a:rect l="l" t="t" r="r" b="b"/>
              <a:pathLst>
                <a:path w="2788920" h="2030095">
                  <a:moveTo>
                    <a:pt x="0" y="2029968"/>
                  </a:moveTo>
                  <a:lnTo>
                    <a:pt x="2788920" y="2029968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26479" y="2606039"/>
              <a:ext cx="2788920" cy="2377440"/>
            </a:xfrm>
            <a:custGeom>
              <a:avLst/>
              <a:gdLst/>
              <a:ahLst/>
              <a:cxnLst/>
              <a:rect l="l" t="t" r="r" b="b"/>
              <a:pathLst>
                <a:path w="2788920" h="2377440">
                  <a:moveTo>
                    <a:pt x="0" y="2377440"/>
                  </a:moveTo>
                  <a:lnTo>
                    <a:pt x="2788920" y="237744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48507" y="3136773"/>
            <a:ext cx="20396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Full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CRUD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all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inventory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entities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48507" y="3612641"/>
            <a:ext cx="17818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Real-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time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 alert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dashboard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48507" y="4088079"/>
            <a:ext cx="17722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Simulation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engine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with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logging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48507" y="4563262"/>
            <a:ext cx="146431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Role-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based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access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control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26479" y="2606039"/>
            <a:ext cx="2788920" cy="347980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1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Principles</a:t>
            </a:r>
            <a:r>
              <a:rPr sz="12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Applied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284721" y="3175761"/>
            <a:ext cx="122555" cy="1555115"/>
            <a:chOff x="6284721" y="3175761"/>
            <a:chExt cx="122555" cy="1555115"/>
          </a:xfrm>
        </p:grpSpPr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4721" y="3175761"/>
              <a:ext cx="122427" cy="12242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4721" y="3651249"/>
              <a:ext cx="122427" cy="12242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84721" y="4135399"/>
              <a:ext cx="122427" cy="12242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84721" y="4607852"/>
              <a:ext cx="122427" cy="122428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474840" y="3136773"/>
            <a:ext cx="19792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SOLID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principles</a:t>
            </a:r>
            <a:r>
              <a:rPr sz="1100" spc="-6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service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design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74840" y="3612641"/>
            <a:ext cx="20351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DRY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via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utility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classes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&amp;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fragments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74840" y="4088079"/>
            <a:ext cx="18326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Separation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of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Concerns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layers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74840" y="4563262"/>
            <a:ext cx="177990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Fail-fast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validation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at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controller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Real-</a:t>
            </a:r>
            <a:r>
              <a:rPr dirty="0"/>
              <a:t>World</a:t>
            </a:r>
            <a:r>
              <a:rPr spc="-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670305"/>
            <a:ext cx="23622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Industry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Use</a:t>
            </a:r>
            <a:r>
              <a:rPr sz="1300" i="1" spc="-1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Cases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for</a:t>
            </a:r>
            <a:r>
              <a:rPr sz="1300" i="1" spc="-2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0891B1"/>
                </a:solidFill>
                <a:latin typeface="Times New Roman"/>
                <a:cs typeface="Times New Roman"/>
              </a:rPr>
              <a:t>This</a:t>
            </a:r>
            <a:r>
              <a:rPr sz="1300" i="1" spc="-25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i="1" spc="-10" dirty="0">
                <a:solidFill>
                  <a:srgbClr val="0891B1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" y="877824"/>
            <a:ext cx="2955925" cy="2023110"/>
            <a:chOff x="137160" y="877824"/>
            <a:chExt cx="2955925" cy="2023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877824"/>
              <a:ext cx="2955798" cy="20231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960119"/>
            <a:ext cx="2743200" cy="384175"/>
          </a:xfrm>
          <a:prstGeom prst="rect">
            <a:avLst/>
          </a:prstGeom>
          <a:solidFill>
            <a:srgbClr val="0891B1"/>
          </a:solidFill>
          <a:ln w="12700">
            <a:solidFill>
              <a:srgbClr val="0891B1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69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Retail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E-Commerce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79" y="1397508"/>
            <a:ext cx="915162" cy="74599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0670" y="2100199"/>
            <a:ext cx="273050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 marR="126364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SKUs across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multiple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outlets,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manage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reorder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points,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sync</a:t>
            </a:r>
            <a:r>
              <a:rPr sz="1100" spc="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online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store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stock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real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time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to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prevent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overselling.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44951" y="877824"/>
            <a:ext cx="2955925" cy="2023110"/>
            <a:chOff x="3044951" y="877824"/>
            <a:chExt cx="2955925" cy="20231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1" y="877824"/>
              <a:ext cx="2955798" cy="20231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82111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82111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82111" y="960119"/>
            <a:ext cx="2743200" cy="384175"/>
          </a:xfrm>
          <a:prstGeom prst="rect">
            <a:avLst/>
          </a:prstGeom>
          <a:solidFill>
            <a:srgbClr val="F87316"/>
          </a:solidFill>
          <a:ln w="12700">
            <a:solidFill>
              <a:srgbClr val="F8731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9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Manufacturing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0672" y="1397508"/>
            <a:ext cx="915162" cy="74599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188461" y="2016379"/>
            <a:ext cx="2730500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6383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Monitor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raw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material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inventory,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work-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progress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stock,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manage finished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goods,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coordinate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with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suppliers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JIT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procurement.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52744" y="877824"/>
            <a:ext cx="2955925" cy="2023110"/>
            <a:chOff x="5952744" y="877824"/>
            <a:chExt cx="2955925" cy="202311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2744" y="877824"/>
              <a:ext cx="2955798" cy="20231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89904" y="1344168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89904" y="960120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1"/>
                  </a:moveTo>
                  <a:lnTo>
                    <a:pt x="2743200" y="181051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89903" y="960119"/>
            <a:ext cx="2743200" cy="384175"/>
          </a:xfrm>
          <a:prstGeom prst="rect">
            <a:avLst/>
          </a:prstGeom>
          <a:solidFill>
            <a:srgbClr val="EE4444"/>
          </a:solidFill>
          <a:ln w="12700">
            <a:solidFill>
              <a:srgbClr val="EE4444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95"/>
              </a:spcBef>
            </a:pP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Healthcare</a:t>
            </a:r>
            <a:r>
              <a:rPr sz="13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Pharmacy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98464" y="1397508"/>
            <a:ext cx="915162" cy="74599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096253" y="2016379"/>
            <a:ext cx="2730500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21844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medical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supply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expiry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dates,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manage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critical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thresholds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life-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saving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medicines,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automate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procurement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of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low-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items.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7160" y="2843783"/>
            <a:ext cx="2955925" cy="2023110"/>
            <a:chOff x="137160" y="2843783"/>
            <a:chExt cx="2955925" cy="202311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843783"/>
              <a:ext cx="2955798" cy="202311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4320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74320" y="2926079"/>
            <a:ext cx="2743200" cy="384175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69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Warehousing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879" y="3363467"/>
            <a:ext cx="915162" cy="745997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80670" y="4066743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Multi-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location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stock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tracking,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shipment</a:t>
            </a:r>
            <a:endParaRPr sz="1100">
              <a:latin typeface="Times New Roman"/>
              <a:cs typeface="Times New Roman"/>
            </a:endParaRPr>
          </a:p>
          <a:p>
            <a:pPr marL="84455" marR="10223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management,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inbound/outbound</a:t>
            </a:r>
            <a:r>
              <a:rPr sz="1100" spc="-7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logging,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and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automated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space</a:t>
            </a:r>
            <a:r>
              <a:rPr sz="1100" spc="-2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optimization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alerts.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44951" y="2843783"/>
            <a:ext cx="2955925" cy="2023110"/>
            <a:chOff x="3044951" y="2843783"/>
            <a:chExt cx="2955925" cy="202311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1" y="2843783"/>
              <a:ext cx="2955798" cy="202311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182111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82111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182111" y="2926079"/>
            <a:ext cx="2743200" cy="384175"/>
          </a:xfrm>
          <a:prstGeom prst="rect">
            <a:avLst/>
          </a:prstGeom>
          <a:solidFill>
            <a:srgbClr val="0FB881"/>
          </a:solidFill>
          <a:ln w="12700">
            <a:solidFill>
              <a:srgbClr val="0FB881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9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Restaurant</a:t>
            </a: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F&amp;B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90672" y="3363467"/>
            <a:ext cx="915162" cy="74599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188461" y="4066743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Manage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perishable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ingredient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inventory,</a:t>
            </a:r>
            <a:endParaRPr sz="1100">
              <a:latin typeface="Times New Roman"/>
              <a:cs typeface="Times New Roman"/>
            </a:endParaRPr>
          </a:p>
          <a:p>
            <a:pPr marL="85725" marR="17081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daily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consumption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patterns,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set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critical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thresholds</a:t>
            </a:r>
            <a:r>
              <a:rPr sz="1100" spc="-5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2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essential</a:t>
            </a:r>
            <a:r>
              <a:rPr sz="1100" spc="-4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ingredients.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952744" y="2843783"/>
            <a:ext cx="2955925" cy="2023110"/>
            <a:chOff x="5952744" y="2843783"/>
            <a:chExt cx="2955925" cy="202311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2744" y="2843783"/>
              <a:ext cx="2955798" cy="202311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089904" y="3310127"/>
              <a:ext cx="2743200" cy="1426845"/>
            </a:xfrm>
            <a:custGeom>
              <a:avLst/>
              <a:gdLst/>
              <a:ahLst/>
              <a:cxnLst/>
              <a:rect l="l" t="t" r="r" b="b"/>
              <a:pathLst>
                <a:path w="2743200" h="1426845">
                  <a:moveTo>
                    <a:pt x="0" y="1426464"/>
                  </a:moveTo>
                  <a:lnTo>
                    <a:pt x="2743200" y="1426464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89904" y="2926079"/>
              <a:ext cx="2743200" cy="1811020"/>
            </a:xfrm>
            <a:custGeom>
              <a:avLst/>
              <a:gdLst/>
              <a:ahLst/>
              <a:cxnLst/>
              <a:rect l="l" t="t" r="r" b="b"/>
              <a:pathLst>
                <a:path w="2743200" h="1811020">
                  <a:moveTo>
                    <a:pt x="0" y="1810512"/>
                  </a:moveTo>
                  <a:lnTo>
                    <a:pt x="2743200" y="181051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89903" y="2926079"/>
            <a:ext cx="2743200" cy="384175"/>
          </a:xfrm>
          <a:prstGeom prst="rect">
            <a:avLst/>
          </a:prstGeom>
          <a:solidFill>
            <a:srgbClr val="F59E0A"/>
          </a:solidFill>
          <a:ln w="12700">
            <a:solidFill>
              <a:srgbClr val="F59E0A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95"/>
              </a:spcBef>
            </a:pP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Asset</a:t>
            </a:r>
            <a:r>
              <a:rPr sz="13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98464" y="3363467"/>
            <a:ext cx="915162" cy="745997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6096253" y="4066743"/>
            <a:ext cx="2730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0541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Track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hardware/software</a:t>
            </a:r>
            <a:r>
              <a:rPr sz="1100" spc="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assets,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manage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procurement</a:t>
            </a:r>
            <a:r>
              <a:rPr sz="1100" spc="-5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cycles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1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devices,</a:t>
            </a:r>
            <a:r>
              <a:rPr sz="1100" spc="-3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and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maintain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audit</a:t>
            </a:r>
            <a:r>
              <a:rPr sz="1100" spc="-3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trails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for</a:t>
            </a:r>
            <a:r>
              <a:rPr sz="1100" spc="-5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93A2B8"/>
                </a:solidFill>
                <a:latin typeface="Times New Roman"/>
                <a:cs typeface="Times New Roman"/>
              </a:rPr>
              <a:t>compliance</a:t>
            </a:r>
            <a:r>
              <a:rPr sz="1100" spc="-40" dirty="0">
                <a:solidFill>
                  <a:srgbClr val="93A2B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Times New Roman"/>
                <a:cs typeface="Times New Roman"/>
              </a:rPr>
              <a:t>reporting.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86360"/>
            <a:chOff x="-6350" y="-6350"/>
            <a:chExt cx="9156700" cy="863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71401"/>
            <a:ext cx="2730500" cy="7766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3000" spc="-10" dirty="0">
                <a:solidFill>
                  <a:srgbClr val="000000"/>
                </a:solidFill>
              </a:rPr>
              <a:t>Conclusion</a:t>
            </a:r>
            <a:endParaRPr sz="3000"/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Summary,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Learnings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&amp;</a:t>
            </a:r>
            <a:r>
              <a:rPr sz="1300" b="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dirty="0">
                <a:solidFill>
                  <a:srgbClr val="05B6D3"/>
                </a:solidFill>
                <a:latin typeface="Times New Roman"/>
                <a:cs typeface="Times New Roman"/>
              </a:rPr>
              <a:t>Future</a:t>
            </a:r>
            <a:r>
              <a:rPr sz="1300" b="0" i="1" spc="-3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300" b="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Roadmap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1408176"/>
            <a:ext cx="8807957" cy="16299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4320" y="1490472"/>
            <a:ext cx="8595360" cy="1417320"/>
          </a:xfrm>
          <a:prstGeom prst="rect">
            <a:avLst/>
          </a:prstGeom>
          <a:solidFill>
            <a:srgbClr val="1B2A3D"/>
          </a:solidFill>
          <a:ln w="12700">
            <a:solidFill>
              <a:srgbClr val="E1E8EF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75"/>
              </a:spcBef>
            </a:pPr>
            <a:r>
              <a:rPr sz="1300" b="1" dirty="0">
                <a:solidFill>
                  <a:srgbClr val="0891B1"/>
                </a:solidFill>
                <a:latin typeface="Times New Roman"/>
                <a:cs typeface="Times New Roman"/>
              </a:rPr>
              <a:t>Project</a:t>
            </a:r>
            <a:r>
              <a:rPr sz="1300" b="1" spc="-50" dirty="0">
                <a:solidFill>
                  <a:srgbClr val="0891B1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Times New Roman"/>
                <a:cs typeface="Times New Roman"/>
              </a:rPr>
              <a:t>Summary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90805" marR="226060">
              <a:lnSpc>
                <a:spcPct val="100000"/>
              </a:lnSpc>
            </a:pP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The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Enterprise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Inventory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 Management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System successfully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demonstrates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the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development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of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production-grade,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full-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stack</a:t>
            </a:r>
            <a:r>
              <a:rPr sz="1150" spc="-1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Java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application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using</a:t>
            </a:r>
            <a:r>
              <a:rPr sz="1150" spc="-4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Spring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Boot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and</a:t>
            </a:r>
            <a:r>
              <a:rPr sz="1150" spc="-5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Thymeleaf.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The</a:t>
            </a:r>
            <a:r>
              <a:rPr sz="1150" spc="-4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system</a:t>
            </a:r>
            <a:r>
              <a:rPr sz="1150" spc="-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implements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industry-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standard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architectural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patterns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(MVC,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Layered</a:t>
            </a:r>
            <a:r>
              <a:rPr sz="1150" spc="-1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Architecture),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enforces ACID-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compliant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transactional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integrity, and</a:t>
            </a:r>
            <a:r>
              <a:rPr sz="1150" spc="-4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delivers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comprehensive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suite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of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modules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covering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the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full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inventory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lifecycle</a:t>
            </a:r>
            <a:r>
              <a:rPr sz="1150" spc="7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—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from</a:t>
            </a:r>
            <a:r>
              <a:rPr sz="1150" spc="-2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product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management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and</a:t>
            </a:r>
            <a:r>
              <a:rPr sz="1150" spc="-5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supplier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coordination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to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simulation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testing</a:t>
            </a:r>
            <a:r>
              <a:rPr sz="1150" spc="-4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and</a:t>
            </a:r>
            <a:r>
              <a:rPr sz="1150" spc="-3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risk</a:t>
            </a:r>
            <a:r>
              <a:rPr sz="1150" spc="-25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E1E8EF"/>
                </a:solidFill>
                <a:latin typeface="Times New Roman"/>
                <a:cs typeface="Times New Roman"/>
              </a:rPr>
              <a:t>threshold</a:t>
            </a:r>
            <a:r>
              <a:rPr sz="1150" spc="-30" dirty="0">
                <a:solidFill>
                  <a:srgbClr val="E1E8E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E1E8EF"/>
                </a:solidFill>
                <a:latin typeface="Times New Roman"/>
                <a:cs typeface="Times New Roman"/>
              </a:rPr>
              <a:t>monitoring.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000" y="3821379"/>
            <a:ext cx="8167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This</a:t>
            </a:r>
            <a:r>
              <a:rPr sz="120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project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has</a:t>
            </a:r>
            <a:r>
              <a:rPr sz="1200" i="1" spc="-2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successfully</a:t>
            </a:r>
            <a:r>
              <a:rPr sz="1200" i="1" spc="-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met</a:t>
            </a:r>
            <a:r>
              <a:rPr sz="1200" i="1" spc="-1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all</a:t>
            </a:r>
            <a:r>
              <a:rPr sz="120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academic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objectives</a:t>
            </a:r>
            <a:r>
              <a:rPr sz="1200" i="1" spc="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while</a:t>
            </a:r>
            <a:r>
              <a:rPr sz="1200" i="1" spc="-2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laying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a</a:t>
            </a:r>
            <a:r>
              <a:rPr sz="1200" i="1" spc="-2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strong</a:t>
            </a:r>
            <a:r>
              <a:rPr sz="1200" i="1" spc="-3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foundation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for</a:t>
            </a:r>
            <a:r>
              <a:rPr sz="1200" i="1" spc="-4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real-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world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enterprise</a:t>
            </a:r>
            <a:r>
              <a:rPr sz="1200" i="1" spc="-20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05B6D3"/>
                </a:solidFill>
                <a:latin typeface="Times New Roman"/>
                <a:cs typeface="Times New Roman"/>
              </a:rPr>
              <a:t>inventory</a:t>
            </a:r>
            <a:r>
              <a:rPr sz="1200" i="1" spc="-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 spc="-10" dirty="0">
                <a:solidFill>
                  <a:srgbClr val="05B6D3"/>
                </a:solidFill>
                <a:latin typeface="Times New Roman"/>
                <a:cs typeface="Times New Roman"/>
              </a:rPr>
              <a:t>deployment.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5063997"/>
            <a:ext cx="9156700" cy="86360"/>
            <a:chOff x="-6350" y="5063997"/>
            <a:chExt cx="9156700" cy="86360"/>
          </a:xfrm>
        </p:grpSpPr>
        <p:sp>
          <p:nvSpPr>
            <p:cNvPr id="3" name="object 3"/>
            <p:cNvSpPr/>
            <p:nvPr/>
          </p:nvSpPr>
          <p:spPr>
            <a:xfrm>
              <a:off x="0" y="5070347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070347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553970" y="335788"/>
            <a:ext cx="4036060" cy="4036060"/>
            <a:chOff x="2553970" y="335788"/>
            <a:chExt cx="4036060" cy="4036060"/>
          </a:xfrm>
        </p:grpSpPr>
        <p:sp>
          <p:nvSpPr>
            <p:cNvPr id="6" name="object 6"/>
            <p:cNvSpPr/>
            <p:nvPr/>
          </p:nvSpPr>
          <p:spPr>
            <a:xfrm>
              <a:off x="2560320" y="342138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59" h="4023360">
                  <a:moveTo>
                    <a:pt x="2011680" y="0"/>
                  </a:moveTo>
                  <a:lnTo>
                    <a:pt x="1963510" y="565"/>
                  </a:lnTo>
                  <a:lnTo>
                    <a:pt x="1915618" y="2253"/>
                  </a:lnTo>
                  <a:lnTo>
                    <a:pt x="1868016" y="5051"/>
                  </a:lnTo>
                  <a:lnTo>
                    <a:pt x="1820718" y="8946"/>
                  </a:lnTo>
                  <a:lnTo>
                    <a:pt x="1773734" y="13925"/>
                  </a:lnTo>
                  <a:lnTo>
                    <a:pt x="1727079" y="19977"/>
                  </a:lnTo>
                  <a:lnTo>
                    <a:pt x="1680765" y="27088"/>
                  </a:lnTo>
                  <a:lnTo>
                    <a:pt x="1634803" y="35246"/>
                  </a:lnTo>
                  <a:lnTo>
                    <a:pt x="1589208" y="44438"/>
                  </a:lnTo>
                  <a:lnTo>
                    <a:pt x="1543991" y="54652"/>
                  </a:lnTo>
                  <a:lnTo>
                    <a:pt x="1499166" y="65875"/>
                  </a:lnTo>
                  <a:lnTo>
                    <a:pt x="1454744" y="78094"/>
                  </a:lnTo>
                  <a:lnTo>
                    <a:pt x="1410738" y="91296"/>
                  </a:lnTo>
                  <a:lnTo>
                    <a:pt x="1367162" y="105470"/>
                  </a:lnTo>
                  <a:lnTo>
                    <a:pt x="1324027" y="120603"/>
                  </a:lnTo>
                  <a:lnTo>
                    <a:pt x="1281346" y="136682"/>
                  </a:lnTo>
                  <a:lnTo>
                    <a:pt x="1239132" y="153693"/>
                  </a:lnTo>
                  <a:lnTo>
                    <a:pt x="1197398" y="171626"/>
                  </a:lnTo>
                  <a:lnTo>
                    <a:pt x="1156155" y="190467"/>
                  </a:lnTo>
                  <a:lnTo>
                    <a:pt x="1115417" y="210203"/>
                  </a:lnTo>
                  <a:lnTo>
                    <a:pt x="1075196" y="230822"/>
                  </a:lnTo>
                  <a:lnTo>
                    <a:pt x="1035505" y="252311"/>
                  </a:lnTo>
                  <a:lnTo>
                    <a:pt x="996357" y="274658"/>
                  </a:lnTo>
                  <a:lnTo>
                    <a:pt x="957763" y="297850"/>
                  </a:lnTo>
                  <a:lnTo>
                    <a:pt x="919738" y="321875"/>
                  </a:lnTo>
                  <a:lnTo>
                    <a:pt x="882292" y="346719"/>
                  </a:lnTo>
                  <a:lnTo>
                    <a:pt x="845440" y="372371"/>
                  </a:lnTo>
                  <a:lnTo>
                    <a:pt x="809192" y="398817"/>
                  </a:lnTo>
                  <a:lnTo>
                    <a:pt x="773563" y="426045"/>
                  </a:lnTo>
                  <a:lnTo>
                    <a:pt x="738565" y="454043"/>
                  </a:lnTo>
                  <a:lnTo>
                    <a:pt x="704210" y="482798"/>
                  </a:lnTo>
                  <a:lnTo>
                    <a:pt x="670511" y="512296"/>
                  </a:lnTo>
                  <a:lnTo>
                    <a:pt x="637481" y="542526"/>
                  </a:lnTo>
                  <a:lnTo>
                    <a:pt x="605131" y="573476"/>
                  </a:lnTo>
                  <a:lnTo>
                    <a:pt x="573476" y="605131"/>
                  </a:lnTo>
                  <a:lnTo>
                    <a:pt x="542526" y="637481"/>
                  </a:lnTo>
                  <a:lnTo>
                    <a:pt x="512296" y="670511"/>
                  </a:lnTo>
                  <a:lnTo>
                    <a:pt x="482798" y="704210"/>
                  </a:lnTo>
                  <a:lnTo>
                    <a:pt x="454043" y="738565"/>
                  </a:lnTo>
                  <a:lnTo>
                    <a:pt x="426045" y="773563"/>
                  </a:lnTo>
                  <a:lnTo>
                    <a:pt x="398817" y="809192"/>
                  </a:lnTo>
                  <a:lnTo>
                    <a:pt x="372371" y="845440"/>
                  </a:lnTo>
                  <a:lnTo>
                    <a:pt x="346719" y="882292"/>
                  </a:lnTo>
                  <a:lnTo>
                    <a:pt x="321875" y="919738"/>
                  </a:lnTo>
                  <a:lnTo>
                    <a:pt x="297850" y="957763"/>
                  </a:lnTo>
                  <a:lnTo>
                    <a:pt x="274658" y="996357"/>
                  </a:lnTo>
                  <a:lnTo>
                    <a:pt x="252311" y="1035505"/>
                  </a:lnTo>
                  <a:lnTo>
                    <a:pt x="230822" y="1075196"/>
                  </a:lnTo>
                  <a:lnTo>
                    <a:pt x="210203" y="1115417"/>
                  </a:lnTo>
                  <a:lnTo>
                    <a:pt x="190467" y="1156155"/>
                  </a:lnTo>
                  <a:lnTo>
                    <a:pt x="171626" y="1197398"/>
                  </a:lnTo>
                  <a:lnTo>
                    <a:pt x="153693" y="1239132"/>
                  </a:lnTo>
                  <a:lnTo>
                    <a:pt x="136682" y="1281346"/>
                  </a:lnTo>
                  <a:lnTo>
                    <a:pt x="120603" y="1324027"/>
                  </a:lnTo>
                  <a:lnTo>
                    <a:pt x="105470" y="1367162"/>
                  </a:lnTo>
                  <a:lnTo>
                    <a:pt x="91296" y="1410738"/>
                  </a:lnTo>
                  <a:lnTo>
                    <a:pt x="78094" y="1454744"/>
                  </a:lnTo>
                  <a:lnTo>
                    <a:pt x="65875" y="1499166"/>
                  </a:lnTo>
                  <a:lnTo>
                    <a:pt x="54652" y="1543991"/>
                  </a:lnTo>
                  <a:lnTo>
                    <a:pt x="44438" y="1589208"/>
                  </a:lnTo>
                  <a:lnTo>
                    <a:pt x="35246" y="1634803"/>
                  </a:lnTo>
                  <a:lnTo>
                    <a:pt x="27088" y="1680765"/>
                  </a:lnTo>
                  <a:lnTo>
                    <a:pt x="19977" y="1727079"/>
                  </a:lnTo>
                  <a:lnTo>
                    <a:pt x="13925" y="1773734"/>
                  </a:lnTo>
                  <a:lnTo>
                    <a:pt x="8946" y="1820718"/>
                  </a:lnTo>
                  <a:lnTo>
                    <a:pt x="5051" y="1868016"/>
                  </a:lnTo>
                  <a:lnTo>
                    <a:pt x="2253" y="1915618"/>
                  </a:lnTo>
                  <a:lnTo>
                    <a:pt x="565" y="1963510"/>
                  </a:lnTo>
                  <a:lnTo>
                    <a:pt x="0" y="2011680"/>
                  </a:lnTo>
                  <a:lnTo>
                    <a:pt x="565" y="2059849"/>
                  </a:lnTo>
                  <a:lnTo>
                    <a:pt x="2253" y="2107741"/>
                  </a:lnTo>
                  <a:lnTo>
                    <a:pt x="5051" y="2155343"/>
                  </a:lnTo>
                  <a:lnTo>
                    <a:pt x="8946" y="2202641"/>
                  </a:lnTo>
                  <a:lnTo>
                    <a:pt x="13925" y="2249625"/>
                  </a:lnTo>
                  <a:lnTo>
                    <a:pt x="19977" y="2296280"/>
                  </a:lnTo>
                  <a:lnTo>
                    <a:pt x="27088" y="2342594"/>
                  </a:lnTo>
                  <a:lnTo>
                    <a:pt x="35246" y="2388556"/>
                  </a:lnTo>
                  <a:lnTo>
                    <a:pt x="44438" y="2434151"/>
                  </a:lnTo>
                  <a:lnTo>
                    <a:pt x="54652" y="2479368"/>
                  </a:lnTo>
                  <a:lnTo>
                    <a:pt x="65875" y="2524193"/>
                  </a:lnTo>
                  <a:lnTo>
                    <a:pt x="78094" y="2568615"/>
                  </a:lnTo>
                  <a:lnTo>
                    <a:pt x="91296" y="2612621"/>
                  </a:lnTo>
                  <a:lnTo>
                    <a:pt x="105470" y="2656197"/>
                  </a:lnTo>
                  <a:lnTo>
                    <a:pt x="120603" y="2699332"/>
                  </a:lnTo>
                  <a:lnTo>
                    <a:pt x="136682" y="2742013"/>
                  </a:lnTo>
                  <a:lnTo>
                    <a:pt x="153693" y="2784227"/>
                  </a:lnTo>
                  <a:lnTo>
                    <a:pt x="171626" y="2825961"/>
                  </a:lnTo>
                  <a:lnTo>
                    <a:pt x="190467" y="2867204"/>
                  </a:lnTo>
                  <a:lnTo>
                    <a:pt x="210203" y="2907942"/>
                  </a:lnTo>
                  <a:lnTo>
                    <a:pt x="230822" y="2948163"/>
                  </a:lnTo>
                  <a:lnTo>
                    <a:pt x="252311" y="2987854"/>
                  </a:lnTo>
                  <a:lnTo>
                    <a:pt x="274658" y="3027002"/>
                  </a:lnTo>
                  <a:lnTo>
                    <a:pt x="297850" y="3065596"/>
                  </a:lnTo>
                  <a:lnTo>
                    <a:pt x="321875" y="3103621"/>
                  </a:lnTo>
                  <a:lnTo>
                    <a:pt x="346719" y="3141067"/>
                  </a:lnTo>
                  <a:lnTo>
                    <a:pt x="372371" y="3177919"/>
                  </a:lnTo>
                  <a:lnTo>
                    <a:pt x="398817" y="3214167"/>
                  </a:lnTo>
                  <a:lnTo>
                    <a:pt x="426045" y="3249796"/>
                  </a:lnTo>
                  <a:lnTo>
                    <a:pt x="454043" y="3284794"/>
                  </a:lnTo>
                  <a:lnTo>
                    <a:pt x="482798" y="3319149"/>
                  </a:lnTo>
                  <a:lnTo>
                    <a:pt x="512296" y="3352848"/>
                  </a:lnTo>
                  <a:lnTo>
                    <a:pt x="542526" y="3385878"/>
                  </a:lnTo>
                  <a:lnTo>
                    <a:pt x="573476" y="3418228"/>
                  </a:lnTo>
                  <a:lnTo>
                    <a:pt x="605131" y="3449883"/>
                  </a:lnTo>
                  <a:lnTo>
                    <a:pt x="637481" y="3480833"/>
                  </a:lnTo>
                  <a:lnTo>
                    <a:pt x="670511" y="3511063"/>
                  </a:lnTo>
                  <a:lnTo>
                    <a:pt x="704210" y="3540561"/>
                  </a:lnTo>
                  <a:lnTo>
                    <a:pt x="738565" y="3569316"/>
                  </a:lnTo>
                  <a:lnTo>
                    <a:pt x="773563" y="3597314"/>
                  </a:lnTo>
                  <a:lnTo>
                    <a:pt x="809192" y="3624542"/>
                  </a:lnTo>
                  <a:lnTo>
                    <a:pt x="845440" y="3650988"/>
                  </a:lnTo>
                  <a:lnTo>
                    <a:pt x="882292" y="3676640"/>
                  </a:lnTo>
                  <a:lnTo>
                    <a:pt x="919738" y="3701484"/>
                  </a:lnTo>
                  <a:lnTo>
                    <a:pt x="957763" y="3725509"/>
                  </a:lnTo>
                  <a:lnTo>
                    <a:pt x="996357" y="3748701"/>
                  </a:lnTo>
                  <a:lnTo>
                    <a:pt x="1035505" y="3771048"/>
                  </a:lnTo>
                  <a:lnTo>
                    <a:pt x="1075196" y="3792537"/>
                  </a:lnTo>
                  <a:lnTo>
                    <a:pt x="1115417" y="3813156"/>
                  </a:lnTo>
                  <a:lnTo>
                    <a:pt x="1156155" y="3832892"/>
                  </a:lnTo>
                  <a:lnTo>
                    <a:pt x="1197398" y="3851733"/>
                  </a:lnTo>
                  <a:lnTo>
                    <a:pt x="1239132" y="3869666"/>
                  </a:lnTo>
                  <a:lnTo>
                    <a:pt x="1281346" y="3886677"/>
                  </a:lnTo>
                  <a:lnTo>
                    <a:pt x="1324027" y="3902756"/>
                  </a:lnTo>
                  <a:lnTo>
                    <a:pt x="1367162" y="3917889"/>
                  </a:lnTo>
                  <a:lnTo>
                    <a:pt x="1410738" y="3932063"/>
                  </a:lnTo>
                  <a:lnTo>
                    <a:pt x="1454744" y="3945265"/>
                  </a:lnTo>
                  <a:lnTo>
                    <a:pt x="1499166" y="3957484"/>
                  </a:lnTo>
                  <a:lnTo>
                    <a:pt x="1543991" y="3968707"/>
                  </a:lnTo>
                  <a:lnTo>
                    <a:pt x="1589208" y="3978921"/>
                  </a:lnTo>
                  <a:lnTo>
                    <a:pt x="1634803" y="3988113"/>
                  </a:lnTo>
                  <a:lnTo>
                    <a:pt x="1680765" y="3996271"/>
                  </a:lnTo>
                  <a:lnTo>
                    <a:pt x="1727079" y="4003382"/>
                  </a:lnTo>
                  <a:lnTo>
                    <a:pt x="1773734" y="4009434"/>
                  </a:lnTo>
                  <a:lnTo>
                    <a:pt x="1820718" y="4014413"/>
                  </a:lnTo>
                  <a:lnTo>
                    <a:pt x="1868016" y="4018308"/>
                  </a:lnTo>
                  <a:lnTo>
                    <a:pt x="1915618" y="4021106"/>
                  </a:lnTo>
                  <a:lnTo>
                    <a:pt x="1963510" y="4022794"/>
                  </a:lnTo>
                  <a:lnTo>
                    <a:pt x="2011680" y="4023360"/>
                  </a:lnTo>
                  <a:lnTo>
                    <a:pt x="2059849" y="4022794"/>
                  </a:lnTo>
                  <a:lnTo>
                    <a:pt x="2107741" y="4021106"/>
                  </a:lnTo>
                  <a:lnTo>
                    <a:pt x="2155343" y="4018308"/>
                  </a:lnTo>
                  <a:lnTo>
                    <a:pt x="2202641" y="4014413"/>
                  </a:lnTo>
                  <a:lnTo>
                    <a:pt x="2249625" y="4009434"/>
                  </a:lnTo>
                  <a:lnTo>
                    <a:pt x="2296280" y="4003382"/>
                  </a:lnTo>
                  <a:lnTo>
                    <a:pt x="2342594" y="3996271"/>
                  </a:lnTo>
                  <a:lnTo>
                    <a:pt x="2388556" y="3988113"/>
                  </a:lnTo>
                  <a:lnTo>
                    <a:pt x="2434151" y="3978921"/>
                  </a:lnTo>
                  <a:lnTo>
                    <a:pt x="2479368" y="3968707"/>
                  </a:lnTo>
                  <a:lnTo>
                    <a:pt x="2524193" y="3957484"/>
                  </a:lnTo>
                  <a:lnTo>
                    <a:pt x="2568615" y="3945265"/>
                  </a:lnTo>
                  <a:lnTo>
                    <a:pt x="2612621" y="3932063"/>
                  </a:lnTo>
                  <a:lnTo>
                    <a:pt x="2656197" y="3917889"/>
                  </a:lnTo>
                  <a:lnTo>
                    <a:pt x="2699332" y="3902756"/>
                  </a:lnTo>
                  <a:lnTo>
                    <a:pt x="2742013" y="3886677"/>
                  </a:lnTo>
                  <a:lnTo>
                    <a:pt x="2784227" y="3869666"/>
                  </a:lnTo>
                  <a:lnTo>
                    <a:pt x="2825961" y="3851733"/>
                  </a:lnTo>
                  <a:lnTo>
                    <a:pt x="2867204" y="3832892"/>
                  </a:lnTo>
                  <a:lnTo>
                    <a:pt x="2907942" y="3813156"/>
                  </a:lnTo>
                  <a:lnTo>
                    <a:pt x="2948163" y="3792537"/>
                  </a:lnTo>
                  <a:lnTo>
                    <a:pt x="2987854" y="3771048"/>
                  </a:lnTo>
                  <a:lnTo>
                    <a:pt x="3027002" y="3748701"/>
                  </a:lnTo>
                  <a:lnTo>
                    <a:pt x="3065596" y="3725509"/>
                  </a:lnTo>
                  <a:lnTo>
                    <a:pt x="3103621" y="3701484"/>
                  </a:lnTo>
                  <a:lnTo>
                    <a:pt x="3141067" y="3676640"/>
                  </a:lnTo>
                  <a:lnTo>
                    <a:pt x="3177919" y="3650988"/>
                  </a:lnTo>
                  <a:lnTo>
                    <a:pt x="3214167" y="3624542"/>
                  </a:lnTo>
                  <a:lnTo>
                    <a:pt x="3249796" y="3597314"/>
                  </a:lnTo>
                  <a:lnTo>
                    <a:pt x="3284794" y="3569316"/>
                  </a:lnTo>
                  <a:lnTo>
                    <a:pt x="3319149" y="3540561"/>
                  </a:lnTo>
                  <a:lnTo>
                    <a:pt x="3352848" y="3511063"/>
                  </a:lnTo>
                  <a:lnTo>
                    <a:pt x="3385878" y="3480833"/>
                  </a:lnTo>
                  <a:lnTo>
                    <a:pt x="3418228" y="3449883"/>
                  </a:lnTo>
                  <a:lnTo>
                    <a:pt x="3449883" y="3418228"/>
                  </a:lnTo>
                  <a:lnTo>
                    <a:pt x="3480833" y="3385878"/>
                  </a:lnTo>
                  <a:lnTo>
                    <a:pt x="3511063" y="3352848"/>
                  </a:lnTo>
                  <a:lnTo>
                    <a:pt x="3540561" y="3319149"/>
                  </a:lnTo>
                  <a:lnTo>
                    <a:pt x="3569316" y="3284794"/>
                  </a:lnTo>
                  <a:lnTo>
                    <a:pt x="3597314" y="3249796"/>
                  </a:lnTo>
                  <a:lnTo>
                    <a:pt x="3624542" y="3214167"/>
                  </a:lnTo>
                  <a:lnTo>
                    <a:pt x="3650988" y="3177919"/>
                  </a:lnTo>
                  <a:lnTo>
                    <a:pt x="3676640" y="3141067"/>
                  </a:lnTo>
                  <a:lnTo>
                    <a:pt x="3701484" y="3103621"/>
                  </a:lnTo>
                  <a:lnTo>
                    <a:pt x="3725509" y="3065596"/>
                  </a:lnTo>
                  <a:lnTo>
                    <a:pt x="3748701" y="3027002"/>
                  </a:lnTo>
                  <a:lnTo>
                    <a:pt x="3771048" y="2987854"/>
                  </a:lnTo>
                  <a:lnTo>
                    <a:pt x="3792537" y="2948163"/>
                  </a:lnTo>
                  <a:lnTo>
                    <a:pt x="3813156" y="2907942"/>
                  </a:lnTo>
                  <a:lnTo>
                    <a:pt x="3832892" y="2867204"/>
                  </a:lnTo>
                  <a:lnTo>
                    <a:pt x="3851733" y="2825961"/>
                  </a:lnTo>
                  <a:lnTo>
                    <a:pt x="3869666" y="2784227"/>
                  </a:lnTo>
                  <a:lnTo>
                    <a:pt x="3886677" y="2742013"/>
                  </a:lnTo>
                  <a:lnTo>
                    <a:pt x="3902756" y="2699332"/>
                  </a:lnTo>
                  <a:lnTo>
                    <a:pt x="3917889" y="2656197"/>
                  </a:lnTo>
                  <a:lnTo>
                    <a:pt x="3932063" y="2612621"/>
                  </a:lnTo>
                  <a:lnTo>
                    <a:pt x="3945265" y="2568615"/>
                  </a:lnTo>
                  <a:lnTo>
                    <a:pt x="3957484" y="2524193"/>
                  </a:lnTo>
                  <a:lnTo>
                    <a:pt x="3968707" y="2479368"/>
                  </a:lnTo>
                  <a:lnTo>
                    <a:pt x="3978921" y="2434151"/>
                  </a:lnTo>
                  <a:lnTo>
                    <a:pt x="3988113" y="2388556"/>
                  </a:lnTo>
                  <a:lnTo>
                    <a:pt x="3996271" y="2342594"/>
                  </a:lnTo>
                  <a:lnTo>
                    <a:pt x="4003382" y="2296280"/>
                  </a:lnTo>
                  <a:lnTo>
                    <a:pt x="4009434" y="2249625"/>
                  </a:lnTo>
                  <a:lnTo>
                    <a:pt x="4014413" y="2202641"/>
                  </a:lnTo>
                  <a:lnTo>
                    <a:pt x="4018308" y="2155343"/>
                  </a:lnTo>
                  <a:lnTo>
                    <a:pt x="4021106" y="2107741"/>
                  </a:lnTo>
                  <a:lnTo>
                    <a:pt x="4022794" y="2059849"/>
                  </a:lnTo>
                  <a:lnTo>
                    <a:pt x="4023359" y="2011680"/>
                  </a:lnTo>
                  <a:lnTo>
                    <a:pt x="4022794" y="1963510"/>
                  </a:lnTo>
                  <a:lnTo>
                    <a:pt x="4021106" y="1915618"/>
                  </a:lnTo>
                  <a:lnTo>
                    <a:pt x="4018308" y="1868016"/>
                  </a:lnTo>
                  <a:lnTo>
                    <a:pt x="4014413" y="1820718"/>
                  </a:lnTo>
                  <a:lnTo>
                    <a:pt x="4009434" y="1773734"/>
                  </a:lnTo>
                  <a:lnTo>
                    <a:pt x="4003382" y="1727079"/>
                  </a:lnTo>
                  <a:lnTo>
                    <a:pt x="3996271" y="1680765"/>
                  </a:lnTo>
                  <a:lnTo>
                    <a:pt x="3988113" y="1634803"/>
                  </a:lnTo>
                  <a:lnTo>
                    <a:pt x="3978921" y="1589208"/>
                  </a:lnTo>
                  <a:lnTo>
                    <a:pt x="3968707" y="1543991"/>
                  </a:lnTo>
                  <a:lnTo>
                    <a:pt x="3957484" y="1499166"/>
                  </a:lnTo>
                  <a:lnTo>
                    <a:pt x="3945265" y="1454744"/>
                  </a:lnTo>
                  <a:lnTo>
                    <a:pt x="3932063" y="1410738"/>
                  </a:lnTo>
                  <a:lnTo>
                    <a:pt x="3917889" y="1367162"/>
                  </a:lnTo>
                  <a:lnTo>
                    <a:pt x="3902756" y="1324027"/>
                  </a:lnTo>
                  <a:lnTo>
                    <a:pt x="3886677" y="1281346"/>
                  </a:lnTo>
                  <a:lnTo>
                    <a:pt x="3869666" y="1239132"/>
                  </a:lnTo>
                  <a:lnTo>
                    <a:pt x="3851733" y="1197398"/>
                  </a:lnTo>
                  <a:lnTo>
                    <a:pt x="3832892" y="1156155"/>
                  </a:lnTo>
                  <a:lnTo>
                    <a:pt x="3813156" y="1115417"/>
                  </a:lnTo>
                  <a:lnTo>
                    <a:pt x="3792537" y="1075196"/>
                  </a:lnTo>
                  <a:lnTo>
                    <a:pt x="3771048" y="1035505"/>
                  </a:lnTo>
                  <a:lnTo>
                    <a:pt x="3748701" y="996357"/>
                  </a:lnTo>
                  <a:lnTo>
                    <a:pt x="3725509" y="957763"/>
                  </a:lnTo>
                  <a:lnTo>
                    <a:pt x="3701484" y="919738"/>
                  </a:lnTo>
                  <a:lnTo>
                    <a:pt x="3676640" y="882292"/>
                  </a:lnTo>
                  <a:lnTo>
                    <a:pt x="3650988" y="845440"/>
                  </a:lnTo>
                  <a:lnTo>
                    <a:pt x="3624542" y="809192"/>
                  </a:lnTo>
                  <a:lnTo>
                    <a:pt x="3597314" y="773563"/>
                  </a:lnTo>
                  <a:lnTo>
                    <a:pt x="3569316" y="738565"/>
                  </a:lnTo>
                  <a:lnTo>
                    <a:pt x="3540561" y="704210"/>
                  </a:lnTo>
                  <a:lnTo>
                    <a:pt x="3511063" y="670511"/>
                  </a:lnTo>
                  <a:lnTo>
                    <a:pt x="3480833" y="637481"/>
                  </a:lnTo>
                  <a:lnTo>
                    <a:pt x="3449883" y="605131"/>
                  </a:lnTo>
                  <a:lnTo>
                    <a:pt x="3418228" y="573476"/>
                  </a:lnTo>
                  <a:lnTo>
                    <a:pt x="3385878" y="542526"/>
                  </a:lnTo>
                  <a:lnTo>
                    <a:pt x="3352848" y="512296"/>
                  </a:lnTo>
                  <a:lnTo>
                    <a:pt x="3319149" y="482798"/>
                  </a:lnTo>
                  <a:lnTo>
                    <a:pt x="3284794" y="454043"/>
                  </a:lnTo>
                  <a:lnTo>
                    <a:pt x="3249796" y="426045"/>
                  </a:lnTo>
                  <a:lnTo>
                    <a:pt x="3214167" y="398817"/>
                  </a:lnTo>
                  <a:lnTo>
                    <a:pt x="3177919" y="372371"/>
                  </a:lnTo>
                  <a:lnTo>
                    <a:pt x="3141067" y="346719"/>
                  </a:lnTo>
                  <a:lnTo>
                    <a:pt x="3103621" y="321875"/>
                  </a:lnTo>
                  <a:lnTo>
                    <a:pt x="3065596" y="297850"/>
                  </a:lnTo>
                  <a:lnTo>
                    <a:pt x="3027002" y="274658"/>
                  </a:lnTo>
                  <a:lnTo>
                    <a:pt x="2987854" y="252311"/>
                  </a:lnTo>
                  <a:lnTo>
                    <a:pt x="2948163" y="230822"/>
                  </a:lnTo>
                  <a:lnTo>
                    <a:pt x="2907942" y="210203"/>
                  </a:lnTo>
                  <a:lnTo>
                    <a:pt x="2867204" y="190467"/>
                  </a:lnTo>
                  <a:lnTo>
                    <a:pt x="2825961" y="171626"/>
                  </a:lnTo>
                  <a:lnTo>
                    <a:pt x="2784227" y="153693"/>
                  </a:lnTo>
                  <a:lnTo>
                    <a:pt x="2742013" y="136682"/>
                  </a:lnTo>
                  <a:lnTo>
                    <a:pt x="2699332" y="120603"/>
                  </a:lnTo>
                  <a:lnTo>
                    <a:pt x="2656197" y="105470"/>
                  </a:lnTo>
                  <a:lnTo>
                    <a:pt x="2612621" y="91296"/>
                  </a:lnTo>
                  <a:lnTo>
                    <a:pt x="2568615" y="78094"/>
                  </a:lnTo>
                  <a:lnTo>
                    <a:pt x="2524193" y="65875"/>
                  </a:lnTo>
                  <a:lnTo>
                    <a:pt x="2479368" y="54652"/>
                  </a:lnTo>
                  <a:lnTo>
                    <a:pt x="2434151" y="44438"/>
                  </a:lnTo>
                  <a:lnTo>
                    <a:pt x="2388556" y="35246"/>
                  </a:lnTo>
                  <a:lnTo>
                    <a:pt x="2342594" y="27088"/>
                  </a:lnTo>
                  <a:lnTo>
                    <a:pt x="2296280" y="19977"/>
                  </a:lnTo>
                  <a:lnTo>
                    <a:pt x="2249625" y="13925"/>
                  </a:lnTo>
                  <a:lnTo>
                    <a:pt x="2202641" y="8946"/>
                  </a:lnTo>
                  <a:lnTo>
                    <a:pt x="2155343" y="5051"/>
                  </a:lnTo>
                  <a:lnTo>
                    <a:pt x="2107741" y="2253"/>
                  </a:lnTo>
                  <a:lnTo>
                    <a:pt x="2059849" y="565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1B2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60320" y="342138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59" h="4023360">
                  <a:moveTo>
                    <a:pt x="0" y="2011680"/>
                  </a:moveTo>
                  <a:lnTo>
                    <a:pt x="565" y="1963510"/>
                  </a:lnTo>
                  <a:lnTo>
                    <a:pt x="2253" y="1915618"/>
                  </a:lnTo>
                  <a:lnTo>
                    <a:pt x="5051" y="1868016"/>
                  </a:lnTo>
                  <a:lnTo>
                    <a:pt x="8946" y="1820718"/>
                  </a:lnTo>
                  <a:lnTo>
                    <a:pt x="13925" y="1773734"/>
                  </a:lnTo>
                  <a:lnTo>
                    <a:pt x="19977" y="1727079"/>
                  </a:lnTo>
                  <a:lnTo>
                    <a:pt x="27088" y="1680765"/>
                  </a:lnTo>
                  <a:lnTo>
                    <a:pt x="35246" y="1634803"/>
                  </a:lnTo>
                  <a:lnTo>
                    <a:pt x="44438" y="1589208"/>
                  </a:lnTo>
                  <a:lnTo>
                    <a:pt x="54652" y="1543991"/>
                  </a:lnTo>
                  <a:lnTo>
                    <a:pt x="65875" y="1499166"/>
                  </a:lnTo>
                  <a:lnTo>
                    <a:pt x="78094" y="1454744"/>
                  </a:lnTo>
                  <a:lnTo>
                    <a:pt x="91296" y="1410738"/>
                  </a:lnTo>
                  <a:lnTo>
                    <a:pt x="105470" y="1367162"/>
                  </a:lnTo>
                  <a:lnTo>
                    <a:pt x="120603" y="1324027"/>
                  </a:lnTo>
                  <a:lnTo>
                    <a:pt x="136682" y="1281346"/>
                  </a:lnTo>
                  <a:lnTo>
                    <a:pt x="153693" y="1239132"/>
                  </a:lnTo>
                  <a:lnTo>
                    <a:pt x="171626" y="1197398"/>
                  </a:lnTo>
                  <a:lnTo>
                    <a:pt x="190467" y="1156155"/>
                  </a:lnTo>
                  <a:lnTo>
                    <a:pt x="210203" y="1115417"/>
                  </a:lnTo>
                  <a:lnTo>
                    <a:pt x="230822" y="1075196"/>
                  </a:lnTo>
                  <a:lnTo>
                    <a:pt x="252311" y="1035505"/>
                  </a:lnTo>
                  <a:lnTo>
                    <a:pt x="274658" y="996357"/>
                  </a:lnTo>
                  <a:lnTo>
                    <a:pt x="297850" y="957763"/>
                  </a:lnTo>
                  <a:lnTo>
                    <a:pt x="321875" y="919738"/>
                  </a:lnTo>
                  <a:lnTo>
                    <a:pt x="346719" y="882292"/>
                  </a:lnTo>
                  <a:lnTo>
                    <a:pt x="372371" y="845440"/>
                  </a:lnTo>
                  <a:lnTo>
                    <a:pt x="398817" y="809192"/>
                  </a:lnTo>
                  <a:lnTo>
                    <a:pt x="426045" y="773563"/>
                  </a:lnTo>
                  <a:lnTo>
                    <a:pt x="454043" y="738565"/>
                  </a:lnTo>
                  <a:lnTo>
                    <a:pt x="482798" y="704210"/>
                  </a:lnTo>
                  <a:lnTo>
                    <a:pt x="512296" y="670511"/>
                  </a:lnTo>
                  <a:lnTo>
                    <a:pt x="542526" y="637481"/>
                  </a:lnTo>
                  <a:lnTo>
                    <a:pt x="573476" y="605131"/>
                  </a:lnTo>
                  <a:lnTo>
                    <a:pt x="605131" y="573476"/>
                  </a:lnTo>
                  <a:lnTo>
                    <a:pt x="637481" y="542526"/>
                  </a:lnTo>
                  <a:lnTo>
                    <a:pt x="670511" y="512296"/>
                  </a:lnTo>
                  <a:lnTo>
                    <a:pt x="704210" y="482798"/>
                  </a:lnTo>
                  <a:lnTo>
                    <a:pt x="738565" y="454043"/>
                  </a:lnTo>
                  <a:lnTo>
                    <a:pt x="773563" y="426045"/>
                  </a:lnTo>
                  <a:lnTo>
                    <a:pt x="809192" y="398817"/>
                  </a:lnTo>
                  <a:lnTo>
                    <a:pt x="845440" y="372371"/>
                  </a:lnTo>
                  <a:lnTo>
                    <a:pt x="882292" y="346719"/>
                  </a:lnTo>
                  <a:lnTo>
                    <a:pt x="919738" y="321875"/>
                  </a:lnTo>
                  <a:lnTo>
                    <a:pt x="957763" y="297850"/>
                  </a:lnTo>
                  <a:lnTo>
                    <a:pt x="996357" y="274658"/>
                  </a:lnTo>
                  <a:lnTo>
                    <a:pt x="1035505" y="252311"/>
                  </a:lnTo>
                  <a:lnTo>
                    <a:pt x="1075196" y="230822"/>
                  </a:lnTo>
                  <a:lnTo>
                    <a:pt x="1115417" y="210203"/>
                  </a:lnTo>
                  <a:lnTo>
                    <a:pt x="1156155" y="190467"/>
                  </a:lnTo>
                  <a:lnTo>
                    <a:pt x="1197398" y="171626"/>
                  </a:lnTo>
                  <a:lnTo>
                    <a:pt x="1239132" y="153693"/>
                  </a:lnTo>
                  <a:lnTo>
                    <a:pt x="1281346" y="136682"/>
                  </a:lnTo>
                  <a:lnTo>
                    <a:pt x="1324027" y="120603"/>
                  </a:lnTo>
                  <a:lnTo>
                    <a:pt x="1367162" y="105470"/>
                  </a:lnTo>
                  <a:lnTo>
                    <a:pt x="1410738" y="91296"/>
                  </a:lnTo>
                  <a:lnTo>
                    <a:pt x="1454744" y="78094"/>
                  </a:lnTo>
                  <a:lnTo>
                    <a:pt x="1499166" y="65875"/>
                  </a:lnTo>
                  <a:lnTo>
                    <a:pt x="1543991" y="54652"/>
                  </a:lnTo>
                  <a:lnTo>
                    <a:pt x="1589208" y="44438"/>
                  </a:lnTo>
                  <a:lnTo>
                    <a:pt x="1634803" y="35246"/>
                  </a:lnTo>
                  <a:lnTo>
                    <a:pt x="1680765" y="27088"/>
                  </a:lnTo>
                  <a:lnTo>
                    <a:pt x="1727079" y="19977"/>
                  </a:lnTo>
                  <a:lnTo>
                    <a:pt x="1773734" y="13925"/>
                  </a:lnTo>
                  <a:lnTo>
                    <a:pt x="1820718" y="8946"/>
                  </a:lnTo>
                  <a:lnTo>
                    <a:pt x="1868016" y="5051"/>
                  </a:lnTo>
                  <a:lnTo>
                    <a:pt x="1915618" y="2253"/>
                  </a:lnTo>
                  <a:lnTo>
                    <a:pt x="1963510" y="565"/>
                  </a:lnTo>
                  <a:lnTo>
                    <a:pt x="2011680" y="0"/>
                  </a:lnTo>
                  <a:lnTo>
                    <a:pt x="2059849" y="565"/>
                  </a:lnTo>
                  <a:lnTo>
                    <a:pt x="2107741" y="2253"/>
                  </a:lnTo>
                  <a:lnTo>
                    <a:pt x="2155343" y="5051"/>
                  </a:lnTo>
                  <a:lnTo>
                    <a:pt x="2202641" y="8946"/>
                  </a:lnTo>
                  <a:lnTo>
                    <a:pt x="2249625" y="13925"/>
                  </a:lnTo>
                  <a:lnTo>
                    <a:pt x="2296280" y="19977"/>
                  </a:lnTo>
                  <a:lnTo>
                    <a:pt x="2342594" y="27088"/>
                  </a:lnTo>
                  <a:lnTo>
                    <a:pt x="2388556" y="35246"/>
                  </a:lnTo>
                  <a:lnTo>
                    <a:pt x="2434151" y="44438"/>
                  </a:lnTo>
                  <a:lnTo>
                    <a:pt x="2479368" y="54652"/>
                  </a:lnTo>
                  <a:lnTo>
                    <a:pt x="2524193" y="65875"/>
                  </a:lnTo>
                  <a:lnTo>
                    <a:pt x="2568615" y="78094"/>
                  </a:lnTo>
                  <a:lnTo>
                    <a:pt x="2612621" y="91296"/>
                  </a:lnTo>
                  <a:lnTo>
                    <a:pt x="2656197" y="105470"/>
                  </a:lnTo>
                  <a:lnTo>
                    <a:pt x="2699332" y="120603"/>
                  </a:lnTo>
                  <a:lnTo>
                    <a:pt x="2742013" y="136682"/>
                  </a:lnTo>
                  <a:lnTo>
                    <a:pt x="2784227" y="153693"/>
                  </a:lnTo>
                  <a:lnTo>
                    <a:pt x="2825961" y="171626"/>
                  </a:lnTo>
                  <a:lnTo>
                    <a:pt x="2867204" y="190467"/>
                  </a:lnTo>
                  <a:lnTo>
                    <a:pt x="2907942" y="210203"/>
                  </a:lnTo>
                  <a:lnTo>
                    <a:pt x="2948163" y="230822"/>
                  </a:lnTo>
                  <a:lnTo>
                    <a:pt x="2987854" y="252311"/>
                  </a:lnTo>
                  <a:lnTo>
                    <a:pt x="3027002" y="274658"/>
                  </a:lnTo>
                  <a:lnTo>
                    <a:pt x="3065596" y="297850"/>
                  </a:lnTo>
                  <a:lnTo>
                    <a:pt x="3103621" y="321875"/>
                  </a:lnTo>
                  <a:lnTo>
                    <a:pt x="3141067" y="346719"/>
                  </a:lnTo>
                  <a:lnTo>
                    <a:pt x="3177919" y="372371"/>
                  </a:lnTo>
                  <a:lnTo>
                    <a:pt x="3214167" y="398817"/>
                  </a:lnTo>
                  <a:lnTo>
                    <a:pt x="3249796" y="426045"/>
                  </a:lnTo>
                  <a:lnTo>
                    <a:pt x="3284794" y="454043"/>
                  </a:lnTo>
                  <a:lnTo>
                    <a:pt x="3319149" y="482798"/>
                  </a:lnTo>
                  <a:lnTo>
                    <a:pt x="3352848" y="512296"/>
                  </a:lnTo>
                  <a:lnTo>
                    <a:pt x="3385878" y="542526"/>
                  </a:lnTo>
                  <a:lnTo>
                    <a:pt x="3418228" y="573476"/>
                  </a:lnTo>
                  <a:lnTo>
                    <a:pt x="3449883" y="605131"/>
                  </a:lnTo>
                  <a:lnTo>
                    <a:pt x="3480833" y="637481"/>
                  </a:lnTo>
                  <a:lnTo>
                    <a:pt x="3511063" y="670511"/>
                  </a:lnTo>
                  <a:lnTo>
                    <a:pt x="3540561" y="704210"/>
                  </a:lnTo>
                  <a:lnTo>
                    <a:pt x="3569316" y="738565"/>
                  </a:lnTo>
                  <a:lnTo>
                    <a:pt x="3597314" y="773563"/>
                  </a:lnTo>
                  <a:lnTo>
                    <a:pt x="3624542" y="809192"/>
                  </a:lnTo>
                  <a:lnTo>
                    <a:pt x="3650988" y="845440"/>
                  </a:lnTo>
                  <a:lnTo>
                    <a:pt x="3676640" y="882292"/>
                  </a:lnTo>
                  <a:lnTo>
                    <a:pt x="3701484" y="919738"/>
                  </a:lnTo>
                  <a:lnTo>
                    <a:pt x="3725509" y="957763"/>
                  </a:lnTo>
                  <a:lnTo>
                    <a:pt x="3748701" y="996357"/>
                  </a:lnTo>
                  <a:lnTo>
                    <a:pt x="3771048" y="1035505"/>
                  </a:lnTo>
                  <a:lnTo>
                    <a:pt x="3792537" y="1075196"/>
                  </a:lnTo>
                  <a:lnTo>
                    <a:pt x="3813156" y="1115417"/>
                  </a:lnTo>
                  <a:lnTo>
                    <a:pt x="3832892" y="1156155"/>
                  </a:lnTo>
                  <a:lnTo>
                    <a:pt x="3851733" y="1197398"/>
                  </a:lnTo>
                  <a:lnTo>
                    <a:pt x="3869666" y="1239132"/>
                  </a:lnTo>
                  <a:lnTo>
                    <a:pt x="3886677" y="1281346"/>
                  </a:lnTo>
                  <a:lnTo>
                    <a:pt x="3902756" y="1324027"/>
                  </a:lnTo>
                  <a:lnTo>
                    <a:pt x="3917889" y="1367162"/>
                  </a:lnTo>
                  <a:lnTo>
                    <a:pt x="3932063" y="1410738"/>
                  </a:lnTo>
                  <a:lnTo>
                    <a:pt x="3945265" y="1454744"/>
                  </a:lnTo>
                  <a:lnTo>
                    <a:pt x="3957484" y="1499166"/>
                  </a:lnTo>
                  <a:lnTo>
                    <a:pt x="3968707" y="1543991"/>
                  </a:lnTo>
                  <a:lnTo>
                    <a:pt x="3978921" y="1589208"/>
                  </a:lnTo>
                  <a:lnTo>
                    <a:pt x="3988113" y="1634803"/>
                  </a:lnTo>
                  <a:lnTo>
                    <a:pt x="3996271" y="1680765"/>
                  </a:lnTo>
                  <a:lnTo>
                    <a:pt x="4003382" y="1727079"/>
                  </a:lnTo>
                  <a:lnTo>
                    <a:pt x="4009434" y="1773734"/>
                  </a:lnTo>
                  <a:lnTo>
                    <a:pt x="4014413" y="1820718"/>
                  </a:lnTo>
                  <a:lnTo>
                    <a:pt x="4018308" y="1868016"/>
                  </a:lnTo>
                  <a:lnTo>
                    <a:pt x="4021106" y="1915618"/>
                  </a:lnTo>
                  <a:lnTo>
                    <a:pt x="4022794" y="1963510"/>
                  </a:lnTo>
                  <a:lnTo>
                    <a:pt x="4023359" y="2011680"/>
                  </a:lnTo>
                  <a:lnTo>
                    <a:pt x="4022794" y="2059849"/>
                  </a:lnTo>
                  <a:lnTo>
                    <a:pt x="4021106" y="2107741"/>
                  </a:lnTo>
                  <a:lnTo>
                    <a:pt x="4018308" y="2155343"/>
                  </a:lnTo>
                  <a:lnTo>
                    <a:pt x="4014413" y="2202641"/>
                  </a:lnTo>
                  <a:lnTo>
                    <a:pt x="4009434" y="2249625"/>
                  </a:lnTo>
                  <a:lnTo>
                    <a:pt x="4003382" y="2296280"/>
                  </a:lnTo>
                  <a:lnTo>
                    <a:pt x="3996271" y="2342594"/>
                  </a:lnTo>
                  <a:lnTo>
                    <a:pt x="3988113" y="2388556"/>
                  </a:lnTo>
                  <a:lnTo>
                    <a:pt x="3978921" y="2434151"/>
                  </a:lnTo>
                  <a:lnTo>
                    <a:pt x="3968707" y="2479368"/>
                  </a:lnTo>
                  <a:lnTo>
                    <a:pt x="3957484" y="2524193"/>
                  </a:lnTo>
                  <a:lnTo>
                    <a:pt x="3945265" y="2568615"/>
                  </a:lnTo>
                  <a:lnTo>
                    <a:pt x="3932063" y="2612621"/>
                  </a:lnTo>
                  <a:lnTo>
                    <a:pt x="3917889" y="2656197"/>
                  </a:lnTo>
                  <a:lnTo>
                    <a:pt x="3902756" y="2699332"/>
                  </a:lnTo>
                  <a:lnTo>
                    <a:pt x="3886677" y="2742013"/>
                  </a:lnTo>
                  <a:lnTo>
                    <a:pt x="3869666" y="2784227"/>
                  </a:lnTo>
                  <a:lnTo>
                    <a:pt x="3851733" y="2825961"/>
                  </a:lnTo>
                  <a:lnTo>
                    <a:pt x="3832892" y="2867204"/>
                  </a:lnTo>
                  <a:lnTo>
                    <a:pt x="3813156" y="2907942"/>
                  </a:lnTo>
                  <a:lnTo>
                    <a:pt x="3792537" y="2948163"/>
                  </a:lnTo>
                  <a:lnTo>
                    <a:pt x="3771048" y="2987854"/>
                  </a:lnTo>
                  <a:lnTo>
                    <a:pt x="3748701" y="3027002"/>
                  </a:lnTo>
                  <a:lnTo>
                    <a:pt x="3725509" y="3065596"/>
                  </a:lnTo>
                  <a:lnTo>
                    <a:pt x="3701484" y="3103621"/>
                  </a:lnTo>
                  <a:lnTo>
                    <a:pt x="3676640" y="3141067"/>
                  </a:lnTo>
                  <a:lnTo>
                    <a:pt x="3650988" y="3177919"/>
                  </a:lnTo>
                  <a:lnTo>
                    <a:pt x="3624542" y="3214167"/>
                  </a:lnTo>
                  <a:lnTo>
                    <a:pt x="3597314" y="3249796"/>
                  </a:lnTo>
                  <a:lnTo>
                    <a:pt x="3569316" y="3284794"/>
                  </a:lnTo>
                  <a:lnTo>
                    <a:pt x="3540561" y="3319149"/>
                  </a:lnTo>
                  <a:lnTo>
                    <a:pt x="3511063" y="3352848"/>
                  </a:lnTo>
                  <a:lnTo>
                    <a:pt x="3480833" y="3385878"/>
                  </a:lnTo>
                  <a:lnTo>
                    <a:pt x="3449883" y="3418228"/>
                  </a:lnTo>
                  <a:lnTo>
                    <a:pt x="3418228" y="3449883"/>
                  </a:lnTo>
                  <a:lnTo>
                    <a:pt x="3385878" y="3480833"/>
                  </a:lnTo>
                  <a:lnTo>
                    <a:pt x="3352848" y="3511063"/>
                  </a:lnTo>
                  <a:lnTo>
                    <a:pt x="3319149" y="3540561"/>
                  </a:lnTo>
                  <a:lnTo>
                    <a:pt x="3284794" y="3569316"/>
                  </a:lnTo>
                  <a:lnTo>
                    <a:pt x="3249796" y="3597314"/>
                  </a:lnTo>
                  <a:lnTo>
                    <a:pt x="3214167" y="3624542"/>
                  </a:lnTo>
                  <a:lnTo>
                    <a:pt x="3177919" y="3650988"/>
                  </a:lnTo>
                  <a:lnTo>
                    <a:pt x="3141067" y="3676640"/>
                  </a:lnTo>
                  <a:lnTo>
                    <a:pt x="3103621" y="3701484"/>
                  </a:lnTo>
                  <a:lnTo>
                    <a:pt x="3065596" y="3725509"/>
                  </a:lnTo>
                  <a:lnTo>
                    <a:pt x="3027002" y="3748701"/>
                  </a:lnTo>
                  <a:lnTo>
                    <a:pt x="2987854" y="3771048"/>
                  </a:lnTo>
                  <a:lnTo>
                    <a:pt x="2948163" y="3792537"/>
                  </a:lnTo>
                  <a:lnTo>
                    <a:pt x="2907942" y="3813156"/>
                  </a:lnTo>
                  <a:lnTo>
                    <a:pt x="2867204" y="3832892"/>
                  </a:lnTo>
                  <a:lnTo>
                    <a:pt x="2825961" y="3851733"/>
                  </a:lnTo>
                  <a:lnTo>
                    <a:pt x="2784227" y="3869666"/>
                  </a:lnTo>
                  <a:lnTo>
                    <a:pt x="2742013" y="3886677"/>
                  </a:lnTo>
                  <a:lnTo>
                    <a:pt x="2699332" y="3902756"/>
                  </a:lnTo>
                  <a:lnTo>
                    <a:pt x="2656197" y="3917889"/>
                  </a:lnTo>
                  <a:lnTo>
                    <a:pt x="2612621" y="3932063"/>
                  </a:lnTo>
                  <a:lnTo>
                    <a:pt x="2568615" y="3945265"/>
                  </a:lnTo>
                  <a:lnTo>
                    <a:pt x="2524193" y="3957484"/>
                  </a:lnTo>
                  <a:lnTo>
                    <a:pt x="2479368" y="3968707"/>
                  </a:lnTo>
                  <a:lnTo>
                    <a:pt x="2434151" y="3978921"/>
                  </a:lnTo>
                  <a:lnTo>
                    <a:pt x="2388556" y="3988113"/>
                  </a:lnTo>
                  <a:lnTo>
                    <a:pt x="2342594" y="3996271"/>
                  </a:lnTo>
                  <a:lnTo>
                    <a:pt x="2296280" y="4003382"/>
                  </a:lnTo>
                  <a:lnTo>
                    <a:pt x="2249625" y="4009434"/>
                  </a:lnTo>
                  <a:lnTo>
                    <a:pt x="2202641" y="4014413"/>
                  </a:lnTo>
                  <a:lnTo>
                    <a:pt x="2155343" y="4018308"/>
                  </a:lnTo>
                  <a:lnTo>
                    <a:pt x="2107741" y="4021106"/>
                  </a:lnTo>
                  <a:lnTo>
                    <a:pt x="2059849" y="4022794"/>
                  </a:lnTo>
                  <a:lnTo>
                    <a:pt x="2011680" y="4023360"/>
                  </a:lnTo>
                  <a:lnTo>
                    <a:pt x="1963510" y="4022794"/>
                  </a:lnTo>
                  <a:lnTo>
                    <a:pt x="1915618" y="4021106"/>
                  </a:lnTo>
                  <a:lnTo>
                    <a:pt x="1868016" y="4018308"/>
                  </a:lnTo>
                  <a:lnTo>
                    <a:pt x="1820718" y="4014413"/>
                  </a:lnTo>
                  <a:lnTo>
                    <a:pt x="1773734" y="4009434"/>
                  </a:lnTo>
                  <a:lnTo>
                    <a:pt x="1727079" y="4003382"/>
                  </a:lnTo>
                  <a:lnTo>
                    <a:pt x="1680765" y="3996271"/>
                  </a:lnTo>
                  <a:lnTo>
                    <a:pt x="1634803" y="3988113"/>
                  </a:lnTo>
                  <a:lnTo>
                    <a:pt x="1589208" y="3978921"/>
                  </a:lnTo>
                  <a:lnTo>
                    <a:pt x="1543991" y="3968707"/>
                  </a:lnTo>
                  <a:lnTo>
                    <a:pt x="1499166" y="3957484"/>
                  </a:lnTo>
                  <a:lnTo>
                    <a:pt x="1454744" y="3945265"/>
                  </a:lnTo>
                  <a:lnTo>
                    <a:pt x="1410738" y="3932063"/>
                  </a:lnTo>
                  <a:lnTo>
                    <a:pt x="1367162" y="3917889"/>
                  </a:lnTo>
                  <a:lnTo>
                    <a:pt x="1324027" y="3902756"/>
                  </a:lnTo>
                  <a:lnTo>
                    <a:pt x="1281346" y="3886677"/>
                  </a:lnTo>
                  <a:lnTo>
                    <a:pt x="1239132" y="3869666"/>
                  </a:lnTo>
                  <a:lnTo>
                    <a:pt x="1197398" y="3851733"/>
                  </a:lnTo>
                  <a:lnTo>
                    <a:pt x="1156155" y="3832892"/>
                  </a:lnTo>
                  <a:lnTo>
                    <a:pt x="1115417" y="3813156"/>
                  </a:lnTo>
                  <a:lnTo>
                    <a:pt x="1075196" y="3792537"/>
                  </a:lnTo>
                  <a:lnTo>
                    <a:pt x="1035505" y="3771048"/>
                  </a:lnTo>
                  <a:lnTo>
                    <a:pt x="996357" y="3748701"/>
                  </a:lnTo>
                  <a:lnTo>
                    <a:pt x="957763" y="3725509"/>
                  </a:lnTo>
                  <a:lnTo>
                    <a:pt x="919738" y="3701484"/>
                  </a:lnTo>
                  <a:lnTo>
                    <a:pt x="882292" y="3676640"/>
                  </a:lnTo>
                  <a:lnTo>
                    <a:pt x="845440" y="3650988"/>
                  </a:lnTo>
                  <a:lnTo>
                    <a:pt x="809192" y="3624542"/>
                  </a:lnTo>
                  <a:lnTo>
                    <a:pt x="773563" y="3597314"/>
                  </a:lnTo>
                  <a:lnTo>
                    <a:pt x="738565" y="3569316"/>
                  </a:lnTo>
                  <a:lnTo>
                    <a:pt x="704210" y="3540561"/>
                  </a:lnTo>
                  <a:lnTo>
                    <a:pt x="670511" y="3511063"/>
                  </a:lnTo>
                  <a:lnTo>
                    <a:pt x="637481" y="3480833"/>
                  </a:lnTo>
                  <a:lnTo>
                    <a:pt x="605131" y="3449883"/>
                  </a:lnTo>
                  <a:lnTo>
                    <a:pt x="573476" y="3418228"/>
                  </a:lnTo>
                  <a:lnTo>
                    <a:pt x="542526" y="3385878"/>
                  </a:lnTo>
                  <a:lnTo>
                    <a:pt x="512296" y="3352848"/>
                  </a:lnTo>
                  <a:lnTo>
                    <a:pt x="482798" y="3319149"/>
                  </a:lnTo>
                  <a:lnTo>
                    <a:pt x="454043" y="3284794"/>
                  </a:lnTo>
                  <a:lnTo>
                    <a:pt x="426045" y="3249796"/>
                  </a:lnTo>
                  <a:lnTo>
                    <a:pt x="398817" y="3214167"/>
                  </a:lnTo>
                  <a:lnTo>
                    <a:pt x="372371" y="3177919"/>
                  </a:lnTo>
                  <a:lnTo>
                    <a:pt x="346719" y="3141067"/>
                  </a:lnTo>
                  <a:lnTo>
                    <a:pt x="321875" y="3103621"/>
                  </a:lnTo>
                  <a:lnTo>
                    <a:pt x="297850" y="3065596"/>
                  </a:lnTo>
                  <a:lnTo>
                    <a:pt x="274658" y="3027002"/>
                  </a:lnTo>
                  <a:lnTo>
                    <a:pt x="252311" y="2987854"/>
                  </a:lnTo>
                  <a:lnTo>
                    <a:pt x="230822" y="2948163"/>
                  </a:lnTo>
                  <a:lnTo>
                    <a:pt x="210203" y="2907942"/>
                  </a:lnTo>
                  <a:lnTo>
                    <a:pt x="190467" y="2867204"/>
                  </a:lnTo>
                  <a:lnTo>
                    <a:pt x="171626" y="2825961"/>
                  </a:lnTo>
                  <a:lnTo>
                    <a:pt x="153693" y="2784227"/>
                  </a:lnTo>
                  <a:lnTo>
                    <a:pt x="136682" y="2742013"/>
                  </a:lnTo>
                  <a:lnTo>
                    <a:pt x="120603" y="2699332"/>
                  </a:lnTo>
                  <a:lnTo>
                    <a:pt x="105470" y="2656197"/>
                  </a:lnTo>
                  <a:lnTo>
                    <a:pt x="91296" y="2612621"/>
                  </a:lnTo>
                  <a:lnTo>
                    <a:pt x="78094" y="2568615"/>
                  </a:lnTo>
                  <a:lnTo>
                    <a:pt x="65875" y="2524193"/>
                  </a:lnTo>
                  <a:lnTo>
                    <a:pt x="54652" y="2479368"/>
                  </a:lnTo>
                  <a:lnTo>
                    <a:pt x="44438" y="2434151"/>
                  </a:lnTo>
                  <a:lnTo>
                    <a:pt x="35246" y="2388556"/>
                  </a:lnTo>
                  <a:lnTo>
                    <a:pt x="27088" y="2342594"/>
                  </a:lnTo>
                  <a:lnTo>
                    <a:pt x="19977" y="2296280"/>
                  </a:lnTo>
                  <a:lnTo>
                    <a:pt x="13925" y="2249625"/>
                  </a:lnTo>
                  <a:lnTo>
                    <a:pt x="8946" y="2202641"/>
                  </a:lnTo>
                  <a:lnTo>
                    <a:pt x="5051" y="2155343"/>
                  </a:lnTo>
                  <a:lnTo>
                    <a:pt x="2253" y="2107741"/>
                  </a:lnTo>
                  <a:lnTo>
                    <a:pt x="565" y="2059849"/>
                  </a:lnTo>
                  <a:lnTo>
                    <a:pt x="0" y="2011680"/>
                  </a:lnTo>
                  <a:close/>
                </a:path>
              </a:pathLst>
            </a:custGeom>
            <a:ln w="12700">
              <a:solidFill>
                <a:srgbClr val="089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45054" y="1260475"/>
            <a:ext cx="3456304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dirty="0">
                <a:solidFill>
                  <a:srgbClr val="FFFFFF"/>
                </a:solidFill>
              </a:rPr>
              <a:t>Thank</a:t>
            </a:r>
            <a:r>
              <a:rPr sz="5200" spc="-10" dirty="0">
                <a:solidFill>
                  <a:srgbClr val="FFFFFF"/>
                </a:solidFill>
              </a:rPr>
              <a:t> </a:t>
            </a:r>
            <a:r>
              <a:rPr sz="5200" spc="-20" dirty="0">
                <a:solidFill>
                  <a:srgbClr val="FFFFFF"/>
                </a:solidFill>
              </a:rPr>
              <a:t>You!</a:t>
            </a:r>
            <a:endParaRPr sz="5200"/>
          </a:p>
        </p:txBody>
      </p:sp>
      <p:sp>
        <p:nvSpPr>
          <p:cNvPr id="9" name="object 9"/>
          <p:cNvSpPr txBox="1"/>
          <p:nvPr/>
        </p:nvSpPr>
        <p:spPr>
          <a:xfrm>
            <a:off x="2839339" y="2282774"/>
            <a:ext cx="3468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5B6D3"/>
                </a:solidFill>
                <a:latin typeface="Times New Roman"/>
                <a:cs typeface="Times New Roman"/>
              </a:rPr>
              <a:t>Enterprise</a:t>
            </a:r>
            <a:r>
              <a:rPr sz="1600" spc="-6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5B6D3"/>
                </a:solidFill>
                <a:latin typeface="Times New Roman"/>
                <a:cs typeface="Times New Roman"/>
              </a:rPr>
              <a:t>Inventory</a:t>
            </a:r>
            <a:r>
              <a:rPr sz="1600" spc="-7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5B6D3"/>
                </a:solidFill>
                <a:latin typeface="Times New Roman"/>
                <a:cs typeface="Times New Roman"/>
              </a:rPr>
              <a:t>Management</a:t>
            </a:r>
            <a:r>
              <a:rPr sz="1600" spc="-25" dirty="0">
                <a:solidFill>
                  <a:srgbClr val="05B6D3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5B6D3"/>
                </a:solidFill>
                <a:latin typeface="Times New Roman"/>
                <a:cs typeface="Times New Roman"/>
              </a:rPr>
              <a:t>System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94050" y="2874010"/>
            <a:ext cx="2755900" cy="58419"/>
            <a:chOff x="3194050" y="2874010"/>
            <a:chExt cx="2755900" cy="58419"/>
          </a:xfrm>
        </p:grpSpPr>
        <p:sp>
          <p:nvSpPr>
            <p:cNvPr id="11" name="object 11"/>
            <p:cNvSpPr/>
            <p:nvPr/>
          </p:nvSpPr>
          <p:spPr>
            <a:xfrm>
              <a:off x="3200400" y="2880360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27432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2743200" y="45719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0" y="2880360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0" y="45719"/>
                  </a:moveTo>
                  <a:lnTo>
                    <a:pt x="2743200" y="45719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03575" y="3251073"/>
            <a:ext cx="27374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59E0A"/>
                </a:solidFill>
                <a:latin typeface="Times New Roman"/>
                <a:cs typeface="Times New Roman"/>
              </a:rPr>
              <a:t>Questions</a:t>
            </a:r>
            <a:r>
              <a:rPr sz="1500" b="1" spc="-55" dirty="0">
                <a:solidFill>
                  <a:srgbClr val="F59E0A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59E0A"/>
                </a:solidFill>
                <a:latin typeface="Times New Roman"/>
                <a:cs typeface="Times New Roman"/>
              </a:rPr>
              <a:t>&amp;</a:t>
            </a:r>
            <a:r>
              <a:rPr sz="1500" b="1" spc="-25" dirty="0">
                <a:solidFill>
                  <a:srgbClr val="F59E0A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59E0A"/>
                </a:solidFill>
                <a:latin typeface="Times New Roman"/>
                <a:cs typeface="Times New Roman"/>
              </a:rPr>
              <a:t>Discussion</a:t>
            </a:r>
            <a:r>
              <a:rPr sz="1500" b="1" spc="-45" dirty="0">
                <a:solidFill>
                  <a:srgbClr val="F59E0A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59E0A"/>
                </a:solidFill>
                <a:latin typeface="Times New Roman"/>
                <a:cs typeface="Times New Roman"/>
              </a:rPr>
              <a:t>Welcome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2192</Words>
  <Application>Microsoft Office PowerPoint</Application>
  <PresentationFormat>On-screen Show (16:9)</PresentationFormat>
  <Paragraphs>432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Calibri</vt:lpstr>
      <vt:lpstr>Times New Roman</vt:lpstr>
      <vt:lpstr>Office Theme</vt:lpstr>
      <vt:lpstr>Inventory Management System</vt:lpstr>
      <vt:lpstr>Table of Contents</vt:lpstr>
      <vt:lpstr>Introduction</vt:lpstr>
      <vt:lpstr>Problem Statement</vt:lpstr>
      <vt:lpstr>Why Build This Project?</vt:lpstr>
      <vt:lpstr>Technology Stack Tools, Frameworks &amp; Libraries Used</vt:lpstr>
      <vt:lpstr>Role of Each Technology</vt:lpstr>
      <vt:lpstr>Architecture Type</vt:lpstr>
      <vt:lpstr>System Architecture Diagram End-to-End System Communication Flow</vt:lpstr>
      <vt:lpstr>Layered Architecture</vt:lpstr>
      <vt:lpstr>Controller Layer</vt:lpstr>
      <vt:lpstr>Service Layer</vt:lpstr>
      <vt:lpstr>Transaction Service Module ACID Compliance, @Transactional Behavior &amp; Rollback Strategy</vt:lpstr>
      <vt:lpstr>Execution Flow Step-by-Step Request → Response Journey Through the System</vt:lpstr>
      <vt:lpstr>Why This Approach?</vt:lpstr>
      <vt:lpstr>Project Achievements &amp; Outcomes What Was Delivered &amp; What Was Learned</vt:lpstr>
      <vt:lpstr>Real-World Applications</vt:lpstr>
      <vt:lpstr>Conclusion Summary, Learnings &amp; Future Roadmap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Inventory Management System</dc:title>
  <dc:subject>Inventory Presentation</dc:subject>
  <dc:creator>Vikram Kumar</dc:creator>
  <cp:lastModifiedBy>Himanshu Chatrasali</cp:lastModifiedBy>
  <cp:revision>1</cp:revision>
  <dcterms:created xsi:type="dcterms:W3CDTF">2026-03-26T17:53:07Z</dcterms:created>
  <dcterms:modified xsi:type="dcterms:W3CDTF">2026-03-26T19:19:12Z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2026-03-26T00:00:00Z</vt:filetime>
  </property>
  <property fmtid="{D5CDD505-2E9C-101B-9397-08002B2CF9AE}" pid="5" name="Producer">
    <vt:lpwstr>Microsoft® PowerPoint® 2021</vt:lpwstr>
  </property>
</Properties>
</file>